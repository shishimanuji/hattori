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83" r:id="rId2"/>
    <p:sldId id="258" r:id="rId3"/>
    <p:sldId id="280" r:id="rId4"/>
    <p:sldId id="286" r:id="rId5"/>
    <p:sldId id="257" r:id="rId6"/>
    <p:sldId id="261" r:id="rId7"/>
    <p:sldId id="262" r:id="rId8"/>
    <p:sldId id="259" r:id="rId9"/>
    <p:sldId id="278" r:id="rId10"/>
    <p:sldId id="279" r:id="rId11"/>
    <p:sldId id="284" r:id="rId12"/>
    <p:sldId id="285" r:id="rId13"/>
    <p:sldId id="287" r:id="rId14"/>
    <p:sldId id="290" r:id="rId15"/>
    <p:sldId id="288" r:id="rId16"/>
    <p:sldId id="291" r:id="rId17"/>
    <p:sldId id="293" r:id="rId18"/>
    <p:sldId id="294" r:id="rId19"/>
    <p:sldId id="297" r:id="rId20"/>
    <p:sldId id="296" r:id="rId21"/>
    <p:sldId id="295" r:id="rId22"/>
    <p:sldId id="273" r:id="rId23"/>
    <p:sldId id="264" r:id="rId24"/>
    <p:sldId id="268" r:id="rId25"/>
    <p:sldId id="289" r:id="rId26"/>
    <p:sldId id="265" r:id="rId27"/>
    <p:sldId id="267" r:id="rId28"/>
    <p:sldId id="269" r:id="rId29"/>
    <p:sldId id="270" r:id="rId30"/>
    <p:sldId id="271" r:id="rId31"/>
    <p:sldId id="272" r:id="rId32"/>
    <p:sldId id="292" r:id="rId33"/>
    <p:sldId id="276" r:id="rId34"/>
    <p:sldId id="277" r:id="rId3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35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IN"/>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037466AB-3E69-4C4F-B5C2-3C3179404FCE}" type="datetimeFigureOut">
              <a:rPr lang="en-IN" smtClean="0"/>
              <a:t>09-06-2026</a:t>
            </a:fld>
            <a:endParaRPr lang="en-IN"/>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IN"/>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IN"/>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1D1D36F-D1C9-491D-A6A0-8429DD919BEB}" type="slidenum">
              <a:rPr lang="en-IN" smtClean="0"/>
              <a:t>‹#›</a:t>
            </a:fld>
            <a:endParaRPr lang="en-IN"/>
          </a:p>
        </p:txBody>
      </p:sp>
    </p:spTree>
    <p:extLst>
      <p:ext uri="{BB962C8B-B14F-4D97-AF65-F5344CB8AC3E}">
        <p14:creationId xmlns:p14="http://schemas.microsoft.com/office/powerpoint/2010/main" val="265966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83843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81760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402896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897353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890040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134915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136602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02718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6530622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46258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109839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533861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155985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908191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212078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26830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5595975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381721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141812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7884453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18792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4D68CAE-8063-4EEE-93C0-D9AEFC2013DB}"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293733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D68CAE-8063-4EEE-93C0-D9AEFC2013DB}"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3781801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D68CAE-8063-4EEE-93C0-D9AEFC2013DB}"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324090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4D68CAE-8063-4EEE-93C0-D9AEFC2013DB}"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415939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4D68CAE-8063-4EEE-93C0-D9AEFC2013DB}" type="datetimeFigureOut">
              <a:rPr lang="en-IN" smtClean="0"/>
              <a:t>09-06-2026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3210062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4D68CAE-8063-4EEE-93C0-D9AEFC2013DB}" type="datetimeFigureOut">
              <a:rPr lang="en-IN" smtClean="0"/>
              <a:t>09-06-2026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2236186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D68CAE-8063-4EEE-93C0-D9AEFC2013DB}" type="datetimeFigureOut">
              <a:rPr lang="en-IN" smtClean="0"/>
              <a:t>09-06-2026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36077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D68CAE-8063-4EEE-93C0-D9AEFC2013DB}"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234676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D68CAE-8063-4EEE-93C0-D9AEFC2013DB}"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809442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D68CAE-8063-4EEE-93C0-D9AEFC2013DB}"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4014911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D68CAE-8063-4EEE-93C0-D9AEFC2013DB}"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529A31-DDF6-40C5-90AE-4A877BC484FA}" type="slidenum">
              <a:rPr lang="en-IN" smtClean="0"/>
              <a:t>‹#›</a:t>
            </a:fld>
            <a:endParaRPr lang="en-IN"/>
          </a:p>
        </p:txBody>
      </p:sp>
    </p:spTree>
    <p:extLst>
      <p:ext uri="{BB962C8B-B14F-4D97-AF65-F5344CB8AC3E}">
        <p14:creationId xmlns:p14="http://schemas.microsoft.com/office/powerpoint/2010/main" val="93308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2284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D68CAE-8063-4EEE-93C0-D9AEFC2013DB}" type="datetimeFigureOut">
              <a:rPr lang="en-IN" smtClean="0"/>
              <a:t>09-06-2026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529A31-DDF6-40C5-90AE-4A877BC484FA}" type="slidenum">
              <a:rPr lang="en-IN" smtClean="0"/>
              <a:t>‹#›</a:t>
            </a:fld>
            <a:endParaRPr lang="en-IN"/>
          </a:p>
        </p:txBody>
      </p:sp>
    </p:spTree>
    <p:extLst>
      <p:ext uri="{BB962C8B-B14F-4D97-AF65-F5344CB8AC3E}">
        <p14:creationId xmlns:p14="http://schemas.microsoft.com/office/powerpoint/2010/main" val="143796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0823"/>
            <a:ext cx="9144000" cy="787651"/>
          </a:xfrm>
        </p:spPr>
        <p:txBody>
          <a:bodyPr>
            <a:normAutofit/>
          </a:bodyPr>
          <a:lstStyle/>
          <a:p>
            <a:r>
              <a:rPr lang="en-US" sz="5000" b="1" u="sng" dirty="0"/>
              <a:t>Interns - MDA</a:t>
            </a:r>
            <a:endParaRPr lang="en-IN" sz="5000" b="1" u="sng" dirty="0"/>
          </a:p>
        </p:txBody>
      </p:sp>
      <p:sp>
        <p:nvSpPr>
          <p:cNvPr id="3" name="Subtitle 2"/>
          <p:cNvSpPr>
            <a:spLocks noGrp="1"/>
          </p:cNvSpPr>
          <p:nvPr>
            <p:ph type="subTitle" idx="1"/>
          </p:nvPr>
        </p:nvSpPr>
        <p:spPr/>
        <p:txBody>
          <a:bodyPr/>
          <a:lstStyle/>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633986091"/>
              </p:ext>
            </p:extLst>
          </p:nvPr>
        </p:nvGraphicFramePr>
        <p:xfrm>
          <a:off x="521207" y="758254"/>
          <a:ext cx="11221138" cy="5741439"/>
        </p:xfrm>
        <a:graphic>
          <a:graphicData uri="http://schemas.openxmlformats.org/drawingml/2006/table">
            <a:tbl>
              <a:tblPr firstRow="1" bandRow="1">
                <a:tableStyleId>{5C22544A-7EE6-4342-B048-85BDC9FD1C3A}</a:tableStyleId>
              </a:tblPr>
              <a:tblGrid>
                <a:gridCol w="497182">
                  <a:extLst>
                    <a:ext uri="{9D8B030D-6E8A-4147-A177-3AD203B41FA5}">
                      <a16:colId xmlns:a16="http://schemas.microsoft.com/office/drawing/2014/main" val="3912036933"/>
                    </a:ext>
                  </a:extLst>
                </a:gridCol>
                <a:gridCol w="1869666">
                  <a:extLst>
                    <a:ext uri="{9D8B030D-6E8A-4147-A177-3AD203B41FA5}">
                      <a16:colId xmlns:a16="http://schemas.microsoft.com/office/drawing/2014/main" val="2893314635"/>
                    </a:ext>
                  </a:extLst>
                </a:gridCol>
                <a:gridCol w="3559589">
                  <a:extLst>
                    <a:ext uri="{9D8B030D-6E8A-4147-A177-3AD203B41FA5}">
                      <a16:colId xmlns:a16="http://schemas.microsoft.com/office/drawing/2014/main" val="3735022108"/>
                    </a:ext>
                  </a:extLst>
                </a:gridCol>
                <a:gridCol w="1758533">
                  <a:extLst>
                    <a:ext uri="{9D8B030D-6E8A-4147-A177-3AD203B41FA5}">
                      <a16:colId xmlns:a16="http://schemas.microsoft.com/office/drawing/2014/main" val="4262444133"/>
                    </a:ext>
                  </a:extLst>
                </a:gridCol>
                <a:gridCol w="1155106">
                  <a:extLst>
                    <a:ext uri="{9D8B030D-6E8A-4147-A177-3AD203B41FA5}">
                      <a16:colId xmlns:a16="http://schemas.microsoft.com/office/drawing/2014/main" val="1994636819"/>
                    </a:ext>
                  </a:extLst>
                </a:gridCol>
                <a:gridCol w="2381062">
                  <a:extLst>
                    <a:ext uri="{9D8B030D-6E8A-4147-A177-3AD203B41FA5}">
                      <a16:colId xmlns:a16="http://schemas.microsoft.com/office/drawing/2014/main" val="1719468184"/>
                    </a:ext>
                  </a:extLst>
                </a:gridCol>
              </a:tblGrid>
              <a:tr h="669792">
                <a:tc>
                  <a:txBody>
                    <a:bodyPr/>
                    <a:lstStyle/>
                    <a:p>
                      <a:pPr algn="ctr"/>
                      <a:r>
                        <a:rPr lang="en-US" sz="1800" u="sng" dirty="0"/>
                        <a:t>Ser No </a:t>
                      </a:r>
                      <a:endParaRPr lang="en-IN" sz="1800" u="sng" dirty="0"/>
                    </a:p>
                  </a:txBody>
                  <a:tcPr/>
                </a:tc>
                <a:tc>
                  <a:txBody>
                    <a:bodyPr/>
                    <a:lstStyle/>
                    <a:p>
                      <a:pPr algn="ctr"/>
                      <a:r>
                        <a:rPr lang="en-US" sz="1800" u="sng" dirty="0"/>
                        <a:t>Intern Name</a:t>
                      </a:r>
                      <a:endParaRPr lang="en-IN" sz="1800" u="sng" dirty="0"/>
                    </a:p>
                  </a:txBody>
                  <a:tcPr/>
                </a:tc>
                <a:tc>
                  <a:txBody>
                    <a:bodyPr/>
                    <a:lstStyle/>
                    <a:p>
                      <a:pPr algn="ctr"/>
                      <a:r>
                        <a:rPr lang="en-US" sz="1800" u="sng" dirty="0"/>
                        <a:t>College</a:t>
                      </a:r>
                      <a:r>
                        <a:rPr lang="en-US" sz="1800" u="sng" baseline="0" dirty="0"/>
                        <a:t> Name and Course Name</a:t>
                      </a:r>
                      <a:endParaRPr lang="en-IN" sz="1800" u="sng" dirty="0"/>
                    </a:p>
                  </a:txBody>
                  <a:tcPr/>
                </a:tc>
                <a:tc>
                  <a:txBody>
                    <a:bodyPr/>
                    <a:lstStyle/>
                    <a:p>
                      <a:pPr algn="ctr"/>
                      <a:r>
                        <a:rPr lang="en-US" sz="1800" u="sng" dirty="0"/>
                        <a:t>Period of Internship</a:t>
                      </a:r>
                      <a:endParaRPr lang="en-IN" sz="1800" u="sng" dirty="0"/>
                    </a:p>
                  </a:txBody>
                  <a:tcPr/>
                </a:tc>
                <a:tc>
                  <a:txBody>
                    <a:bodyPr/>
                    <a:lstStyle/>
                    <a:p>
                      <a:pPr algn="ctr"/>
                      <a:r>
                        <a:rPr lang="en-US" sz="1800" u="sng" dirty="0"/>
                        <a:t>Internship Mode</a:t>
                      </a:r>
                      <a:endParaRPr lang="en-IN" sz="1800" u="sng" dirty="0"/>
                    </a:p>
                  </a:txBody>
                  <a:tcPr/>
                </a:tc>
                <a:tc>
                  <a:txBody>
                    <a:bodyPr/>
                    <a:lstStyle/>
                    <a:p>
                      <a:pPr algn="ctr"/>
                      <a:r>
                        <a:rPr lang="en-US" sz="1800" dirty="0"/>
                        <a:t>Mentor</a:t>
                      </a:r>
                      <a:endParaRPr lang="en-IN" sz="1800" dirty="0"/>
                    </a:p>
                  </a:txBody>
                  <a:tcPr/>
                </a:tc>
                <a:extLst>
                  <a:ext uri="{0D108BD9-81ED-4DB2-BD59-A6C34878D82A}">
                    <a16:rowId xmlns:a16="http://schemas.microsoft.com/office/drawing/2014/main" val="2617075680"/>
                  </a:ext>
                </a:extLst>
              </a:tr>
              <a:tr h="546937">
                <a:tc>
                  <a:txBody>
                    <a:bodyPr/>
                    <a:lstStyle/>
                    <a:p>
                      <a:r>
                        <a:rPr lang="en-US" sz="1800" dirty="0"/>
                        <a:t>1</a:t>
                      </a:r>
                      <a:endParaRPr lang="en-IN" sz="1800" dirty="0"/>
                    </a:p>
                  </a:txBody>
                  <a:tcPr/>
                </a:tc>
                <a:tc>
                  <a:txBody>
                    <a:bodyPr/>
                    <a:lstStyle/>
                    <a:p>
                      <a:r>
                        <a:rPr lang="en-US" sz="1800" dirty="0" err="1"/>
                        <a:t>Sh</a:t>
                      </a:r>
                      <a:r>
                        <a:rPr lang="en-US" sz="1800" dirty="0"/>
                        <a:t> </a:t>
                      </a:r>
                      <a:r>
                        <a:rPr lang="en-US" sz="1800" dirty="0" err="1"/>
                        <a:t>Sarthak</a:t>
                      </a:r>
                      <a:r>
                        <a:rPr lang="en-US" sz="1800" dirty="0"/>
                        <a:t> Verma</a:t>
                      </a:r>
                    </a:p>
                  </a:txBody>
                  <a:tcPr/>
                </a:tc>
                <a:tc>
                  <a:txBody>
                    <a:bodyPr/>
                    <a:lstStyle/>
                    <a:p>
                      <a:r>
                        <a:rPr lang="en-US" sz="1800" dirty="0"/>
                        <a:t>Delhi Technological University, B. Tech SE </a:t>
                      </a:r>
                      <a:endParaRPr lang="en-IN" sz="1800" dirty="0"/>
                    </a:p>
                  </a:txBody>
                  <a:tcPr/>
                </a:tc>
                <a:tc>
                  <a:txBody>
                    <a:bodyPr/>
                    <a:lstStyle/>
                    <a:p>
                      <a:r>
                        <a:rPr lang="en-US" sz="1800" dirty="0"/>
                        <a:t>3</a:t>
                      </a:r>
                      <a:r>
                        <a:rPr lang="en-US" sz="1800" baseline="0" dirty="0"/>
                        <a:t> Month from 21 May 2026</a:t>
                      </a:r>
                      <a:endParaRPr lang="en-IN" sz="1800" dirty="0"/>
                    </a:p>
                  </a:txBody>
                  <a:tcPr/>
                </a:tc>
                <a:tc>
                  <a:txBody>
                    <a:bodyPr/>
                    <a:lstStyle/>
                    <a:p>
                      <a:r>
                        <a:rPr lang="en-US" sz="1800" dirty="0"/>
                        <a:t>Offline</a:t>
                      </a:r>
                      <a:endParaRPr lang="en-IN" sz="1800" dirty="0"/>
                    </a:p>
                  </a:txBody>
                  <a:tcPr/>
                </a:tc>
                <a:tc>
                  <a:txBody>
                    <a:bodyPr/>
                    <a:lstStyle/>
                    <a:p>
                      <a:r>
                        <a:rPr lang="en-US" sz="1800" dirty="0" err="1"/>
                        <a:t>Sh</a:t>
                      </a:r>
                      <a:r>
                        <a:rPr lang="en-US" sz="1800" dirty="0"/>
                        <a:t> Nitin </a:t>
                      </a:r>
                      <a:r>
                        <a:rPr lang="en-US" sz="1800" dirty="0" err="1"/>
                        <a:t>Newalia</a:t>
                      </a:r>
                      <a:r>
                        <a:rPr lang="en-US" sz="1800" dirty="0"/>
                        <a:t>, Sc E</a:t>
                      </a:r>
                      <a:endParaRPr lang="en-IN" sz="1800" dirty="0"/>
                    </a:p>
                  </a:txBody>
                  <a:tcPr/>
                </a:tc>
                <a:extLst>
                  <a:ext uri="{0D108BD9-81ED-4DB2-BD59-A6C34878D82A}">
                    <a16:rowId xmlns:a16="http://schemas.microsoft.com/office/drawing/2014/main" val="2075025485"/>
                  </a:ext>
                </a:extLst>
              </a:tr>
              <a:tr h="546937">
                <a:tc>
                  <a:txBody>
                    <a:bodyPr/>
                    <a:lstStyle/>
                    <a:p>
                      <a:r>
                        <a:rPr lang="en-US" sz="1800" dirty="0"/>
                        <a:t>2</a:t>
                      </a:r>
                      <a:endParaRPr lang="en-IN" sz="1800" dirty="0"/>
                    </a:p>
                  </a:txBody>
                  <a:tcPr/>
                </a:tc>
                <a:tc>
                  <a:txBody>
                    <a:bodyPr/>
                    <a:lstStyle/>
                    <a:p>
                      <a:r>
                        <a:rPr lang="en-US" sz="1800" dirty="0" err="1"/>
                        <a:t>Sh</a:t>
                      </a:r>
                      <a:r>
                        <a:rPr lang="en-US" sz="1800" dirty="0"/>
                        <a:t> Rajat Gupta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Raj Kumar Goel</a:t>
                      </a:r>
                      <a:r>
                        <a:rPr lang="en-US" sz="1800" baseline="0" dirty="0"/>
                        <a:t> Institute of Technology, </a:t>
                      </a:r>
                      <a:r>
                        <a:rPr lang="en-US" sz="1800" dirty="0"/>
                        <a:t>B. Tech CSE </a:t>
                      </a:r>
                      <a:endParaRPr lang="en-IN" sz="1800" dirty="0"/>
                    </a:p>
                  </a:txBody>
                  <a:tcPr/>
                </a:tc>
                <a:tc>
                  <a:txBody>
                    <a:bodyPr/>
                    <a:lstStyle/>
                    <a:p>
                      <a:r>
                        <a:rPr lang="en-US" sz="1800" dirty="0"/>
                        <a:t>6 Month from 25 May 2026</a:t>
                      </a:r>
                      <a:endParaRPr lang="en-IN" sz="1800" dirty="0"/>
                    </a:p>
                  </a:txBody>
                  <a:tcPr/>
                </a:tc>
                <a:tc>
                  <a:txBody>
                    <a:bodyPr/>
                    <a:lstStyle/>
                    <a:p>
                      <a:r>
                        <a:rPr lang="en-US" sz="1800" dirty="0"/>
                        <a:t>Offline</a:t>
                      </a:r>
                      <a:endParaRPr lang="en-IN"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t>Sh</a:t>
                      </a:r>
                      <a:r>
                        <a:rPr lang="en-US" sz="1800" dirty="0"/>
                        <a:t> Nitin </a:t>
                      </a:r>
                      <a:r>
                        <a:rPr lang="en-US" sz="1800" dirty="0" err="1"/>
                        <a:t>Newalia</a:t>
                      </a:r>
                      <a:r>
                        <a:rPr lang="en-US" sz="1800" dirty="0"/>
                        <a:t>, Sc E</a:t>
                      </a:r>
                      <a:endParaRPr lang="en-IN" sz="1800" dirty="0"/>
                    </a:p>
                  </a:txBody>
                  <a:tcPr/>
                </a:tc>
                <a:extLst>
                  <a:ext uri="{0D108BD9-81ED-4DB2-BD59-A6C34878D82A}">
                    <a16:rowId xmlns:a16="http://schemas.microsoft.com/office/drawing/2014/main" val="1604393699"/>
                  </a:ext>
                </a:extLst>
              </a:tr>
              <a:tr h="546937">
                <a:tc>
                  <a:txBody>
                    <a:bodyPr/>
                    <a:lstStyle/>
                    <a:p>
                      <a:r>
                        <a:rPr lang="en-US" sz="1800" dirty="0"/>
                        <a:t>3</a:t>
                      </a:r>
                      <a:endParaRPr lang="en-IN" sz="1800" dirty="0"/>
                    </a:p>
                  </a:txBody>
                  <a:tcPr/>
                </a:tc>
                <a:tc>
                  <a:txBody>
                    <a:bodyPr/>
                    <a:lstStyle/>
                    <a:p>
                      <a:r>
                        <a:rPr lang="en-US" sz="1800" dirty="0" err="1"/>
                        <a:t>Smt</a:t>
                      </a:r>
                      <a:r>
                        <a:rPr lang="en-US" sz="1800" dirty="0"/>
                        <a:t> </a:t>
                      </a:r>
                      <a:r>
                        <a:rPr lang="en-US" sz="1800" dirty="0" err="1"/>
                        <a:t>Anugya</a:t>
                      </a:r>
                      <a:r>
                        <a:rPr lang="en-US" sz="1800" dirty="0"/>
                        <a:t> Saxena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Delhi Technological University, B. Tech CSE </a:t>
                      </a:r>
                      <a:endParaRPr lang="en-IN"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3</a:t>
                      </a:r>
                      <a:r>
                        <a:rPr lang="en-US" sz="1800" baseline="0" dirty="0"/>
                        <a:t> Month from 21 May </a:t>
                      </a:r>
                      <a:r>
                        <a:rPr lang="en-US" sz="1800" baseline="0" dirty="0" smtClean="0"/>
                        <a:t>2026</a:t>
                      </a:r>
                      <a:endParaRPr lang="en-IN" sz="1800" dirty="0"/>
                    </a:p>
                  </a:txBody>
                  <a:tcPr/>
                </a:tc>
                <a:tc>
                  <a:txBody>
                    <a:bodyPr/>
                    <a:lstStyle/>
                    <a:p>
                      <a:r>
                        <a:rPr lang="en-US" sz="1800" dirty="0"/>
                        <a:t>Offline</a:t>
                      </a:r>
                      <a:endParaRPr lang="en-IN"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Ms. </a:t>
                      </a:r>
                      <a:r>
                        <a:rPr lang="en-US" sz="1800" dirty="0" err="1"/>
                        <a:t>Dhanya</a:t>
                      </a:r>
                      <a:r>
                        <a:rPr lang="en-US" sz="1800" dirty="0"/>
                        <a:t> R Nair, Sc-C</a:t>
                      </a:r>
                      <a:endParaRPr lang="en-IN" sz="1800" dirty="0"/>
                    </a:p>
                    <a:p>
                      <a:endParaRPr lang="en-IN" sz="1800" dirty="0"/>
                    </a:p>
                  </a:txBody>
                  <a:tcPr/>
                </a:tc>
                <a:extLst>
                  <a:ext uri="{0D108BD9-81ED-4DB2-BD59-A6C34878D82A}">
                    <a16:rowId xmlns:a16="http://schemas.microsoft.com/office/drawing/2014/main" val="2775150399"/>
                  </a:ext>
                </a:extLst>
              </a:tr>
              <a:tr h="546937">
                <a:tc>
                  <a:txBody>
                    <a:bodyPr/>
                    <a:lstStyle/>
                    <a:p>
                      <a:r>
                        <a:rPr lang="en-US" sz="1800" dirty="0"/>
                        <a:t>4</a:t>
                      </a:r>
                      <a:endParaRPr lang="en-IN" sz="1800" dirty="0"/>
                    </a:p>
                  </a:txBody>
                  <a:tcPr/>
                </a:tc>
                <a:tc>
                  <a:txBody>
                    <a:bodyPr/>
                    <a:lstStyle/>
                    <a:p>
                      <a:r>
                        <a:rPr lang="en-US" sz="1800" dirty="0" err="1"/>
                        <a:t>Sh</a:t>
                      </a:r>
                      <a:r>
                        <a:rPr lang="en-US" sz="1800" dirty="0"/>
                        <a:t> </a:t>
                      </a:r>
                      <a:r>
                        <a:rPr lang="en-US" sz="1800" dirty="0" err="1"/>
                        <a:t>Shivansh</a:t>
                      </a:r>
                      <a:r>
                        <a:rPr lang="en-US" sz="1800" dirty="0"/>
                        <a:t> </a:t>
                      </a:r>
                      <a:r>
                        <a:rPr lang="en-US" sz="1800" dirty="0" err="1"/>
                        <a:t>Tyagi</a:t>
                      </a:r>
                      <a:endParaRPr lang="en-US" sz="1800" dirty="0"/>
                    </a:p>
                  </a:txBody>
                  <a:tcPr/>
                </a:tc>
                <a:tc>
                  <a:txBody>
                    <a:bodyPr/>
                    <a:lstStyle/>
                    <a:p>
                      <a:r>
                        <a:rPr lang="en-US" sz="1800" dirty="0"/>
                        <a:t>Raj Kumar </a:t>
                      </a:r>
                      <a:r>
                        <a:rPr lang="en-US" sz="1800" dirty="0" err="1"/>
                        <a:t>Goel</a:t>
                      </a:r>
                      <a:r>
                        <a:rPr lang="en-US" sz="1800" baseline="0" dirty="0"/>
                        <a:t> Institute of Technology, </a:t>
                      </a:r>
                      <a:r>
                        <a:rPr lang="en-US" sz="1800" dirty="0"/>
                        <a:t>B. Tech CSE </a:t>
                      </a:r>
                      <a:endParaRPr lang="en-IN"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6 Month from 15 Jan </a:t>
                      </a:r>
                      <a:r>
                        <a:rPr lang="en-US" sz="1800" baseline="0" dirty="0" smtClean="0"/>
                        <a:t>2026</a:t>
                      </a:r>
                      <a:endParaRPr lang="en-IN" sz="1800" dirty="0"/>
                    </a:p>
                  </a:txBody>
                  <a:tcPr/>
                </a:tc>
                <a:tc>
                  <a:txBody>
                    <a:bodyPr/>
                    <a:lstStyle/>
                    <a:p>
                      <a:r>
                        <a:rPr lang="en-US" sz="1800" dirty="0"/>
                        <a:t>Offline</a:t>
                      </a:r>
                      <a:endParaRPr lang="en-IN" sz="1800" dirty="0"/>
                    </a:p>
                  </a:txBody>
                  <a:tcPr/>
                </a:tc>
                <a:tc>
                  <a:txBody>
                    <a:bodyPr/>
                    <a:lstStyle/>
                    <a:p>
                      <a:r>
                        <a:rPr lang="en-US" sz="1800" dirty="0" err="1"/>
                        <a:t>Sh</a:t>
                      </a:r>
                      <a:r>
                        <a:rPr lang="en-US" sz="1800" dirty="0"/>
                        <a:t> Shivank</a:t>
                      </a:r>
                      <a:r>
                        <a:rPr lang="en-US" sz="1800" baseline="0" dirty="0"/>
                        <a:t> Dixit, Analyst C</a:t>
                      </a:r>
                      <a:endParaRPr lang="en-IN" sz="1800" dirty="0"/>
                    </a:p>
                  </a:txBody>
                  <a:tcPr/>
                </a:tc>
                <a:extLst>
                  <a:ext uri="{0D108BD9-81ED-4DB2-BD59-A6C34878D82A}">
                    <a16:rowId xmlns:a16="http://schemas.microsoft.com/office/drawing/2014/main" val="1103888069"/>
                  </a:ext>
                </a:extLst>
              </a:tr>
              <a:tr h="777227">
                <a:tc>
                  <a:txBody>
                    <a:bodyPr/>
                    <a:lstStyle/>
                    <a:p>
                      <a:r>
                        <a:rPr lang="en-US" sz="1800" dirty="0"/>
                        <a:t>5</a:t>
                      </a:r>
                      <a:endParaRPr lang="en-IN" sz="1800" dirty="0"/>
                    </a:p>
                  </a:txBody>
                  <a:tcPr/>
                </a:tc>
                <a:tc>
                  <a:txBody>
                    <a:bodyPr/>
                    <a:lstStyle/>
                    <a:p>
                      <a:r>
                        <a:rPr lang="en-US" sz="1800" dirty="0" err="1"/>
                        <a:t>Sh</a:t>
                      </a:r>
                      <a:r>
                        <a:rPr lang="en-US" sz="1800" dirty="0"/>
                        <a:t> </a:t>
                      </a:r>
                      <a:r>
                        <a:rPr lang="en-US" sz="1800" dirty="0" err="1"/>
                        <a:t>Shuddhabrota</a:t>
                      </a:r>
                      <a:r>
                        <a:rPr lang="en-US" sz="1800" dirty="0"/>
                        <a:t> Banerjee</a:t>
                      </a:r>
                      <a:endParaRPr lang="en-IN"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Delhi Technological University, B. Tech CSE </a:t>
                      </a:r>
                      <a:endParaRPr lang="en-IN" sz="1800" dirty="0"/>
                    </a:p>
                    <a:p>
                      <a:endParaRPr lang="en-IN" sz="18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3</a:t>
                      </a:r>
                      <a:r>
                        <a:rPr lang="en-US" sz="1800" baseline="0" dirty="0"/>
                        <a:t> Month from 21 May 2026</a:t>
                      </a:r>
                      <a:endParaRPr lang="en-IN" sz="1800" dirty="0"/>
                    </a:p>
                    <a:p>
                      <a:endParaRPr lang="en-IN" sz="1800" dirty="0"/>
                    </a:p>
                  </a:txBody>
                  <a:tcPr/>
                </a:tc>
                <a:tc>
                  <a:txBody>
                    <a:bodyPr/>
                    <a:lstStyle/>
                    <a:p>
                      <a:r>
                        <a:rPr lang="en-US" sz="1800" dirty="0"/>
                        <a:t>Offline</a:t>
                      </a:r>
                      <a:endParaRPr lang="en-IN" sz="1800" dirty="0"/>
                    </a:p>
                  </a:txBody>
                  <a:tcPr/>
                </a:tc>
                <a:tc>
                  <a:txBody>
                    <a:bodyPr/>
                    <a:lstStyle/>
                    <a:p>
                      <a:r>
                        <a:rPr lang="en-US" sz="1800" dirty="0" err="1"/>
                        <a:t>Sh</a:t>
                      </a:r>
                      <a:r>
                        <a:rPr lang="en-US" sz="1800" dirty="0"/>
                        <a:t> Shivank</a:t>
                      </a:r>
                      <a:r>
                        <a:rPr lang="en-US" sz="1800" baseline="0" dirty="0"/>
                        <a:t> Dixit, Analyst </a:t>
                      </a:r>
                      <a:r>
                        <a:rPr lang="en-US" sz="1800" baseline="0" dirty="0" smtClean="0"/>
                        <a:t>C</a:t>
                      </a:r>
                    </a:p>
                    <a:p>
                      <a:endParaRPr lang="en-IN" sz="1800" dirty="0"/>
                    </a:p>
                  </a:txBody>
                  <a:tcPr/>
                </a:tc>
                <a:extLst>
                  <a:ext uri="{0D108BD9-81ED-4DB2-BD59-A6C34878D82A}">
                    <a16:rowId xmlns:a16="http://schemas.microsoft.com/office/drawing/2014/main" val="330926912"/>
                  </a:ext>
                </a:extLst>
              </a:tr>
              <a:tr h="625418">
                <a:tc>
                  <a:txBody>
                    <a:bodyPr/>
                    <a:lstStyle/>
                    <a:p>
                      <a:r>
                        <a:rPr lang="en-US" sz="1800" kern="1200" dirty="0">
                          <a:solidFill>
                            <a:schemeClr val="dk1"/>
                          </a:solidFill>
                          <a:latin typeface="+mn-lt"/>
                          <a:ea typeface="+mn-ea"/>
                          <a:cs typeface="+mn-cs"/>
                        </a:rPr>
                        <a:t>6</a:t>
                      </a:r>
                      <a:endParaRPr lang="en-IN" sz="1800" kern="1200" dirty="0">
                        <a:solidFill>
                          <a:schemeClr val="dk1"/>
                        </a:solidFill>
                        <a:latin typeface="+mn-lt"/>
                        <a:ea typeface="+mn-ea"/>
                        <a:cs typeface="+mn-cs"/>
                      </a:endParaRPr>
                    </a:p>
                  </a:txBody>
                  <a:tcPr/>
                </a:tc>
                <a:tc>
                  <a:txBody>
                    <a:bodyPr/>
                    <a:lstStyle/>
                    <a:p>
                      <a:r>
                        <a:rPr lang="en-US" sz="1800" kern="1200" dirty="0" err="1">
                          <a:solidFill>
                            <a:schemeClr val="dk1"/>
                          </a:solidFill>
                          <a:latin typeface="+mn-lt"/>
                          <a:ea typeface="+mn-ea"/>
                          <a:cs typeface="+mn-cs"/>
                        </a:rPr>
                        <a:t>Sh</a:t>
                      </a:r>
                      <a:r>
                        <a:rPr lang="en-US" sz="1800" kern="1200" dirty="0">
                          <a:solidFill>
                            <a:schemeClr val="dk1"/>
                          </a:solidFill>
                          <a:latin typeface="+mn-lt"/>
                          <a:ea typeface="+mn-ea"/>
                          <a:cs typeface="+mn-cs"/>
                        </a:rPr>
                        <a:t> Harsh Verma</a:t>
                      </a:r>
                      <a:endParaRPr lang="en-IN" sz="1800" kern="1200" dirty="0">
                        <a:solidFill>
                          <a:schemeClr val="dk1"/>
                        </a:solidFill>
                        <a:latin typeface="+mn-lt"/>
                        <a:ea typeface="+mn-ea"/>
                        <a:cs typeface="+mn-cs"/>
                      </a:endParaRPr>
                    </a:p>
                  </a:txBody>
                  <a:tcPr/>
                </a:tc>
                <a:tc>
                  <a:txBody>
                    <a:bodyPr/>
                    <a:lstStyle/>
                    <a:p>
                      <a:r>
                        <a:rPr lang="" altLang="en-US" sz="1800" kern="1200" dirty="0">
                          <a:solidFill>
                            <a:schemeClr val="dk1"/>
                          </a:solidFill>
                          <a:latin typeface="+mn-lt"/>
                          <a:ea typeface="+mn-ea"/>
                          <a:cs typeface="+mn-cs"/>
                        </a:rPr>
                        <a:t>Sagar Institute of Research and Technology, </a:t>
                      </a:r>
                      <a:r>
                        <a:rPr lang="en-US" sz="1800" kern="1200" dirty="0">
                          <a:solidFill>
                            <a:schemeClr val="dk1"/>
                          </a:solidFill>
                          <a:latin typeface="+mn-lt"/>
                          <a:ea typeface="+mn-ea"/>
                          <a:cs typeface="+mn-cs"/>
                        </a:rPr>
                        <a:t>B. Tech CSE </a:t>
                      </a:r>
                      <a:endParaRPr lang="en-IN" sz="18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6 Month from 15 May 2026</a:t>
                      </a:r>
                      <a:endParaRPr lang="en-IN" sz="1800" kern="1200" dirty="0">
                        <a:solidFill>
                          <a:schemeClr val="dk1"/>
                        </a:solidFill>
                        <a:latin typeface="+mn-lt"/>
                        <a:ea typeface="+mn-ea"/>
                        <a:cs typeface="+mn-cs"/>
                      </a:endParaRPr>
                    </a:p>
                  </a:txBody>
                  <a:tcPr/>
                </a:tc>
                <a:tc>
                  <a:txBody>
                    <a:bodyPr/>
                    <a:lstStyle/>
                    <a:p>
                      <a:r>
                        <a:rPr lang="en-US" sz="1800" kern="1200" dirty="0">
                          <a:solidFill>
                            <a:schemeClr val="dk1"/>
                          </a:solidFill>
                          <a:latin typeface="+mn-lt"/>
                          <a:ea typeface="+mn-ea"/>
                          <a:cs typeface="+mn-cs"/>
                        </a:rPr>
                        <a:t>Offline</a:t>
                      </a:r>
                      <a:endParaRPr lang="en-IN" sz="1800" kern="1200" dirty="0">
                        <a:solidFill>
                          <a:schemeClr val="dk1"/>
                        </a:solidFill>
                        <a:latin typeface="+mn-lt"/>
                        <a:ea typeface="+mn-ea"/>
                        <a:cs typeface="+mn-cs"/>
                      </a:endParaRPr>
                    </a:p>
                  </a:txBody>
                  <a:tcPr/>
                </a:tc>
                <a:tc>
                  <a:txBody>
                    <a:bodyPr/>
                    <a:lstStyle/>
                    <a:p>
                      <a:r>
                        <a:rPr lang="en-US" sz="1800" kern="1200" dirty="0" err="1">
                          <a:solidFill>
                            <a:schemeClr val="dk1"/>
                          </a:solidFill>
                          <a:latin typeface="+mn-lt"/>
                          <a:ea typeface="+mn-ea"/>
                          <a:cs typeface="+mn-cs"/>
                        </a:rPr>
                        <a:t>Sh</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Mohit</a:t>
                      </a:r>
                      <a:r>
                        <a:rPr lang="en-US" sz="1800" kern="1200" dirty="0">
                          <a:solidFill>
                            <a:schemeClr val="dk1"/>
                          </a:solidFill>
                          <a:latin typeface="+mn-lt"/>
                          <a:ea typeface="+mn-ea"/>
                          <a:cs typeface="+mn-cs"/>
                        </a:rPr>
                        <a:t> Chaudhary, Sc C</a:t>
                      </a:r>
                      <a:endParaRPr lang="en-IN" sz="1800" kern="1200" dirty="0">
                        <a:solidFill>
                          <a:schemeClr val="dk1"/>
                        </a:solidFill>
                        <a:latin typeface="+mn-lt"/>
                        <a:ea typeface="+mn-ea"/>
                        <a:cs typeface="+mn-cs"/>
                      </a:endParaRPr>
                    </a:p>
                  </a:txBody>
                  <a:tcPr/>
                </a:tc>
                <a:extLst>
                  <a:ext uri="{0D108BD9-81ED-4DB2-BD59-A6C34878D82A}">
                    <a16:rowId xmlns:a16="http://schemas.microsoft.com/office/drawing/2014/main" val="174706534"/>
                  </a:ext>
                </a:extLst>
              </a:tr>
              <a:tr h="956847">
                <a:tc>
                  <a:txBody>
                    <a:bodyPr/>
                    <a:lstStyle/>
                    <a:p>
                      <a:pPr marL="0" algn="l" defTabSz="914400" rtl="0" eaLnBrk="1" latinLnBrk="0" hangingPunct="1"/>
                      <a:r>
                        <a:rPr lang="en-US" sz="1800" kern="1200" dirty="0">
                          <a:solidFill>
                            <a:schemeClr val="dk1"/>
                          </a:solidFill>
                          <a:latin typeface="+mn-lt"/>
                          <a:ea typeface="+mn-ea"/>
                          <a:cs typeface="+mn-cs"/>
                        </a:rPr>
                        <a:t>7</a:t>
                      </a:r>
                      <a:endParaRPr lang="en-IN" sz="1800" kern="1200" dirty="0">
                        <a:solidFill>
                          <a:schemeClr val="dk1"/>
                        </a:solidFill>
                        <a:latin typeface="+mn-lt"/>
                        <a:ea typeface="+mn-ea"/>
                        <a:cs typeface="+mn-cs"/>
                      </a:endParaRPr>
                    </a:p>
                  </a:txBody>
                  <a:tcPr/>
                </a:tc>
                <a:tc>
                  <a:txBody>
                    <a:bodyPr/>
                    <a:lstStyle/>
                    <a:p>
                      <a:pPr marL="0" algn="l" defTabSz="914400" rtl="0" eaLnBrk="1" latinLnBrk="0" hangingPunct="1"/>
                      <a:r>
                        <a:rPr lang="en-US" sz="1800" kern="1200" dirty="0" err="1">
                          <a:solidFill>
                            <a:schemeClr val="dk1"/>
                          </a:solidFill>
                          <a:latin typeface="+mn-lt"/>
                          <a:ea typeface="+mn-ea"/>
                          <a:cs typeface="+mn-cs"/>
                        </a:rPr>
                        <a:t>Sh</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Shubhank</a:t>
                      </a:r>
                      <a:r>
                        <a:rPr lang="en-US" sz="1800" kern="1200" dirty="0">
                          <a:solidFill>
                            <a:schemeClr val="dk1"/>
                          </a:solidFill>
                          <a:latin typeface="+mn-lt"/>
                          <a:ea typeface="+mn-ea"/>
                          <a:cs typeface="+mn-cs"/>
                        </a:rPr>
                        <a:t> Gupta</a:t>
                      </a:r>
                      <a:endParaRPr lang="en-IN" sz="18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Delhi Technological University, B. Tech CSE </a:t>
                      </a:r>
                      <a:endParaRPr lang="en-IN" sz="18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3 Month from 21 May 2026</a:t>
                      </a:r>
                      <a:endParaRPr lang="en-IN" sz="1800" kern="1200" dirty="0">
                        <a:solidFill>
                          <a:schemeClr val="dk1"/>
                        </a:solidFill>
                        <a:latin typeface="+mn-lt"/>
                        <a:ea typeface="+mn-ea"/>
                        <a:cs typeface="+mn-cs"/>
                      </a:endParaRPr>
                    </a:p>
                  </a:txBody>
                  <a:tcPr/>
                </a:tc>
                <a:tc>
                  <a:txBody>
                    <a:bodyPr/>
                    <a:lstStyle/>
                    <a:p>
                      <a:pPr marL="0" algn="l" defTabSz="914400" rtl="0" eaLnBrk="1" latinLnBrk="0" hangingPunct="1"/>
                      <a:r>
                        <a:rPr lang="en-US" sz="1800" kern="1200" dirty="0">
                          <a:solidFill>
                            <a:schemeClr val="dk1"/>
                          </a:solidFill>
                          <a:latin typeface="+mn-lt"/>
                          <a:ea typeface="+mn-ea"/>
                          <a:cs typeface="+mn-cs"/>
                        </a:rPr>
                        <a:t>Offline</a:t>
                      </a:r>
                      <a:endParaRPr lang="en-IN" sz="1800" kern="1200" dirty="0">
                        <a:solidFill>
                          <a:schemeClr val="dk1"/>
                        </a:solidFill>
                        <a:latin typeface="+mn-lt"/>
                        <a:ea typeface="+mn-ea"/>
                        <a:cs typeface="+mn-cs"/>
                      </a:endParaRPr>
                    </a:p>
                  </a:txBody>
                  <a:tcPr/>
                </a:tc>
                <a:tc>
                  <a:txBody>
                    <a:bodyPr/>
                    <a:lstStyle/>
                    <a:p>
                      <a:pPr marL="0" algn="l" defTabSz="914400" rtl="0" eaLnBrk="1" latinLnBrk="0" hangingPunct="1"/>
                      <a:r>
                        <a:rPr lang="en-US" sz="1800" kern="1200" dirty="0" err="1">
                          <a:solidFill>
                            <a:schemeClr val="dk1"/>
                          </a:solidFill>
                          <a:latin typeface="+mn-lt"/>
                          <a:ea typeface="+mn-ea"/>
                          <a:cs typeface="+mn-cs"/>
                        </a:rPr>
                        <a:t>Sh</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Mohit</a:t>
                      </a:r>
                      <a:r>
                        <a:rPr lang="en-US" sz="1800" kern="1200" dirty="0">
                          <a:solidFill>
                            <a:schemeClr val="dk1"/>
                          </a:solidFill>
                          <a:latin typeface="+mn-lt"/>
                          <a:ea typeface="+mn-ea"/>
                          <a:cs typeface="+mn-cs"/>
                        </a:rPr>
                        <a:t> Chaudhary, Sc C</a:t>
                      </a:r>
                      <a:endParaRPr lang="en-IN" sz="1800" kern="1200" dirty="0">
                        <a:solidFill>
                          <a:schemeClr val="dk1"/>
                        </a:solidFill>
                        <a:latin typeface="+mn-lt"/>
                        <a:ea typeface="+mn-ea"/>
                        <a:cs typeface="+mn-cs"/>
                      </a:endParaRPr>
                    </a:p>
                  </a:txBody>
                  <a:tcPr/>
                </a:tc>
                <a:extLst>
                  <a:ext uri="{0D108BD9-81ED-4DB2-BD59-A6C34878D82A}">
                    <a16:rowId xmlns:a16="http://schemas.microsoft.com/office/drawing/2014/main" val="3945177412"/>
                  </a:ext>
                </a:extLst>
              </a:tr>
            </a:tbl>
          </a:graphicData>
        </a:graphic>
      </p:graphicFrame>
    </p:spTree>
    <p:extLst>
      <p:ext uri="{BB962C8B-B14F-4D97-AF65-F5344CB8AC3E}">
        <p14:creationId xmlns:p14="http://schemas.microsoft.com/office/powerpoint/2010/main" val="3134625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749"/>
            <a:ext cx="9144000" cy="1231538"/>
          </a:xfrm>
        </p:spPr>
        <p:txBody>
          <a:bodyPr/>
          <a:lstStyle/>
          <a:p>
            <a:r>
              <a:rPr lang="en-US" b="1" u="sng" dirty="0"/>
              <a:t>Task Assigned</a:t>
            </a:r>
            <a:endParaRPr lang="en-IN" b="1" u="sng" dirty="0"/>
          </a:p>
        </p:txBody>
      </p:sp>
      <p:graphicFrame>
        <p:nvGraphicFramePr>
          <p:cNvPr id="4" name="Table 3"/>
          <p:cNvGraphicFramePr>
            <a:graphicFrameLocks noGrp="1"/>
          </p:cNvGraphicFramePr>
          <p:nvPr>
            <p:extLst>
              <p:ext uri="{D42A27DB-BD31-4B8C-83A1-F6EECF244321}">
                <p14:modId xmlns:p14="http://schemas.microsoft.com/office/powerpoint/2010/main" val="1493472787"/>
              </p:ext>
            </p:extLst>
          </p:nvPr>
        </p:nvGraphicFramePr>
        <p:xfrm>
          <a:off x="1524000" y="1469287"/>
          <a:ext cx="9666084" cy="3610976"/>
        </p:xfrm>
        <a:graphic>
          <a:graphicData uri="http://schemas.openxmlformats.org/drawingml/2006/table">
            <a:tbl>
              <a:tblPr firstRow="1" bandRow="1">
                <a:tableStyleId>{5C22544A-7EE6-4342-B048-85BDC9FD1C3A}</a:tableStyleId>
              </a:tblPr>
              <a:tblGrid>
                <a:gridCol w="1599448">
                  <a:extLst>
                    <a:ext uri="{9D8B030D-6E8A-4147-A177-3AD203B41FA5}">
                      <a16:colId xmlns:a16="http://schemas.microsoft.com/office/drawing/2014/main" val="2893314635"/>
                    </a:ext>
                  </a:extLst>
                </a:gridCol>
                <a:gridCol w="2969536">
                  <a:extLst>
                    <a:ext uri="{9D8B030D-6E8A-4147-A177-3AD203B41FA5}">
                      <a16:colId xmlns:a16="http://schemas.microsoft.com/office/drawing/2014/main" val="3735022108"/>
                    </a:ext>
                  </a:extLst>
                </a:gridCol>
                <a:gridCol w="2616452">
                  <a:extLst>
                    <a:ext uri="{9D8B030D-6E8A-4147-A177-3AD203B41FA5}">
                      <a16:colId xmlns:a16="http://schemas.microsoft.com/office/drawing/2014/main" val="4262444133"/>
                    </a:ext>
                  </a:extLst>
                </a:gridCol>
                <a:gridCol w="2480648">
                  <a:extLst>
                    <a:ext uri="{9D8B030D-6E8A-4147-A177-3AD203B41FA5}">
                      <a16:colId xmlns:a16="http://schemas.microsoft.com/office/drawing/2014/main" val="1994636819"/>
                    </a:ext>
                  </a:extLst>
                </a:gridCol>
              </a:tblGrid>
              <a:tr h="866494">
                <a:tc>
                  <a:txBody>
                    <a:bodyPr/>
                    <a:lstStyle/>
                    <a:p>
                      <a:r>
                        <a:rPr lang="en-US" u="sng" dirty="0"/>
                        <a:t>Intern Name</a:t>
                      </a:r>
                      <a:endParaRPr lang="en-IN" u="sng" dirty="0"/>
                    </a:p>
                  </a:txBody>
                  <a:tcPr/>
                </a:tc>
                <a:tc>
                  <a:txBody>
                    <a:bodyPr/>
                    <a:lstStyle/>
                    <a:p>
                      <a:r>
                        <a:rPr lang="en-US" u="sng" dirty="0"/>
                        <a:t>Assigned tasks</a:t>
                      </a:r>
                      <a:endParaRPr lang="en-IN" u="sng" dirty="0"/>
                    </a:p>
                  </a:txBody>
                  <a:tcPr/>
                </a:tc>
                <a:tc>
                  <a:txBody>
                    <a:bodyPr/>
                    <a:lstStyle/>
                    <a:p>
                      <a:r>
                        <a:rPr lang="en-US" u="sng" dirty="0"/>
                        <a:t>Work completed so far</a:t>
                      </a:r>
                      <a:endParaRPr lang="en-IN" u="sng" dirty="0"/>
                    </a:p>
                  </a:txBody>
                  <a:tcPr/>
                </a:tc>
                <a:tc>
                  <a:txBody>
                    <a:bodyPr/>
                    <a:lstStyle/>
                    <a:p>
                      <a:r>
                        <a:rPr lang="en-US" u="sng" dirty="0"/>
                        <a:t>Propose</a:t>
                      </a:r>
                      <a:r>
                        <a:rPr lang="en-US" u="sng" baseline="0" dirty="0"/>
                        <a:t> plan for remaining internship period</a:t>
                      </a:r>
                      <a:endParaRPr lang="en-IN" u="sng" dirty="0"/>
                    </a:p>
                  </a:txBody>
                  <a:tcPr/>
                </a:tc>
                <a:extLst>
                  <a:ext uri="{0D108BD9-81ED-4DB2-BD59-A6C34878D82A}">
                    <a16:rowId xmlns:a16="http://schemas.microsoft.com/office/drawing/2014/main" val="2617075680"/>
                  </a:ext>
                </a:extLst>
              </a:tr>
              <a:tr h="502016">
                <a:tc>
                  <a:txBody>
                    <a:bodyPr/>
                    <a:lstStyle/>
                    <a:p>
                      <a:r>
                        <a:rPr lang="en-US" dirty="0" err="1"/>
                        <a:t>Sh</a:t>
                      </a:r>
                      <a:r>
                        <a:rPr lang="en-US" dirty="0"/>
                        <a:t> </a:t>
                      </a:r>
                      <a:r>
                        <a:rPr lang="en-US" dirty="0" err="1"/>
                        <a:t>Sarthak</a:t>
                      </a:r>
                      <a:r>
                        <a:rPr lang="en-US" dirty="0"/>
                        <a:t> Verma</a:t>
                      </a:r>
                      <a:endParaRPr lang="en-IN" dirty="0"/>
                    </a:p>
                  </a:txBody>
                  <a:tcPr/>
                </a:tc>
                <a:tc>
                  <a:txBody>
                    <a:bodyPr/>
                    <a:lstStyle/>
                    <a:p>
                      <a:r>
                        <a:rPr lang="en-US" dirty="0"/>
                        <a:t>Data Collection for LLM training</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Data Collection for LLM training</a:t>
                      </a:r>
                      <a:endParaRPr lang="en-IN" dirty="0"/>
                    </a:p>
                  </a:txBody>
                  <a:tcPr/>
                </a:tc>
                <a:tc>
                  <a:txBody>
                    <a:bodyPr/>
                    <a:lstStyle/>
                    <a:p>
                      <a:r>
                        <a:rPr lang="en-US" dirty="0"/>
                        <a:t>-</a:t>
                      </a:r>
                      <a:endParaRPr lang="en-IN" dirty="0"/>
                    </a:p>
                  </a:txBody>
                  <a:tcPr/>
                </a:tc>
                <a:extLst>
                  <a:ext uri="{0D108BD9-81ED-4DB2-BD59-A6C34878D82A}">
                    <a16:rowId xmlns:a16="http://schemas.microsoft.com/office/drawing/2014/main" val="2075025485"/>
                  </a:ext>
                </a:extLst>
              </a:tr>
              <a:tr h="50201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( 21</a:t>
                      </a:r>
                      <a:r>
                        <a:rPr lang="en-US" baseline="0" dirty="0"/>
                        <a:t> May 26 – 20 Aug 26)</a:t>
                      </a:r>
                      <a:endParaRPr lang="en-IN" dirty="0"/>
                    </a:p>
                    <a:p>
                      <a:endParaRPr lang="en-IN" dirty="0"/>
                    </a:p>
                  </a:txBody>
                  <a:tcPr/>
                </a:tc>
                <a:tc>
                  <a:txBody>
                    <a:bodyPr/>
                    <a:lstStyle/>
                    <a:p>
                      <a:r>
                        <a:rPr lang="en-US" dirty="0"/>
                        <a:t>Data Preprocessing and feature engineering</a:t>
                      </a:r>
                      <a:endParaRPr lang="en-IN" dirty="0"/>
                    </a:p>
                  </a:txBody>
                  <a:tcPr/>
                </a:tc>
                <a:tc>
                  <a:txBody>
                    <a:bodyPr/>
                    <a:lstStyle/>
                    <a:p>
                      <a:r>
                        <a:rPr lang="en-US" dirty="0"/>
                        <a:t>Working</a:t>
                      </a:r>
                      <a:endParaRPr lang="en-IN" dirty="0"/>
                    </a:p>
                  </a:txBody>
                  <a:tcPr/>
                </a:tc>
                <a:tc>
                  <a:txBody>
                    <a:bodyPr/>
                    <a:lstStyle/>
                    <a:p>
                      <a:endParaRPr lang="en-IN" dirty="0"/>
                    </a:p>
                  </a:txBody>
                  <a:tcPr/>
                </a:tc>
                <a:extLst>
                  <a:ext uri="{0D108BD9-81ED-4DB2-BD59-A6C34878D82A}">
                    <a16:rowId xmlns:a16="http://schemas.microsoft.com/office/drawing/2014/main" val="330926912"/>
                  </a:ext>
                </a:extLst>
              </a:tr>
              <a:tr h="502016">
                <a:tc>
                  <a:txBody>
                    <a:bodyPr/>
                    <a:lstStyle/>
                    <a:p>
                      <a:endParaRPr lang="en-IN" dirty="0"/>
                    </a:p>
                  </a:txBody>
                  <a:tcPr/>
                </a:tc>
                <a:tc>
                  <a:txBody>
                    <a:bodyPr/>
                    <a:lstStyle/>
                    <a:p>
                      <a:r>
                        <a:rPr lang="en-IN" dirty="0"/>
                        <a:t>Sentiment and Temporal analysis pipeline</a:t>
                      </a:r>
                    </a:p>
                  </a:txBody>
                  <a:tcPr/>
                </a:tc>
                <a:tc>
                  <a:txBody>
                    <a:bodyPr/>
                    <a:lstStyle/>
                    <a:p>
                      <a:endParaRPr lang="en-IN" dirty="0"/>
                    </a:p>
                  </a:txBody>
                  <a:tcPr/>
                </a:tc>
                <a:tc>
                  <a:txBody>
                    <a:bodyPr/>
                    <a:lstStyle/>
                    <a:p>
                      <a:r>
                        <a:rPr lang="en-US" dirty="0"/>
                        <a:t>July</a:t>
                      </a:r>
                      <a:r>
                        <a:rPr lang="en-US" baseline="0" dirty="0"/>
                        <a:t> 2026</a:t>
                      </a:r>
                      <a:endParaRPr lang="en-IN" dirty="0"/>
                    </a:p>
                  </a:txBody>
                  <a:tcPr/>
                </a:tc>
                <a:extLst>
                  <a:ext uri="{0D108BD9-81ED-4DB2-BD59-A6C34878D82A}">
                    <a16:rowId xmlns:a16="http://schemas.microsoft.com/office/drawing/2014/main" val="2333243418"/>
                  </a:ext>
                </a:extLst>
              </a:tr>
              <a:tr h="502016">
                <a:tc>
                  <a:txBody>
                    <a:bodyPr/>
                    <a:lstStyle/>
                    <a:p>
                      <a:endParaRPr lang="en-IN" dirty="0"/>
                    </a:p>
                  </a:txBody>
                  <a:tcPr/>
                </a:tc>
                <a:tc>
                  <a:txBody>
                    <a:bodyPr/>
                    <a:lstStyle/>
                    <a:p>
                      <a:r>
                        <a:rPr lang="en-US" dirty="0"/>
                        <a:t>Testing and Evaluation of LLM</a:t>
                      </a:r>
                      <a:endParaRPr lang="en-IN" dirty="0"/>
                    </a:p>
                  </a:txBody>
                  <a:tcPr/>
                </a:tc>
                <a:tc>
                  <a:txBody>
                    <a:bodyPr/>
                    <a:lstStyle/>
                    <a:p>
                      <a:endParaRPr lang="en-IN" dirty="0"/>
                    </a:p>
                  </a:txBody>
                  <a:tcPr/>
                </a:tc>
                <a:tc>
                  <a:txBody>
                    <a:bodyPr/>
                    <a:lstStyle/>
                    <a:p>
                      <a:r>
                        <a:rPr lang="en-US" dirty="0"/>
                        <a:t>Aug 2026</a:t>
                      </a:r>
                      <a:endParaRPr lang="en-IN" dirty="0"/>
                    </a:p>
                  </a:txBody>
                  <a:tcPr/>
                </a:tc>
                <a:extLst>
                  <a:ext uri="{0D108BD9-81ED-4DB2-BD59-A6C34878D82A}">
                    <a16:rowId xmlns:a16="http://schemas.microsoft.com/office/drawing/2014/main" val="1497379602"/>
                  </a:ext>
                </a:extLst>
              </a:tr>
            </a:tbl>
          </a:graphicData>
        </a:graphic>
      </p:graphicFrame>
    </p:spTree>
    <p:extLst>
      <p:ext uri="{BB962C8B-B14F-4D97-AF65-F5344CB8AC3E}">
        <p14:creationId xmlns:p14="http://schemas.microsoft.com/office/powerpoint/2010/main" val="3001264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749"/>
            <a:ext cx="9144000" cy="1231538"/>
          </a:xfrm>
        </p:spPr>
        <p:txBody>
          <a:bodyPr/>
          <a:lstStyle/>
          <a:p>
            <a:r>
              <a:rPr lang="en-US" b="1" u="sng" dirty="0"/>
              <a:t>Task Assigned</a:t>
            </a:r>
            <a:endParaRPr lang="en-IN" b="1" u="sng" dirty="0"/>
          </a:p>
        </p:txBody>
      </p:sp>
      <p:sp>
        <p:nvSpPr>
          <p:cNvPr id="3" name="Subtitle 2"/>
          <p:cNvSpPr>
            <a:spLocks noGrp="1"/>
          </p:cNvSpPr>
          <p:nvPr>
            <p:ph type="subTitle" idx="1"/>
          </p:nvPr>
        </p:nvSpPr>
        <p:spPr/>
        <p:txBody>
          <a:bodyPr/>
          <a:lstStyle/>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4133452990"/>
              </p:ext>
            </p:extLst>
          </p:nvPr>
        </p:nvGraphicFramePr>
        <p:xfrm>
          <a:off x="1524000" y="1515007"/>
          <a:ext cx="9666084" cy="3566160"/>
        </p:xfrm>
        <a:graphic>
          <a:graphicData uri="http://schemas.openxmlformats.org/drawingml/2006/table">
            <a:tbl>
              <a:tblPr firstRow="1" bandRow="1">
                <a:tableStyleId>{5C22544A-7EE6-4342-B048-85BDC9FD1C3A}</a:tableStyleId>
              </a:tblPr>
              <a:tblGrid>
                <a:gridCol w="1599448">
                  <a:extLst>
                    <a:ext uri="{9D8B030D-6E8A-4147-A177-3AD203B41FA5}">
                      <a16:colId xmlns:a16="http://schemas.microsoft.com/office/drawing/2014/main" val="2893314635"/>
                    </a:ext>
                  </a:extLst>
                </a:gridCol>
                <a:gridCol w="2969536">
                  <a:extLst>
                    <a:ext uri="{9D8B030D-6E8A-4147-A177-3AD203B41FA5}">
                      <a16:colId xmlns:a16="http://schemas.microsoft.com/office/drawing/2014/main" val="3735022108"/>
                    </a:ext>
                  </a:extLst>
                </a:gridCol>
                <a:gridCol w="2616452">
                  <a:extLst>
                    <a:ext uri="{9D8B030D-6E8A-4147-A177-3AD203B41FA5}">
                      <a16:colId xmlns:a16="http://schemas.microsoft.com/office/drawing/2014/main" val="4262444133"/>
                    </a:ext>
                  </a:extLst>
                </a:gridCol>
                <a:gridCol w="2480648">
                  <a:extLst>
                    <a:ext uri="{9D8B030D-6E8A-4147-A177-3AD203B41FA5}">
                      <a16:colId xmlns:a16="http://schemas.microsoft.com/office/drawing/2014/main" val="1994636819"/>
                    </a:ext>
                  </a:extLst>
                </a:gridCol>
              </a:tblGrid>
              <a:tr h="866494">
                <a:tc>
                  <a:txBody>
                    <a:bodyPr/>
                    <a:lstStyle/>
                    <a:p>
                      <a:r>
                        <a:rPr lang="en-US" u="sng" dirty="0"/>
                        <a:t>Intern Name</a:t>
                      </a:r>
                      <a:endParaRPr lang="en-IN" u="sng" dirty="0"/>
                    </a:p>
                  </a:txBody>
                  <a:tcPr/>
                </a:tc>
                <a:tc>
                  <a:txBody>
                    <a:bodyPr/>
                    <a:lstStyle/>
                    <a:p>
                      <a:r>
                        <a:rPr lang="en-US" u="sng" dirty="0"/>
                        <a:t>Assigned tasks</a:t>
                      </a:r>
                      <a:endParaRPr lang="en-IN" u="sng" dirty="0"/>
                    </a:p>
                  </a:txBody>
                  <a:tcPr/>
                </a:tc>
                <a:tc>
                  <a:txBody>
                    <a:bodyPr/>
                    <a:lstStyle/>
                    <a:p>
                      <a:r>
                        <a:rPr lang="en-US" u="sng" dirty="0"/>
                        <a:t>Work completed so far</a:t>
                      </a:r>
                      <a:endParaRPr lang="en-IN" u="sng" dirty="0"/>
                    </a:p>
                  </a:txBody>
                  <a:tcPr/>
                </a:tc>
                <a:tc>
                  <a:txBody>
                    <a:bodyPr/>
                    <a:lstStyle/>
                    <a:p>
                      <a:r>
                        <a:rPr lang="en-US" u="sng" dirty="0"/>
                        <a:t>Propose</a:t>
                      </a:r>
                      <a:r>
                        <a:rPr lang="en-US" u="sng" baseline="0" dirty="0"/>
                        <a:t> plan for remaining internship period</a:t>
                      </a:r>
                      <a:endParaRPr lang="en-IN" u="sng" dirty="0"/>
                    </a:p>
                  </a:txBody>
                  <a:tcPr/>
                </a:tc>
                <a:extLst>
                  <a:ext uri="{0D108BD9-81ED-4DB2-BD59-A6C34878D82A}">
                    <a16:rowId xmlns:a16="http://schemas.microsoft.com/office/drawing/2014/main" val="2617075680"/>
                  </a:ext>
                </a:extLst>
              </a:tr>
              <a:tr h="502016">
                <a:tc>
                  <a:txBody>
                    <a:bodyPr/>
                    <a:lstStyle/>
                    <a:p>
                      <a:r>
                        <a:rPr lang="en-US" dirty="0" err="1"/>
                        <a:t>Sh</a:t>
                      </a:r>
                      <a:r>
                        <a:rPr lang="en-US" dirty="0"/>
                        <a:t> Rajat Gupta</a:t>
                      </a:r>
                      <a:endParaRPr lang="en-IN" dirty="0"/>
                    </a:p>
                  </a:txBody>
                  <a:tcPr/>
                </a:tc>
                <a:tc>
                  <a:txBody>
                    <a:bodyPr/>
                    <a:lstStyle/>
                    <a:p>
                      <a:r>
                        <a:rPr lang="en-US" dirty="0"/>
                        <a:t>Identification and fixing Bugs in DHRUV Operation Management(DOM)</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Fixed Timeline Data and order for multiple pages,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Fixed character limit to 1000 from 200 on Recommendation page</a:t>
                      </a:r>
                      <a:endParaRPr lang="en-IN" dirty="0"/>
                    </a:p>
                  </a:txBody>
                  <a:tcPr/>
                </a:tc>
                <a:tc>
                  <a:txBody>
                    <a:bodyPr/>
                    <a:lstStyle/>
                    <a:p>
                      <a:endParaRPr lang="en-IN" dirty="0"/>
                    </a:p>
                  </a:txBody>
                  <a:tcPr/>
                </a:tc>
                <a:extLst>
                  <a:ext uri="{0D108BD9-81ED-4DB2-BD59-A6C34878D82A}">
                    <a16:rowId xmlns:a16="http://schemas.microsoft.com/office/drawing/2014/main" val="2075025485"/>
                  </a:ext>
                </a:extLst>
              </a:tr>
              <a:tr h="50201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(25 May 2026 – 24 Nov 2026</a:t>
                      </a:r>
                      <a:r>
                        <a:rPr lang="en-US" baseline="0" dirty="0"/>
                        <a:t>)</a:t>
                      </a:r>
                      <a:endParaRPr lang="en-IN" dirty="0"/>
                    </a:p>
                    <a:p>
                      <a:endParaRPr lang="en-IN" dirty="0"/>
                    </a:p>
                  </a:txBody>
                  <a:tcPr/>
                </a:tc>
                <a:tc>
                  <a:txBody>
                    <a:bodyPr/>
                    <a:lstStyle/>
                    <a:p>
                      <a:r>
                        <a:rPr lang="en-US" dirty="0"/>
                        <a:t>Migration and Deployment of the Sea web Version 1.2 from Production to </a:t>
                      </a:r>
                      <a:r>
                        <a:rPr lang="en-US" dirty="0" err="1"/>
                        <a:t>Megh</a:t>
                      </a:r>
                      <a:r>
                        <a:rPr lang="en-US" dirty="0"/>
                        <a:t> (NTRO Cloud)</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30926912"/>
                  </a:ext>
                </a:extLst>
              </a:tr>
            </a:tbl>
          </a:graphicData>
        </a:graphic>
      </p:graphicFrame>
    </p:spTree>
    <p:extLst>
      <p:ext uri="{BB962C8B-B14F-4D97-AF65-F5344CB8AC3E}">
        <p14:creationId xmlns:p14="http://schemas.microsoft.com/office/powerpoint/2010/main" val="117889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749"/>
            <a:ext cx="9144000" cy="1231538"/>
          </a:xfrm>
        </p:spPr>
        <p:txBody>
          <a:bodyPr/>
          <a:lstStyle/>
          <a:p>
            <a:r>
              <a:rPr lang="en-US" b="1" u="sng" dirty="0"/>
              <a:t>Task Assigned</a:t>
            </a:r>
            <a:endParaRPr lang="en-IN" b="1" u="sng" dirty="0"/>
          </a:p>
        </p:txBody>
      </p:sp>
      <p:sp>
        <p:nvSpPr>
          <p:cNvPr id="3" name="Subtitle 2"/>
          <p:cNvSpPr>
            <a:spLocks noGrp="1"/>
          </p:cNvSpPr>
          <p:nvPr>
            <p:ph type="subTitle" idx="1"/>
          </p:nvPr>
        </p:nvSpPr>
        <p:spPr/>
        <p:txBody>
          <a:bodyPr/>
          <a:lstStyle/>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795091171"/>
              </p:ext>
            </p:extLst>
          </p:nvPr>
        </p:nvGraphicFramePr>
        <p:xfrm>
          <a:off x="1524000" y="1469287"/>
          <a:ext cx="9666084" cy="4572000"/>
        </p:xfrm>
        <a:graphic>
          <a:graphicData uri="http://schemas.openxmlformats.org/drawingml/2006/table">
            <a:tbl>
              <a:tblPr firstRow="1" bandRow="1">
                <a:tableStyleId>{5C22544A-7EE6-4342-B048-85BDC9FD1C3A}</a:tableStyleId>
              </a:tblPr>
              <a:tblGrid>
                <a:gridCol w="1599448">
                  <a:extLst>
                    <a:ext uri="{9D8B030D-6E8A-4147-A177-3AD203B41FA5}">
                      <a16:colId xmlns:a16="http://schemas.microsoft.com/office/drawing/2014/main" val="2893314635"/>
                    </a:ext>
                  </a:extLst>
                </a:gridCol>
                <a:gridCol w="2969536">
                  <a:extLst>
                    <a:ext uri="{9D8B030D-6E8A-4147-A177-3AD203B41FA5}">
                      <a16:colId xmlns:a16="http://schemas.microsoft.com/office/drawing/2014/main" val="3735022108"/>
                    </a:ext>
                  </a:extLst>
                </a:gridCol>
                <a:gridCol w="2616452">
                  <a:extLst>
                    <a:ext uri="{9D8B030D-6E8A-4147-A177-3AD203B41FA5}">
                      <a16:colId xmlns:a16="http://schemas.microsoft.com/office/drawing/2014/main" val="4262444133"/>
                    </a:ext>
                  </a:extLst>
                </a:gridCol>
                <a:gridCol w="2480648">
                  <a:extLst>
                    <a:ext uri="{9D8B030D-6E8A-4147-A177-3AD203B41FA5}">
                      <a16:colId xmlns:a16="http://schemas.microsoft.com/office/drawing/2014/main" val="1994636819"/>
                    </a:ext>
                  </a:extLst>
                </a:gridCol>
              </a:tblGrid>
              <a:tr h="866494">
                <a:tc>
                  <a:txBody>
                    <a:bodyPr/>
                    <a:lstStyle/>
                    <a:p>
                      <a:r>
                        <a:rPr lang="en-US" u="sng" dirty="0"/>
                        <a:t>Intern Name</a:t>
                      </a:r>
                      <a:endParaRPr lang="en-IN" u="sng" dirty="0"/>
                    </a:p>
                  </a:txBody>
                  <a:tcPr/>
                </a:tc>
                <a:tc>
                  <a:txBody>
                    <a:bodyPr/>
                    <a:lstStyle/>
                    <a:p>
                      <a:r>
                        <a:rPr lang="en-US" u="sng" dirty="0"/>
                        <a:t>Assigned tasks</a:t>
                      </a:r>
                      <a:endParaRPr lang="en-IN" u="sng" dirty="0"/>
                    </a:p>
                  </a:txBody>
                  <a:tcPr/>
                </a:tc>
                <a:tc>
                  <a:txBody>
                    <a:bodyPr/>
                    <a:lstStyle/>
                    <a:p>
                      <a:r>
                        <a:rPr lang="en-US" u="sng" dirty="0"/>
                        <a:t>Work completed so far</a:t>
                      </a:r>
                      <a:endParaRPr lang="en-IN" u="sng" dirty="0"/>
                    </a:p>
                  </a:txBody>
                  <a:tcPr/>
                </a:tc>
                <a:tc>
                  <a:txBody>
                    <a:bodyPr/>
                    <a:lstStyle/>
                    <a:p>
                      <a:r>
                        <a:rPr lang="en-US" u="sng" dirty="0"/>
                        <a:t>Propose</a:t>
                      </a:r>
                      <a:r>
                        <a:rPr lang="en-US" u="sng" baseline="0" dirty="0"/>
                        <a:t> plan for remaining internship period</a:t>
                      </a:r>
                      <a:endParaRPr lang="en-IN" u="sng" dirty="0"/>
                    </a:p>
                  </a:txBody>
                  <a:tcPr/>
                </a:tc>
                <a:extLst>
                  <a:ext uri="{0D108BD9-81ED-4DB2-BD59-A6C34878D82A}">
                    <a16:rowId xmlns:a16="http://schemas.microsoft.com/office/drawing/2014/main" val="2617075680"/>
                  </a:ext>
                </a:extLst>
              </a:tr>
              <a:tr h="5020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Smt</a:t>
                      </a:r>
                      <a:r>
                        <a:rPr lang="en-US" dirty="0"/>
                        <a:t> </a:t>
                      </a:r>
                      <a:r>
                        <a:rPr lang="en-US" dirty="0" err="1"/>
                        <a:t>Anugya</a:t>
                      </a:r>
                      <a:r>
                        <a:rPr lang="en-US" dirty="0"/>
                        <a:t> Saxena</a:t>
                      </a:r>
                    </a:p>
                    <a:p>
                      <a:endParaRPr lang="en-IN" dirty="0"/>
                    </a:p>
                  </a:txBody>
                  <a:tcPr/>
                </a:tc>
                <a:tc>
                  <a:txBody>
                    <a:bodyPr/>
                    <a:lstStyle/>
                    <a:p>
                      <a:r>
                        <a:rPr lang="en-US" dirty="0"/>
                        <a:t>Developed a GUI-based spreadsheet management platform with intelligent schema detection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Completed</a:t>
                      </a:r>
                      <a:endParaRPr lang="en-IN" dirty="0"/>
                    </a:p>
                  </a:txBody>
                  <a:tcPr/>
                </a:tc>
                <a:tc>
                  <a:txBody>
                    <a:bodyPr/>
                    <a:lstStyle/>
                    <a:p>
                      <a:endParaRPr lang="en-IN" dirty="0"/>
                    </a:p>
                  </a:txBody>
                  <a:tcPr/>
                </a:tc>
                <a:extLst>
                  <a:ext uri="{0D108BD9-81ED-4DB2-BD59-A6C34878D82A}">
                    <a16:rowId xmlns:a16="http://schemas.microsoft.com/office/drawing/2014/main" val="2075025485"/>
                  </a:ext>
                </a:extLst>
              </a:tr>
              <a:tr h="50201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(21 May 2026 – 20 Aug 2026</a:t>
                      </a:r>
                      <a:r>
                        <a:rPr lang="en-US" baseline="0" dirty="0"/>
                        <a:t>)</a:t>
                      </a:r>
                      <a:endParaRPr lang="en-IN" dirty="0"/>
                    </a:p>
                    <a:p>
                      <a:endParaRPr lang="en-IN" dirty="0"/>
                    </a:p>
                  </a:txBody>
                  <a:tcPr/>
                </a:tc>
                <a:tc>
                  <a:txBody>
                    <a:bodyPr/>
                    <a:lstStyle/>
                    <a:p>
                      <a:r>
                        <a:rPr lang="en-US" dirty="0"/>
                        <a:t>Implemented full CRUD operations for spreadsheet management with dynamic query handling </a:t>
                      </a:r>
                      <a:endParaRPr lang="en-IN" dirty="0"/>
                    </a:p>
                  </a:txBody>
                  <a:tcPr/>
                </a:tc>
                <a:tc>
                  <a:txBody>
                    <a:bodyPr/>
                    <a:lstStyle/>
                    <a:p>
                      <a:r>
                        <a:rPr lang="en-US" dirty="0"/>
                        <a:t>Completed</a:t>
                      </a:r>
                      <a:endParaRPr lang="en-IN" dirty="0"/>
                    </a:p>
                  </a:txBody>
                  <a:tcPr/>
                </a:tc>
                <a:tc>
                  <a:txBody>
                    <a:bodyPr/>
                    <a:lstStyle/>
                    <a:p>
                      <a:endParaRPr lang="en-IN" dirty="0"/>
                    </a:p>
                  </a:txBody>
                  <a:tcPr/>
                </a:tc>
                <a:extLst>
                  <a:ext uri="{0D108BD9-81ED-4DB2-BD59-A6C34878D82A}">
                    <a16:rowId xmlns:a16="http://schemas.microsoft.com/office/drawing/2014/main" val="330926912"/>
                  </a:ext>
                </a:extLst>
              </a:tr>
              <a:tr h="502016">
                <a:tc>
                  <a:txBody>
                    <a:bodyPr/>
                    <a:lstStyle/>
                    <a:p>
                      <a:endParaRPr lang="en-IN" dirty="0"/>
                    </a:p>
                  </a:txBody>
                  <a:tcPr/>
                </a:tc>
                <a:tc>
                  <a:txBody>
                    <a:bodyPr/>
                    <a:lstStyle/>
                    <a:p>
                      <a:r>
                        <a:rPr lang="en-US" dirty="0"/>
                        <a:t>Integration of NLP handling and Advance automation</a:t>
                      </a:r>
                      <a:endParaRPr lang="en-IN" dirty="0"/>
                    </a:p>
                  </a:txBody>
                  <a:tcPr/>
                </a:tc>
                <a:tc>
                  <a:txBody>
                    <a:bodyPr/>
                    <a:lstStyle/>
                    <a:p>
                      <a:r>
                        <a:rPr lang="en-US" dirty="0"/>
                        <a:t>Working</a:t>
                      </a:r>
                      <a:endParaRPr lang="en-IN" dirty="0"/>
                    </a:p>
                  </a:txBody>
                  <a:tcPr/>
                </a:tc>
                <a:tc>
                  <a:txBody>
                    <a:bodyPr/>
                    <a:lstStyle/>
                    <a:p>
                      <a:r>
                        <a:rPr lang="en-US" dirty="0"/>
                        <a:t>July 2026</a:t>
                      </a:r>
                      <a:endParaRPr lang="en-IN" dirty="0"/>
                    </a:p>
                  </a:txBody>
                  <a:tcPr/>
                </a:tc>
                <a:extLst>
                  <a:ext uri="{0D108BD9-81ED-4DB2-BD59-A6C34878D82A}">
                    <a16:rowId xmlns:a16="http://schemas.microsoft.com/office/drawing/2014/main" val="2941053086"/>
                  </a:ext>
                </a:extLst>
              </a:tr>
              <a:tr h="502016">
                <a:tc>
                  <a:txBody>
                    <a:bodyPr/>
                    <a:lstStyle/>
                    <a:p>
                      <a:endParaRPr lang="en-IN" dirty="0"/>
                    </a:p>
                  </a:txBody>
                  <a:tcPr/>
                </a:tc>
                <a:tc>
                  <a:txBody>
                    <a:bodyPr/>
                    <a:lstStyle/>
                    <a:p>
                      <a:r>
                        <a:rPr lang="en-IN" dirty="0"/>
                        <a:t>Knowledge Base expansion and Assistive AI Collaboration </a:t>
                      </a:r>
                    </a:p>
                  </a:txBody>
                  <a:tcPr/>
                </a:tc>
                <a:tc>
                  <a:txBody>
                    <a:bodyPr/>
                    <a:lstStyle/>
                    <a:p>
                      <a:endParaRPr lang="en-IN" dirty="0"/>
                    </a:p>
                  </a:txBody>
                  <a:tcPr/>
                </a:tc>
                <a:tc>
                  <a:txBody>
                    <a:bodyPr/>
                    <a:lstStyle/>
                    <a:p>
                      <a:r>
                        <a:rPr lang="en-US" dirty="0"/>
                        <a:t>August 2026</a:t>
                      </a:r>
                      <a:endParaRPr lang="en-IN" dirty="0"/>
                    </a:p>
                  </a:txBody>
                  <a:tcPr/>
                </a:tc>
                <a:extLst>
                  <a:ext uri="{0D108BD9-81ED-4DB2-BD59-A6C34878D82A}">
                    <a16:rowId xmlns:a16="http://schemas.microsoft.com/office/drawing/2014/main" val="872584421"/>
                  </a:ext>
                </a:extLst>
              </a:tr>
            </a:tbl>
          </a:graphicData>
        </a:graphic>
      </p:graphicFrame>
    </p:spTree>
    <p:extLst>
      <p:ext uri="{BB962C8B-B14F-4D97-AF65-F5344CB8AC3E}">
        <p14:creationId xmlns:p14="http://schemas.microsoft.com/office/powerpoint/2010/main" val="1945583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749"/>
            <a:ext cx="9144000" cy="1231538"/>
          </a:xfrm>
        </p:spPr>
        <p:txBody>
          <a:bodyPr/>
          <a:lstStyle/>
          <a:p>
            <a:r>
              <a:rPr lang="en-US" b="1" u="sng" dirty="0"/>
              <a:t>Task Assigned</a:t>
            </a:r>
            <a:endParaRPr lang="en-IN" b="1" u="sng" dirty="0"/>
          </a:p>
        </p:txBody>
      </p:sp>
      <p:sp>
        <p:nvSpPr>
          <p:cNvPr id="3" name="Subtitle 2"/>
          <p:cNvSpPr>
            <a:spLocks noGrp="1"/>
          </p:cNvSpPr>
          <p:nvPr>
            <p:ph type="subTitle" idx="1"/>
          </p:nvPr>
        </p:nvSpPr>
        <p:spPr/>
        <p:txBody>
          <a:bodyPr/>
          <a:lstStyle/>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4246220561"/>
              </p:ext>
            </p:extLst>
          </p:nvPr>
        </p:nvGraphicFramePr>
        <p:xfrm>
          <a:off x="1524000" y="1469287"/>
          <a:ext cx="9666084" cy="5120640"/>
        </p:xfrm>
        <a:graphic>
          <a:graphicData uri="http://schemas.openxmlformats.org/drawingml/2006/table">
            <a:tbl>
              <a:tblPr firstRow="1" bandRow="1">
                <a:tableStyleId>{5C22544A-7EE6-4342-B048-85BDC9FD1C3A}</a:tableStyleId>
              </a:tblPr>
              <a:tblGrid>
                <a:gridCol w="1599448">
                  <a:extLst>
                    <a:ext uri="{9D8B030D-6E8A-4147-A177-3AD203B41FA5}">
                      <a16:colId xmlns:a16="http://schemas.microsoft.com/office/drawing/2014/main" val="2893314635"/>
                    </a:ext>
                  </a:extLst>
                </a:gridCol>
                <a:gridCol w="2969536">
                  <a:extLst>
                    <a:ext uri="{9D8B030D-6E8A-4147-A177-3AD203B41FA5}">
                      <a16:colId xmlns:a16="http://schemas.microsoft.com/office/drawing/2014/main" val="3735022108"/>
                    </a:ext>
                  </a:extLst>
                </a:gridCol>
                <a:gridCol w="2616452">
                  <a:extLst>
                    <a:ext uri="{9D8B030D-6E8A-4147-A177-3AD203B41FA5}">
                      <a16:colId xmlns:a16="http://schemas.microsoft.com/office/drawing/2014/main" val="4262444133"/>
                    </a:ext>
                  </a:extLst>
                </a:gridCol>
                <a:gridCol w="2480648">
                  <a:extLst>
                    <a:ext uri="{9D8B030D-6E8A-4147-A177-3AD203B41FA5}">
                      <a16:colId xmlns:a16="http://schemas.microsoft.com/office/drawing/2014/main" val="1994636819"/>
                    </a:ext>
                  </a:extLst>
                </a:gridCol>
              </a:tblGrid>
              <a:tr h="866494">
                <a:tc>
                  <a:txBody>
                    <a:bodyPr/>
                    <a:lstStyle/>
                    <a:p>
                      <a:r>
                        <a:rPr lang="en-US" u="sng" dirty="0"/>
                        <a:t>Intern Name</a:t>
                      </a:r>
                      <a:endParaRPr lang="en-IN" u="sng" dirty="0"/>
                    </a:p>
                  </a:txBody>
                  <a:tcPr/>
                </a:tc>
                <a:tc>
                  <a:txBody>
                    <a:bodyPr/>
                    <a:lstStyle/>
                    <a:p>
                      <a:r>
                        <a:rPr lang="en-US" u="sng" dirty="0"/>
                        <a:t>Assigned tasks</a:t>
                      </a:r>
                      <a:endParaRPr lang="en-IN" u="sng" dirty="0"/>
                    </a:p>
                  </a:txBody>
                  <a:tcPr/>
                </a:tc>
                <a:tc>
                  <a:txBody>
                    <a:bodyPr/>
                    <a:lstStyle/>
                    <a:p>
                      <a:r>
                        <a:rPr lang="en-US" u="sng" dirty="0"/>
                        <a:t>Work completed so far</a:t>
                      </a:r>
                      <a:endParaRPr lang="en-IN" u="sng" dirty="0"/>
                    </a:p>
                  </a:txBody>
                  <a:tcPr/>
                </a:tc>
                <a:tc>
                  <a:txBody>
                    <a:bodyPr/>
                    <a:lstStyle/>
                    <a:p>
                      <a:r>
                        <a:rPr lang="en-US" u="sng" dirty="0"/>
                        <a:t>Propose</a:t>
                      </a:r>
                      <a:r>
                        <a:rPr lang="en-US" u="sng" baseline="0" dirty="0"/>
                        <a:t> plan for repainting internship period</a:t>
                      </a:r>
                      <a:endParaRPr lang="en-IN" u="sng" dirty="0"/>
                    </a:p>
                  </a:txBody>
                  <a:tcPr/>
                </a:tc>
                <a:extLst>
                  <a:ext uri="{0D108BD9-81ED-4DB2-BD59-A6C34878D82A}">
                    <a16:rowId xmlns:a16="http://schemas.microsoft.com/office/drawing/2014/main" val="2617075680"/>
                  </a:ext>
                </a:extLst>
              </a:tr>
              <a:tr h="502016">
                <a:tc>
                  <a:txBody>
                    <a:bodyPr/>
                    <a:lstStyle/>
                    <a:p>
                      <a:r>
                        <a:rPr lang="en-US" dirty="0" err="1"/>
                        <a:t>Sh</a:t>
                      </a:r>
                      <a:r>
                        <a:rPr lang="en-US" dirty="0"/>
                        <a:t> </a:t>
                      </a:r>
                      <a:r>
                        <a:rPr lang="en-US" dirty="0" err="1"/>
                        <a:t>Shivansh</a:t>
                      </a:r>
                      <a:r>
                        <a:rPr lang="en-US" dirty="0"/>
                        <a:t> </a:t>
                      </a:r>
                      <a:r>
                        <a:rPr lang="en-US" dirty="0" err="1"/>
                        <a:t>Tyagi</a:t>
                      </a:r>
                      <a:endParaRPr lang="en-IN" dirty="0"/>
                    </a:p>
                  </a:txBody>
                  <a:tcPr/>
                </a:tc>
                <a:tc>
                  <a:txBody>
                    <a:bodyPr/>
                    <a:lstStyle/>
                    <a:p>
                      <a:r>
                        <a:rPr lang="en-US" dirty="0"/>
                        <a:t>Data preparation for the PS09 stage II AIGC</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Data preparation for the PS09 stage II AIGC</a:t>
                      </a:r>
                      <a:endParaRPr lang="en-IN" dirty="0"/>
                    </a:p>
                    <a:p>
                      <a:endParaRPr lang="en-IN" dirty="0"/>
                    </a:p>
                  </a:txBody>
                  <a:tcPr/>
                </a:tc>
                <a:tc>
                  <a:txBody>
                    <a:bodyPr/>
                    <a:lstStyle/>
                    <a:p>
                      <a:r>
                        <a:rPr lang="en-US" dirty="0"/>
                        <a:t>-</a:t>
                      </a:r>
                      <a:endParaRPr lang="en-IN" dirty="0"/>
                    </a:p>
                  </a:txBody>
                  <a:tcPr/>
                </a:tc>
                <a:extLst>
                  <a:ext uri="{0D108BD9-81ED-4DB2-BD59-A6C34878D82A}">
                    <a16:rowId xmlns:a16="http://schemas.microsoft.com/office/drawing/2014/main" val="2075025485"/>
                  </a:ext>
                </a:extLst>
              </a:tr>
              <a:tr h="502016">
                <a:tc>
                  <a:txBody>
                    <a:bodyPr/>
                    <a:lstStyle/>
                    <a:p>
                      <a:r>
                        <a:rPr lang="en-US" dirty="0"/>
                        <a:t>( 15</a:t>
                      </a:r>
                      <a:r>
                        <a:rPr lang="en-US" baseline="0" dirty="0"/>
                        <a:t> Jan 26 – 14 July 26)</a:t>
                      </a:r>
                      <a:endParaRPr lang="en-IN" dirty="0"/>
                    </a:p>
                  </a:txBody>
                  <a:tcPr/>
                </a:tc>
                <a:tc>
                  <a:txBody>
                    <a:bodyPr/>
                    <a:lstStyle/>
                    <a:p>
                      <a:r>
                        <a:rPr lang="en-US" dirty="0"/>
                        <a:t>Preparation</a:t>
                      </a:r>
                      <a:r>
                        <a:rPr lang="en-US" baseline="0" dirty="0"/>
                        <a:t> for evaluation script for AIGC PS09 Stage 2</a:t>
                      </a:r>
                      <a:endParaRPr lang="en-IN" dirty="0"/>
                    </a:p>
                  </a:txBody>
                  <a:tcPr/>
                </a:tc>
                <a:tc>
                  <a:txBody>
                    <a:bodyPr/>
                    <a:lstStyle/>
                    <a:p>
                      <a:r>
                        <a:rPr lang="en-US" dirty="0"/>
                        <a:t>Successfully</a:t>
                      </a:r>
                      <a:r>
                        <a:rPr lang="en-US" baseline="0" dirty="0"/>
                        <a:t> completed</a:t>
                      </a:r>
                      <a:endParaRPr lang="en-IN" dirty="0"/>
                    </a:p>
                  </a:txBody>
                  <a:tcPr/>
                </a:tc>
                <a:tc>
                  <a:txBody>
                    <a:bodyPr/>
                    <a:lstStyle/>
                    <a:p>
                      <a:r>
                        <a:rPr lang="en-US" dirty="0"/>
                        <a:t>-</a:t>
                      </a:r>
                      <a:endParaRPr lang="en-IN" dirty="0"/>
                    </a:p>
                  </a:txBody>
                  <a:tcPr/>
                </a:tc>
                <a:extLst>
                  <a:ext uri="{0D108BD9-81ED-4DB2-BD59-A6C34878D82A}">
                    <a16:rowId xmlns:a16="http://schemas.microsoft.com/office/drawing/2014/main" val="330926912"/>
                  </a:ext>
                </a:extLst>
              </a:tr>
              <a:tr h="502016">
                <a:tc>
                  <a:txBody>
                    <a:bodyPr/>
                    <a:lstStyle/>
                    <a:p>
                      <a:endParaRPr lang="en-IN"/>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Optimization of Planet Image preprocessing,</a:t>
                      </a:r>
                      <a:r>
                        <a:rPr lang="en-US" baseline="0" dirty="0"/>
                        <a:t> Ingestion and correlation with AIS data </a:t>
                      </a:r>
                      <a:r>
                        <a:rPr lang="en-US" dirty="0"/>
                        <a:t>algorithm</a:t>
                      </a:r>
                      <a:endParaRPr lang="en-IN" dirty="0"/>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Optimization of Planet Image preprocessing algorithm</a:t>
                      </a:r>
                      <a:r>
                        <a:rPr lang="en-US" baseline="0" dirty="0"/>
                        <a:t> completed and working in production</a:t>
                      </a:r>
                      <a:endParaRPr lang="en-IN" dirty="0"/>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Working on </a:t>
                      </a:r>
                      <a:r>
                        <a:rPr lang="en-US" baseline="0" dirty="0"/>
                        <a:t>Ingestion and correlation with AIS data </a:t>
                      </a:r>
                      <a:r>
                        <a:rPr lang="en-US" dirty="0"/>
                        <a:t>algorithm</a:t>
                      </a:r>
                      <a:endParaRPr lang="en-IN" dirty="0"/>
                    </a:p>
                    <a:p>
                      <a:endParaRPr lang="en-IN" dirty="0"/>
                    </a:p>
                  </a:txBody>
                  <a:tcPr/>
                </a:tc>
                <a:extLst>
                  <a:ext uri="{0D108BD9-81ED-4DB2-BD59-A6C34878D82A}">
                    <a16:rowId xmlns:a16="http://schemas.microsoft.com/office/drawing/2014/main" val="2333243418"/>
                  </a:ext>
                </a:extLst>
              </a:tr>
              <a:tr h="502016">
                <a:tc>
                  <a:txBody>
                    <a:bodyPr/>
                    <a:lstStyle/>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Optimization of AIS decoder</a:t>
                      </a:r>
                      <a:r>
                        <a:rPr lang="en-US" baseline="0" dirty="0"/>
                        <a:t> for fast data encoding and cleaning</a:t>
                      </a:r>
                      <a:endParaRPr lang="en-IN" dirty="0"/>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Completed and working in production </a:t>
                      </a:r>
                      <a:endParaRPr lang="en-IN" dirty="0"/>
                    </a:p>
                    <a:p>
                      <a:endParaRPr lang="en-IN" dirty="0"/>
                    </a:p>
                  </a:txBody>
                  <a:tcPr/>
                </a:tc>
                <a:tc>
                  <a:txBody>
                    <a:bodyPr/>
                    <a:lstStyle/>
                    <a:p>
                      <a:r>
                        <a:rPr lang="en-US" dirty="0"/>
                        <a:t>-</a:t>
                      </a:r>
                      <a:endParaRPr lang="en-IN" dirty="0"/>
                    </a:p>
                  </a:txBody>
                  <a:tcPr/>
                </a:tc>
                <a:extLst>
                  <a:ext uri="{0D108BD9-81ED-4DB2-BD59-A6C34878D82A}">
                    <a16:rowId xmlns:a16="http://schemas.microsoft.com/office/drawing/2014/main" val="1497379602"/>
                  </a:ext>
                </a:extLst>
              </a:tr>
            </a:tbl>
          </a:graphicData>
        </a:graphic>
      </p:graphicFrame>
    </p:spTree>
    <p:extLst>
      <p:ext uri="{BB962C8B-B14F-4D97-AF65-F5344CB8AC3E}">
        <p14:creationId xmlns:p14="http://schemas.microsoft.com/office/powerpoint/2010/main" val="3849570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749"/>
            <a:ext cx="9144000" cy="1231538"/>
          </a:xfrm>
        </p:spPr>
        <p:txBody>
          <a:bodyPr/>
          <a:lstStyle/>
          <a:p>
            <a:r>
              <a:rPr lang="en-US" b="1" u="sng" dirty="0"/>
              <a:t>Task Assigned</a:t>
            </a:r>
            <a:endParaRPr lang="en-IN" b="1" u="sng" dirty="0"/>
          </a:p>
        </p:txBody>
      </p:sp>
      <p:sp>
        <p:nvSpPr>
          <p:cNvPr id="3" name="Subtitle 2"/>
          <p:cNvSpPr>
            <a:spLocks noGrp="1"/>
          </p:cNvSpPr>
          <p:nvPr>
            <p:ph type="subTitle" idx="1"/>
          </p:nvPr>
        </p:nvSpPr>
        <p:spPr/>
        <p:txBody>
          <a:bodyPr/>
          <a:lstStyle/>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329945877"/>
              </p:ext>
            </p:extLst>
          </p:nvPr>
        </p:nvGraphicFramePr>
        <p:xfrm>
          <a:off x="1524000" y="1469287"/>
          <a:ext cx="9666084" cy="3931920"/>
        </p:xfrm>
        <a:graphic>
          <a:graphicData uri="http://schemas.openxmlformats.org/drawingml/2006/table">
            <a:tbl>
              <a:tblPr firstRow="1" bandRow="1">
                <a:tableStyleId>{5C22544A-7EE6-4342-B048-85BDC9FD1C3A}</a:tableStyleId>
              </a:tblPr>
              <a:tblGrid>
                <a:gridCol w="1599448">
                  <a:extLst>
                    <a:ext uri="{9D8B030D-6E8A-4147-A177-3AD203B41FA5}">
                      <a16:colId xmlns:a16="http://schemas.microsoft.com/office/drawing/2014/main" val="2893314635"/>
                    </a:ext>
                  </a:extLst>
                </a:gridCol>
                <a:gridCol w="2969536">
                  <a:extLst>
                    <a:ext uri="{9D8B030D-6E8A-4147-A177-3AD203B41FA5}">
                      <a16:colId xmlns:a16="http://schemas.microsoft.com/office/drawing/2014/main" val="3735022108"/>
                    </a:ext>
                  </a:extLst>
                </a:gridCol>
                <a:gridCol w="2616452">
                  <a:extLst>
                    <a:ext uri="{9D8B030D-6E8A-4147-A177-3AD203B41FA5}">
                      <a16:colId xmlns:a16="http://schemas.microsoft.com/office/drawing/2014/main" val="4262444133"/>
                    </a:ext>
                  </a:extLst>
                </a:gridCol>
                <a:gridCol w="2480648">
                  <a:extLst>
                    <a:ext uri="{9D8B030D-6E8A-4147-A177-3AD203B41FA5}">
                      <a16:colId xmlns:a16="http://schemas.microsoft.com/office/drawing/2014/main" val="1994636819"/>
                    </a:ext>
                  </a:extLst>
                </a:gridCol>
              </a:tblGrid>
              <a:tr h="866494">
                <a:tc>
                  <a:txBody>
                    <a:bodyPr/>
                    <a:lstStyle/>
                    <a:p>
                      <a:r>
                        <a:rPr lang="en-US" u="sng" dirty="0"/>
                        <a:t>Intern Name</a:t>
                      </a:r>
                      <a:endParaRPr lang="en-IN" u="sng" dirty="0"/>
                    </a:p>
                  </a:txBody>
                  <a:tcPr/>
                </a:tc>
                <a:tc>
                  <a:txBody>
                    <a:bodyPr/>
                    <a:lstStyle/>
                    <a:p>
                      <a:r>
                        <a:rPr lang="en-US" u="sng" dirty="0"/>
                        <a:t>Assigned tasks</a:t>
                      </a:r>
                      <a:endParaRPr lang="en-IN" u="sng" dirty="0"/>
                    </a:p>
                  </a:txBody>
                  <a:tcPr/>
                </a:tc>
                <a:tc>
                  <a:txBody>
                    <a:bodyPr/>
                    <a:lstStyle/>
                    <a:p>
                      <a:r>
                        <a:rPr lang="en-US" u="sng" dirty="0"/>
                        <a:t>Work completed so far</a:t>
                      </a:r>
                      <a:endParaRPr lang="en-IN" u="sng" dirty="0"/>
                    </a:p>
                  </a:txBody>
                  <a:tcPr/>
                </a:tc>
                <a:tc>
                  <a:txBody>
                    <a:bodyPr/>
                    <a:lstStyle/>
                    <a:p>
                      <a:r>
                        <a:rPr lang="en-US" u="sng" dirty="0"/>
                        <a:t>Propose</a:t>
                      </a:r>
                      <a:r>
                        <a:rPr lang="en-US" u="sng" baseline="0" dirty="0"/>
                        <a:t> plan for repainting internship period</a:t>
                      </a:r>
                      <a:endParaRPr lang="en-IN" u="sng" dirty="0"/>
                    </a:p>
                  </a:txBody>
                  <a:tcPr/>
                </a:tc>
                <a:extLst>
                  <a:ext uri="{0D108BD9-81ED-4DB2-BD59-A6C34878D82A}">
                    <a16:rowId xmlns:a16="http://schemas.microsoft.com/office/drawing/2014/main" val="2617075680"/>
                  </a:ext>
                </a:extLst>
              </a:tr>
              <a:tr h="502016">
                <a:tc>
                  <a:txBody>
                    <a:bodyPr/>
                    <a:lstStyle/>
                    <a:p>
                      <a:r>
                        <a:rPr lang="en-US" dirty="0" err="1"/>
                        <a:t>Sh</a:t>
                      </a:r>
                      <a:r>
                        <a:rPr lang="en-US" dirty="0"/>
                        <a:t> </a:t>
                      </a:r>
                      <a:r>
                        <a:rPr lang="en-US" dirty="0" err="1"/>
                        <a:t>Shuddhabrota</a:t>
                      </a:r>
                      <a:r>
                        <a:rPr lang="en-US" dirty="0"/>
                        <a:t> Banerjee</a:t>
                      </a:r>
                      <a:endParaRPr lang="en-IN" dirty="0"/>
                    </a:p>
                  </a:txBody>
                  <a:tcPr/>
                </a:tc>
                <a:tc>
                  <a:txBody>
                    <a:bodyPr/>
                    <a:lstStyle/>
                    <a:p>
                      <a:r>
                        <a:rPr lang="en-US" dirty="0"/>
                        <a:t>Data preparation for</a:t>
                      </a:r>
                      <a:r>
                        <a:rPr lang="en-US" baseline="0" dirty="0"/>
                        <a:t> ship-detection and classification</a:t>
                      </a:r>
                      <a:r>
                        <a:rPr lang="en-US" dirty="0"/>
                        <a:t> for the PS09 stage III AIGC</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Vessel annotation on medium and low resolution(EO/SAR) imagery</a:t>
                      </a:r>
                      <a:endParaRPr lang="en-IN" dirty="0"/>
                    </a:p>
                  </a:txBody>
                  <a:tcPr/>
                </a:tc>
                <a:tc>
                  <a:txBody>
                    <a:bodyPr/>
                    <a:lstStyle/>
                    <a:p>
                      <a:r>
                        <a:rPr lang="en-US" dirty="0"/>
                        <a:t>-</a:t>
                      </a:r>
                      <a:endParaRPr lang="en-IN" dirty="0"/>
                    </a:p>
                  </a:txBody>
                  <a:tcPr/>
                </a:tc>
                <a:extLst>
                  <a:ext uri="{0D108BD9-81ED-4DB2-BD59-A6C34878D82A}">
                    <a16:rowId xmlns:a16="http://schemas.microsoft.com/office/drawing/2014/main" val="2075025485"/>
                  </a:ext>
                </a:extLst>
              </a:tr>
              <a:tr h="502016">
                <a:tc>
                  <a:txBody>
                    <a:bodyPr/>
                    <a:lstStyle/>
                    <a:p>
                      <a:r>
                        <a:rPr lang="en-US" dirty="0"/>
                        <a:t>( 21 May 26 – 20 Aug 26 </a:t>
                      </a:r>
                      <a:r>
                        <a:rPr lang="en-US" baseline="0" dirty="0"/>
                        <a:t>)</a:t>
                      </a:r>
                      <a:endParaRPr lang="en-IN" dirty="0"/>
                    </a:p>
                  </a:txBody>
                  <a:tcPr/>
                </a:tc>
                <a:tc>
                  <a:txBody>
                    <a:bodyPr/>
                    <a:lstStyle/>
                    <a:p>
                      <a:r>
                        <a:rPr lang="en-US" dirty="0"/>
                        <a:t>Data preparation for</a:t>
                      </a:r>
                      <a:r>
                        <a:rPr lang="en-US" baseline="0" dirty="0"/>
                        <a:t> path interpolation </a:t>
                      </a:r>
                      <a:r>
                        <a:rPr lang="en-US" dirty="0"/>
                        <a:t>for the PS09 stage III AIGC</a:t>
                      </a:r>
                      <a:endParaRPr lang="en-IN" dirty="0"/>
                    </a:p>
                  </a:txBody>
                  <a:tcPr/>
                </a:tc>
                <a:tc>
                  <a:txBody>
                    <a:bodyPr/>
                    <a:lstStyle/>
                    <a:p>
                      <a:r>
                        <a:rPr lang="en-US" dirty="0"/>
                        <a:t>Work in progress</a:t>
                      </a:r>
                      <a:endParaRPr lang="en-IN" dirty="0"/>
                    </a:p>
                  </a:txBody>
                  <a:tcPr/>
                </a:tc>
                <a:tc>
                  <a:txBody>
                    <a:bodyPr/>
                    <a:lstStyle/>
                    <a:p>
                      <a:r>
                        <a:rPr lang="en-US" dirty="0"/>
                        <a:t>July</a:t>
                      </a:r>
                      <a:r>
                        <a:rPr lang="en-US" baseline="0" dirty="0"/>
                        <a:t> 2026</a:t>
                      </a:r>
                      <a:endParaRPr lang="en-IN" dirty="0"/>
                    </a:p>
                  </a:txBody>
                  <a:tcPr/>
                </a:tc>
                <a:extLst>
                  <a:ext uri="{0D108BD9-81ED-4DB2-BD59-A6C34878D82A}">
                    <a16:rowId xmlns:a16="http://schemas.microsoft.com/office/drawing/2014/main" val="330926912"/>
                  </a:ext>
                </a:extLst>
              </a:tr>
              <a:tr h="502016">
                <a:tc>
                  <a:txBody>
                    <a:bodyPr/>
                    <a:lstStyle/>
                    <a:p>
                      <a:endParaRPr lang="en-IN" dirty="0"/>
                    </a:p>
                  </a:txBody>
                  <a:tcPr/>
                </a:tc>
                <a:tc>
                  <a:txBody>
                    <a:bodyPr/>
                    <a:lstStyle/>
                    <a:p>
                      <a:r>
                        <a:rPr lang="en-US" dirty="0"/>
                        <a:t>Preparation</a:t>
                      </a:r>
                      <a:r>
                        <a:rPr lang="en-US" baseline="0" dirty="0"/>
                        <a:t> for evaluation script for AIGC PS09 Stage III</a:t>
                      </a:r>
                      <a:endParaRPr lang="en-IN" dirty="0"/>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p>
                      <a:endParaRPr lang="en-IN" dirty="0"/>
                    </a:p>
                  </a:txBody>
                  <a:tcPr/>
                </a:tc>
                <a:tc>
                  <a:txBody>
                    <a:bodyPr/>
                    <a:lstStyle/>
                    <a:p>
                      <a:r>
                        <a:rPr lang="en-US" dirty="0"/>
                        <a:t>August</a:t>
                      </a:r>
                      <a:r>
                        <a:rPr lang="en-US" baseline="0" dirty="0"/>
                        <a:t> 2026</a:t>
                      </a:r>
                      <a:endParaRPr lang="en-IN" dirty="0"/>
                    </a:p>
                  </a:txBody>
                  <a:tcPr/>
                </a:tc>
                <a:extLst>
                  <a:ext uri="{0D108BD9-81ED-4DB2-BD59-A6C34878D82A}">
                    <a16:rowId xmlns:a16="http://schemas.microsoft.com/office/drawing/2014/main" val="1497379602"/>
                  </a:ext>
                </a:extLst>
              </a:tr>
            </a:tbl>
          </a:graphicData>
        </a:graphic>
      </p:graphicFrame>
    </p:spTree>
    <p:extLst>
      <p:ext uri="{BB962C8B-B14F-4D97-AF65-F5344CB8AC3E}">
        <p14:creationId xmlns:p14="http://schemas.microsoft.com/office/powerpoint/2010/main" val="917365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749"/>
            <a:ext cx="9144000" cy="1231538"/>
          </a:xfrm>
        </p:spPr>
        <p:txBody>
          <a:bodyPr/>
          <a:lstStyle/>
          <a:p>
            <a:r>
              <a:rPr lang="en-US" b="1" u="sng" dirty="0"/>
              <a:t>Task Assigned</a:t>
            </a:r>
            <a:endParaRPr lang="en-IN" b="1" u="sng" dirty="0"/>
          </a:p>
        </p:txBody>
      </p:sp>
      <p:sp>
        <p:nvSpPr>
          <p:cNvPr id="3" name="Subtitle 2"/>
          <p:cNvSpPr>
            <a:spLocks noGrp="1"/>
          </p:cNvSpPr>
          <p:nvPr>
            <p:ph type="subTitle" idx="1"/>
          </p:nvPr>
        </p:nvSpPr>
        <p:spPr/>
        <p:txBody>
          <a:bodyPr/>
          <a:lstStyle/>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597114651"/>
              </p:ext>
            </p:extLst>
          </p:nvPr>
        </p:nvGraphicFramePr>
        <p:xfrm>
          <a:off x="1524000" y="1469287"/>
          <a:ext cx="9430693" cy="3779622"/>
        </p:xfrm>
        <a:graphic>
          <a:graphicData uri="http://schemas.openxmlformats.org/drawingml/2006/table">
            <a:tbl>
              <a:tblPr firstRow="1" bandRow="1">
                <a:tableStyleId>{5C22544A-7EE6-4342-B048-85BDC9FD1C3A}</a:tableStyleId>
              </a:tblPr>
              <a:tblGrid>
                <a:gridCol w="1508911">
                  <a:extLst>
                    <a:ext uri="{9D8B030D-6E8A-4147-A177-3AD203B41FA5}">
                      <a16:colId xmlns:a16="http://schemas.microsoft.com/office/drawing/2014/main" val="2893314635"/>
                    </a:ext>
                  </a:extLst>
                </a:gridCol>
                <a:gridCol w="3494638">
                  <a:extLst>
                    <a:ext uri="{9D8B030D-6E8A-4147-A177-3AD203B41FA5}">
                      <a16:colId xmlns:a16="http://schemas.microsoft.com/office/drawing/2014/main" val="3735022108"/>
                    </a:ext>
                  </a:extLst>
                </a:gridCol>
                <a:gridCol w="2498756">
                  <a:extLst>
                    <a:ext uri="{9D8B030D-6E8A-4147-A177-3AD203B41FA5}">
                      <a16:colId xmlns:a16="http://schemas.microsoft.com/office/drawing/2014/main" val="4262444133"/>
                    </a:ext>
                  </a:extLst>
                </a:gridCol>
                <a:gridCol w="1928388">
                  <a:extLst>
                    <a:ext uri="{9D8B030D-6E8A-4147-A177-3AD203B41FA5}">
                      <a16:colId xmlns:a16="http://schemas.microsoft.com/office/drawing/2014/main" val="1994636819"/>
                    </a:ext>
                  </a:extLst>
                </a:gridCol>
              </a:tblGrid>
              <a:tr h="832394">
                <a:tc>
                  <a:txBody>
                    <a:bodyPr/>
                    <a:lstStyle/>
                    <a:p>
                      <a:r>
                        <a:rPr lang="en-US" u="sng" dirty="0"/>
                        <a:t>Intern Name</a:t>
                      </a:r>
                      <a:endParaRPr lang="en-IN" u="sng" dirty="0"/>
                    </a:p>
                  </a:txBody>
                  <a:tcPr/>
                </a:tc>
                <a:tc>
                  <a:txBody>
                    <a:bodyPr/>
                    <a:lstStyle/>
                    <a:p>
                      <a:r>
                        <a:rPr lang="en-US" u="sng" dirty="0"/>
                        <a:t>Assigned tasks</a:t>
                      </a:r>
                      <a:endParaRPr lang="en-IN" u="sng" dirty="0"/>
                    </a:p>
                  </a:txBody>
                  <a:tcPr/>
                </a:tc>
                <a:tc>
                  <a:txBody>
                    <a:bodyPr/>
                    <a:lstStyle/>
                    <a:p>
                      <a:r>
                        <a:rPr lang="en-US" u="sng" dirty="0"/>
                        <a:t>Work completed so far</a:t>
                      </a:r>
                      <a:endParaRPr lang="en-IN" u="sng" dirty="0"/>
                    </a:p>
                  </a:txBody>
                  <a:tcPr/>
                </a:tc>
                <a:tc>
                  <a:txBody>
                    <a:bodyPr/>
                    <a:lstStyle/>
                    <a:p>
                      <a:r>
                        <a:rPr lang="en-US" u="sng" dirty="0"/>
                        <a:t>Propose</a:t>
                      </a:r>
                      <a:r>
                        <a:rPr lang="en-US" u="sng" baseline="0" dirty="0"/>
                        <a:t> plan for repainting internship period</a:t>
                      </a:r>
                      <a:endParaRPr lang="en-IN" u="sng" dirty="0"/>
                    </a:p>
                  </a:txBody>
                  <a:tcPr/>
                </a:tc>
                <a:extLst>
                  <a:ext uri="{0D108BD9-81ED-4DB2-BD59-A6C34878D82A}">
                    <a16:rowId xmlns:a16="http://schemas.microsoft.com/office/drawing/2014/main" val="2617075680"/>
                  </a:ext>
                </a:extLst>
              </a:tr>
              <a:tr h="622063">
                <a:tc>
                  <a:txBody>
                    <a:bodyPr/>
                    <a:lstStyle/>
                    <a:p>
                      <a:pPr marL="0" indent="0" algn="l">
                        <a:buNone/>
                      </a:pPr>
                      <a:r>
                        <a:rPr lang="en-US" dirty="0" err="1"/>
                        <a:t>Sh</a:t>
                      </a:r>
                      <a:r>
                        <a:rPr lang="en-US" dirty="0"/>
                        <a:t> </a:t>
                      </a:r>
                      <a:r>
                        <a:rPr lang="" altLang="en-US" sz="1800" b="0" dirty="0">
                          <a:solidFill>
                            <a:schemeClr val="tx1"/>
                          </a:solidFill>
                          <a:latin typeface="Calibri" pitchFamily="34" charset="0"/>
                          <a:ea typeface="Calibri" pitchFamily="34" charset="-122"/>
                          <a:cs typeface="Calibri" pitchFamily="34" charset="-120"/>
                        </a:rPr>
                        <a:t>Harsh Kumar Verma</a:t>
                      </a:r>
                      <a:endParaRPr lang="en-US" sz="1800" b="0" dirty="0">
                        <a:solidFill>
                          <a:schemeClr val="tx1"/>
                        </a:solidFill>
                      </a:endParaRPr>
                    </a:p>
                  </a:txBody>
                  <a:tcPr/>
                </a:tc>
                <a:tc>
                  <a:txBody>
                    <a:bodyPr/>
                    <a:lstStyle/>
                    <a:p>
                      <a:pPr algn="l"/>
                      <a:r>
                        <a:rPr lang="en-US" dirty="0"/>
                        <a:t>Debugging</a:t>
                      </a:r>
                      <a:r>
                        <a:rPr lang="en-US" baseline="0" dirty="0"/>
                        <a:t> SICS dashboard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Successfully completed and currently in use</a:t>
                      </a:r>
                      <a:endParaRPr lang="en-IN" dirty="0"/>
                    </a:p>
                  </a:txBody>
                  <a:tcPr/>
                </a:tc>
                <a:tc>
                  <a:txBody>
                    <a:bodyPr/>
                    <a:lstStyle/>
                    <a:p>
                      <a:endParaRPr lang="en-IN" dirty="0"/>
                    </a:p>
                  </a:txBody>
                  <a:tcPr/>
                </a:tc>
                <a:extLst>
                  <a:ext uri="{0D108BD9-81ED-4DB2-BD59-A6C34878D82A}">
                    <a16:rowId xmlns:a16="http://schemas.microsoft.com/office/drawing/2014/main" val="2075025485"/>
                  </a:ext>
                </a:extLst>
              </a:tr>
              <a:tr h="6609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( 5 Feb 26 – 4</a:t>
                      </a:r>
                      <a:r>
                        <a:rPr lang="en-US" baseline="0" dirty="0"/>
                        <a:t> Aug 26 )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Developed </a:t>
                      </a:r>
                      <a:r>
                        <a:rPr lang="en-US" sz="1800" b="0" dirty="0">
                          <a:solidFill>
                            <a:schemeClr val="tx1"/>
                          </a:solidFill>
                          <a:latin typeface="Calibri" pitchFamily="34" charset="0"/>
                          <a:ea typeface="Calibri" pitchFamily="34" charset="-122"/>
                          <a:cs typeface="Calibri" pitchFamily="34" charset="-120"/>
                        </a:rPr>
                        <a:t>RF / AIS Correlation Engine</a:t>
                      </a:r>
                    </a:p>
                  </a:txBody>
                  <a:tcPr/>
                </a:tc>
                <a:tc>
                  <a:txBody>
                    <a:bodyPr/>
                    <a:lstStyle/>
                    <a:p>
                      <a:r>
                        <a:rPr lang="en-US" dirty="0"/>
                        <a:t>Successfully completed</a:t>
                      </a:r>
                      <a:endParaRPr lang="en-IN" dirty="0"/>
                    </a:p>
                  </a:txBody>
                  <a:tcPr/>
                </a:tc>
                <a:tc>
                  <a:txBody>
                    <a:bodyPr/>
                    <a:lstStyle/>
                    <a:p>
                      <a:endParaRPr lang="en-IN" dirty="0"/>
                    </a:p>
                  </a:txBody>
                  <a:tcPr/>
                </a:tc>
                <a:extLst>
                  <a:ext uri="{0D108BD9-81ED-4DB2-BD59-A6C34878D82A}">
                    <a16:rowId xmlns:a16="http://schemas.microsoft.com/office/drawing/2014/main" val="330926912"/>
                  </a:ext>
                </a:extLst>
              </a:tr>
              <a:tr h="924069">
                <a:tc>
                  <a:txBody>
                    <a:bodyPr/>
                    <a:lstStyle/>
                    <a:p>
                      <a:endParaRPr lang="en-IN" dirty="0"/>
                    </a:p>
                  </a:txBody>
                  <a:tcPr/>
                </a:tc>
                <a:tc>
                  <a:txBody>
                    <a:bodyPr/>
                    <a:lstStyle/>
                    <a:p>
                      <a:r>
                        <a:rPr lang="en-US" sz="1800" dirty="0">
                          <a:solidFill>
                            <a:schemeClr val="tx1"/>
                          </a:solidFill>
                          <a:latin typeface="Calibri" pitchFamily="34" charset="0"/>
                          <a:ea typeface="Calibri" pitchFamily="34" charset="-122"/>
                          <a:cs typeface="Calibri" pitchFamily="34" charset="-120"/>
                        </a:rPr>
                        <a:t>Automated and documented the full data lifecycle -</a:t>
                      </a:r>
                      <a:r>
                        <a:rPr lang="en-US" sz="1800" baseline="0" dirty="0">
                          <a:solidFill>
                            <a:schemeClr val="tx1"/>
                          </a:solidFill>
                          <a:latin typeface="Calibri" pitchFamily="34" charset="0"/>
                          <a:ea typeface="Calibri" pitchFamily="34" charset="-122"/>
                          <a:cs typeface="Calibri" pitchFamily="34" charset="-120"/>
                        </a:rPr>
                        <a:t> </a:t>
                      </a:r>
                      <a:r>
                        <a:rPr lang="en-US" sz="1800" dirty="0">
                          <a:solidFill>
                            <a:schemeClr val="tx1"/>
                          </a:solidFill>
                          <a:latin typeface="Calibri" pitchFamily="34" charset="0"/>
                          <a:ea typeface="Calibri" pitchFamily="34" charset="-122"/>
                          <a:cs typeface="Calibri" pitchFamily="34" charset="-120"/>
                        </a:rPr>
                        <a:t>import, checkpoint, re-import, and cleanup</a:t>
                      </a:r>
                      <a:endParaRPr lang="en-IN" dirty="0">
                        <a:solidFill>
                          <a:schemeClr val="tx1"/>
                        </a:solidFill>
                      </a:endParaRPr>
                    </a:p>
                  </a:txBody>
                  <a:tcPr/>
                </a:tc>
                <a:tc>
                  <a:txBody>
                    <a:bodyPr/>
                    <a:lstStyle/>
                    <a:p>
                      <a:r>
                        <a:rPr lang="en-US" dirty="0"/>
                        <a:t>Successfully completely</a:t>
                      </a:r>
                      <a:endParaRPr lang="en-IN" dirty="0"/>
                    </a:p>
                  </a:txBody>
                  <a:tcPr/>
                </a:tc>
                <a:tc>
                  <a:txBody>
                    <a:bodyPr/>
                    <a:lstStyle/>
                    <a:p>
                      <a:endParaRPr lang="en-IN" dirty="0"/>
                    </a:p>
                  </a:txBody>
                  <a:tcPr/>
                </a:tc>
                <a:extLst>
                  <a:ext uri="{0D108BD9-81ED-4DB2-BD59-A6C34878D82A}">
                    <a16:rowId xmlns:a16="http://schemas.microsoft.com/office/drawing/2014/main" val="2333243418"/>
                  </a:ext>
                </a:extLst>
              </a:tr>
              <a:tr h="582676">
                <a:tc>
                  <a:txBody>
                    <a:bodyPr/>
                    <a:lstStyle/>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alibri" pitchFamily="34" charset="0"/>
                          <a:ea typeface="Calibri" pitchFamily="34" charset="-122"/>
                          <a:cs typeface="Calibri" pitchFamily="34" charset="-120"/>
                        </a:rPr>
                        <a:t>Designed complete architecture for offline LLM deployment</a:t>
                      </a:r>
                      <a:endParaRPr lang="en-IN" dirty="0">
                        <a:solidFill>
                          <a:schemeClr val="tx1"/>
                        </a:solidFill>
                      </a:endParaRPr>
                    </a:p>
                  </a:txBody>
                  <a:tcPr/>
                </a:tc>
                <a:tc>
                  <a:txBody>
                    <a:bodyPr/>
                    <a:lstStyle/>
                    <a:p>
                      <a:r>
                        <a:rPr lang="en-US" dirty="0"/>
                        <a:t>Work in progress</a:t>
                      </a:r>
                      <a:endParaRPr lang="en-IN" dirty="0"/>
                    </a:p>
                  </a:txBody>
                  <a:tcPr/>
                </a:tc>
                <a:tc>
                  <a:txBody>
                    <a:bodyPr/>
                    <a:lstStyle/>
                    <a:p>
                      <a:endParaRPr lang="en-IN" dirty="0"/>
                    </a:p>
                  </a:txBody>
                  <a:tcPr/>
                </a:tc>
                <a:extLst>
                  <a:ext uri="{0D108BD9-81ED-4DB2-BD59-A6C34878D82A}">
                    <a16:rowId xmlns:a16="http://schemas.microsoft.com/office/drawing/2014/main" val="1497379602"/>
                  </a:ext>
                </a:extLst>
              </a:tr>
            </a:tbl>
          </a:graphicData>
        </a:graphic>
      </p:graphicFrame>
    </p:spTree>
    <p:extLst>
      <p:ext uri="{BB962C8B-B14F-4D97-AF65-F5344CB8AC3E}">
        <p14:creationId xmlns:p14="http://schemas.microsoft.com/office/powerpoint/2010/main" val="108052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749"/>
            <a:ext cx="9144000" cy="1231538"/>
          </a:xfrm>
        </p:spPr>
        <p:txBody>
          <a:bodyPr/>
          <a:lstStyle/>
          <a:p>
            <a:r>
              <a:rPr lang="en-US" b="1" u="sng" dirty="0"/>
              <a:t>Task Assigned</a:t>
            </a:r>
            <a:endParaRPr lang="en-IN" b="1" u="sng" dirty="0"/>
          </a:p>
        </p:txBody>
      </p:sp>
      <p:sp>
        <p:nvSpPr>
          <p:cNvPr id="3" name="Subtitle 2"/>
          <p:cNvSpPr>
            <a:spLocks noGrp="1"/>
          </p:cNvSpPr>
          <p:nvPr>
            <p:ph type="subTitle" idx="1"/>
          </p:nvPr>
        </p:nvSpPr>
        <p:spPr/>
        <p:txBody>
          <a:bodyPr/>
          <a:lstStyle/>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4020594684"/>
              </p:ext>
            </p:extLst>
          </p:nvPr>
        </p:nvGraphicFramePr>
        <p:xfrm>
          <a:off x="1524000" y="1469287"/>
          <a:ext cx="9666084" cy="4023360"/>
        </p:xfrm>
        <a:graphic>
          <a:graphicData uri="http://schemas.openxmlformats.org/drawingml/2006/table">
            <a:tbl>
              <a:tblPr firstRow="1" bandRow="1">
                <a:tableStyleId>{5C22544A-7EE6-4342-B048-85BDC9FD1C3A}</a:tableStyleId>
              </a:tblPr>
              <a:tblGrid>
                <a:gridCol w="1599448">
                  <a:extLst>
                    <a:ext uri="{9D8B030D-6E8A-4147-A177-3AD203B41FA5}">
                      <a16:colId xmlns:a16="http://schemas.microsoft.com/office/drawing/2014/main" val="2893314635"/>
                    </a:ext>
                  </a:extLst>
                </a:gridCol>
                <a:gridCol w="2969536">
                  <a:extLst>
                    <a:ext uri="{9D8B030D-6E8A-4147-A177-3AD203B41FA5}">
                      <a16:colId xmlns:a16="http://schemas.microsoft.com/office/drawing/2014/main" val="3735022108"/>
                    </a:ext>
                  </a:extLst>
                </a:gridCol>
                <a:gridCol w="2616452">
                  <a:extLst>
                    <a:ext uri="{9D8B030D-6E8A-4147-A177-3AD203B41FA5}">
                      <a16:colId xmlns:a16="http://schemas.microsoft.com/office/drawing/2014/main" val="4262444133"/>
                    </a:ext>
                  </a:extLst>
                </a:gridCol>
                <a:gridCol w="2480648">
                  <a:extLst>
                    <a:ext uri="{9D8B030D-6E8A-4147-A177-3AD203B41FA5}">
                      <a16:colId xmlns:a16="http://schemas.microsoft.com/office/drawing/2014/main" val="1994636819"/>
                    </a:ext>
                  </a:extLst>
                </a:gridCol>
              </a:tblGrid>
              <a:tr h="866494">
                <a:tc>
                  <a:txBody>
                    <a:bodyPr/>
                    <a:lstStyle/>
                    <a:p>
                      <a:r>
                        <a:rPr lang="en-US" u="sng" dirty="0"/>
                        <a:t>Intern Name</a:t>
                      </a:r>
                      <a:endParaRPr lang="en-IN" u="sng" dirty="0"/>
                    </a:p>
                  </a:txBody>
                  <a:tcPr/>
                </a:tc>
                <a:tc>
                  <a:txBody>
                    <a:bodyPr/>
                    <a:lstStyle/>
                    <a:p>
                      <a:r>
                        <a:rPr lang="en-US" u="sng" dirty="0"/>
                        <a:t>Assigned tasks</a:t>
                      </a:r>
                      <a:endParaRPr lang="en-IN" u="sng" dirty="0"/>
                    </a:p>
                  </a:txBody>
                  <a:tcPr/>
                </a:tc>
                <a:tc>
                  <a:txBody>
                    <a:bodyPr/>
                    <a:lstStyle/>
                    <a:p>
                      <a:r>
                        <a:rPr lang="en-US" u="sng" dirty="0"/>
                        <a:t>Work completed so far</a:t>
                      </a:r>
                      <a:endParaRPr lang="en-IN" u="sng" dirty="0"/>
                    </a:p>
                  </a:txBody>
                  <a:tcPr/>
                </a:tc>
                <a:tc>
                  <a:txBody>
                    <a:bodyPr/>
                    <a:lstStyle/>
                    <a:p>
                      <a:r>
                        <a:rPr lang="en-US" u="sng" dirty="0"/>
                        <a:t>Propose</a:t>
                      </a:r>
                      <a:r>
                        <a:rPr lang="en-US" u="sng" baseline="0" dirty="0"/>
                        <a:t> plan for repainting internship period</a:t>
                      </a:r>
                      <a:endParaRPr lang="en-IN" u="sng" dirty="0"/>
                    </a:p>
                  </a:txBody>
                  <a:tcPr/>
                </a:tc>
                <a:extLst>
                  <a:ext uri="{0D108BD9-81ED-4DB2-BD59-A6C34878D82A}">
                    <a16:rowId xmlns:a16="http://schemas.microsoft.com/office/drawing/2014/main" val="2617075680"/>
                  </a:ext>
                </a:extLst>
              </a:tr>
              <a:tr h="502016">
                <a:tc>
                  <a:txBody>
                    <a:bodyPr/>
                    <a:lstStyle/>
                    <a:p>
                      <a:r>
                        <a:rPr lang="en-US" dirty="0" err="1"/>
                        <a:t>Sh</a:t>
                      </a:r>
                      <a:r>
                        <a:rPr lang="en-US" dirty="0"/>
                        <a:t> </a:t>
                      </a:r>
                      <a:r>
                        <a:rPr lang="en-US" dirty="0" err="1"/>
                        <a:t>Shubhank</a:t>
                      </a:r>
                      <a:r>
                        <a:rPr lang="en-US" dirty="0"/>
                        <a:t> Gupta</a:t>
                      </a:r>
                      <a:endParaRPr lang="en-IN" dirty="0"/>
                    </a:p>
                  </a:txBody>
                  <a:tcPr/>
                </a:tc>
                <a:tc>
                  <a:txBody>
                    <a:bodyPr/>
                    <a:lstStyle/>
                    <a:p>
                      <a:r>
                        <a:rPr lang="en-US" dirty="0"/>
                        <a:t>Spoon</a:t>
                      </a:r>
                      <a:r>
                        <a:rPr lang="en-US" baseline="0" dirty="0"/>
                        <a:t>bill Image Preprocessing</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Spoon</a:t>
                      </a:r>
                      <a:r>
                        <a:rPr lang="en-US" baseline="0" dirty="0"/>
                        <a:t>bill Image Preprocessing</a:t>
                      </a:r>
                      <a:endParaRPr lang="en-IN" dirty="0"/>
                    </a:p>
                  </a:txBody>
                  <a:tcPr/>
                </a:tc>
                <a:tc>
                  <a:txBody>
                    <a:bodyPr/>
                    <a:lstStyle/>
                    <a:p>
                      <a:endParaRPr lang="en-IN" dirty="0"/>
                    </a:p>
                  </a:txBody>
                  <a:tcPr/>
                </a:tc>
                <a:extLst>
                  <a:ext uri="{0D108BD9-81ED-4DB2-BD59-A6C34878D82A}">
                    <a16:rowId xmlns:a16="http://schemas.microsoft.com/office/drawing/2014/main" val="2075025485"/>
                  </a:ext>
                </a:extLst>
              </a:tr>
              <a:tr h="50201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( 21</a:t>
                      </a:r>
                      <a:r>
                        <a:rPr lang="en-US" baseline="0" dirty="0"/>
                        <a:t> May 26 – 20 Aug 26)</a:t>
                      </a:r>
                      <a:endParaRPr lang="en-IN" dirty="0"/>
                    </a:p>
                    <a:p>
                      <a:endParaRPr lang="en-IN" dirty="0"/>
                    </a:p>
                  </a:txBody>
                  <a:tcPr/>
                </a:tc>
                <a:tc>
                  <a:txBody>
                    <a:bodyPr/>
                    <a:lstStyle/>
                    <a:p>
                      <a:r>
                        <a:rPr lang="en-US" dirty="0"/>
                        <a:t>Satellite imagery to </a:t>
                      </a:r>
                      <a:r>
                        <a:rPr lang="en-US" dirty="0" err="1"/>
                        <a:t>Mbtiles</a:t>
                      </a:r>
                      <a:r>
                        <a:rPr lang="en-US" baseline="0" dirty="0"/>
                        <a:t> conversion </a:t>
                      </a:r>
                      <a:endParaRPr lang="en-IN" dirty="0"/>
                    </a:p>
                  </a:txBody>
                  <a:tcPr/>
                </a:tc>
                <a:tc>
                  <a:txBody>
                    <a:bodyPr/>
                    <a:lstStyle/>
                    <a:p>
                      <a:r>
                        <a:rPr lang="en-US" dirty="0"/>
                        <a:t>Working</a:t>
                      </a:r>
                      <a:endParaRPr lang="en-IN" dirty="0"/>
                    </a:p>
                  </a:txBody>
                  <a:tcPr/>
                </a:tc>
                <a:tc>
                  <a:txBody>
                    <a:bodyPr/>
                    <a:lstStyle/>
                    <a:p>
                      <a:endParaRPr lang="en-IN" dirty="0"/>
                    </a:p>
                  </a:txBody>
                  <a:tcPr/>
                </a:tc>
                <a:extLst>
                  <a:ext uri="{0D108BD9-81ED-4DB2-BD59-A6C34878D82A}">
                    <a16:rowId xmlns:a16="http://schemas.microsoft.com/office/drawing/2014/main" val="330926912"/>
                  </a:ext>
                </a:extLst>
              </a:tr>
              <a:tr h="502016">
                <a:tc>
                  <a:txBody>
                    <a:bodyPr/>
                    <a:lstStyle/>
                    <a:p>
                      <a:endParaRPr lang="en-IN" dirty="0"/>
                    </a:p>
                  </a:txBody>
                  <a:tcPr/>
                </a:tc>
                <a:tc>
                  <a:txBody>
                    <a:bodyPr/>
                    <a:lstStyle/>
                    <a:p>
                      <a:r>
                        <a:rPr lang="en-US" dirty="0"/>
                        <a:t>GPU</a:t>
                      </a:r>
                      <a:r>
                        <a:rPr lang="en-US" baseline="0" dirty="0"/>
                        <a:t> optimized clipping of detected vessels </a:t>
                      </a:r>
                      <a:endParaRPr lang="en-IN" dirty="0"/>
                    </a:p>
                  </a:txBody>
                  <a:tcPr/>
                </a:tc>
                <a:tc>
                  <a:txBody>
                    <a:bodyPr/>
                    <a:lstStyle/>
                    <a:p>
                      <a:endParaRPr lang="en-IN" dirty="0"/>
                    </a:p>
                  </a:txBody>
                  <a:tcPr/>
                </a:tc>
                <a:tc>
                  <a:txBody>
                    <a:bodyPr/>
                    <a:lstStyle/>
                    <a:p>
                      <a:r>
                        <a:rPr lang="en-US" dirty="0"/>
                        <a:t>July</a:t>
                      </a:r>
                      <a:r>
                        <a:rPr lang="en-US" baseline="0" dirty="0"/>
                        <a:t> 2026</a:t>
                      </a:r>
                      <a:endParaRPr lang="en-IN" dirty="0"/>
                    </a:p>
                  </a:txBody>
                  <a:tcPr/>
                </a:tc>
                <a:extLst>
                  <a:ext uri="{0D108BD9-81ED-4DB2-BD59-A6C34878D82A}">
                    <a16:rowId xmlns:a16="http://schemas.microsoft.com/office/drawing/2014/main" val="2333243418"/>
                  </a:ext>
                </a:extLst>
              </a:tr>
              <a:tr h="502016">
                <a:tc>
                  <a:txBody>
                    <a:bodyPr/>
                    <a:lstStyle/>
                    <a:p>
                      <a:endParaRPr lang="en-IN" dirty="0"/>
                    </a:p>
                  </a:txBody>
                  <a:tcPr/>
                </a:tc>
                <a:tc>
                  <a:txBody>
                    <a:bodyPr/>
                    <a:lstStyle/>
                    <a:p>
                      <a:r>
                        <a:rPr lang="en-US" dirty="0"/>
                        <a:t>Combined</a:t>
                      </a:r>
                      <a:r>
                        <a:rPr lang="en-US" baseline="0" dirty="0"/>
                        <a:t> master CSV with vessel data and AIS correlation</a:t>
                      </a:r>
                      <a:endParaRPr lang="en-IN" dirty="0"/>
                    </a:p>
                  </a:txBody>
                  <a:tcPr/>
                </a:tc>
                <a:tc>
                  <a:txBody>
                    <a:bodyPr/>
                    <a:lstStyle/>
                    <a:p>
                      <a:endParaRPr lang="en-IN" dirty="0"/>
                    </a:p>
                  </a:txBody>
                  <a:tcPr/>
                </a:tc>
                <a:tc>
                  <a:txBody>
                    <a:bodyPr/>
                    <a:lstStyle/>
                    <a:p>
                      <a:r>
                        <a:rPr lang="en-US" dirty="0"/>
                        <a:t>Aug 2026</a:t>
                      </a:r>
                      <a:endParaRPr lang="en-IN" dirty="0"/>
                    </a:p>
                  </a:txBody>
                  <a:tcPr/>
                </a:tc>
                <a:extLst>
                  <a:ext uri="{0D108BD9-81ED-4DB2-BD59-A6C34878D82A}">
                    <a16:rowId xmlns:a16="http://schemas.microsoft.com/office/drawing/2014/main" val="1497379602"/>
                  </a:ext>
                </a:extLst>
              </a:tr>
            </a:tbl>
          </a:graphicData>
        </a:graphic>
      </p:graphicFrame>
    </p:spTree>
    <p:extLst>
      <p:ext uri="{BB962C8B-B14F-4D97-AF65-F5344CB8AC3E}">
        <p14:creationId xmlns:p14="http://schemas.microsoft.com/office/powerpoint/2010/main" val="1894930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Introduction and Problem Statement </a:t>
            </a:r>
            <a:endParaRPr lang="en-US" sz="2933" dirty="0"/>
          </a:p>
        </p:txBody>
      </p:sp>
      <p:sp>
        <p:nvSpPr>
          <p:cNvPr id="5" name="Shape 3"/>
          <p:cNvSpPr/>
          <p:nvPr/>
        </p:nvSpPr>
        <p:spPr>
          <a:xfrm>
            <a:off x="343708" y="3044286"/>
            <a:ext cx="11652133" cy="3591904"/>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286088" y="3044286"/>
            <a:ext cx="213409" cy="3591904"/>
          </a:xfrm>
          <a:prstGeom prst="rect">
            <a:avLst/>
          </a:prstGeom>
          <a:solidFill>
            <a:srgbClr val="2196C4"/>
          </a:solidFill>
          <a:ln w="12700">
            <a:solidFill>
              <a:srgbClr val="2196C4"/>
            </a:solidFill>
            <a:prstDash val="solid"/>
          </a:ln>
        </p:spPr>
      </p:sp>
      <p:sp>
        <p:nvSpPr>
          <p:cNvPr id="7" name="Text 5"/>
          <p:cNvSpPr/>
          <p:nvPr/>
        </p:nvSpPr>
        <p:spPr>
          <a:xfrm>
            <a:off x="670224" y="3734369"/>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01</a:t>
            </a:r>
            <a:endParaRPr lang="en-US" sz="2500" dirty="0"/>
          </a:p>
        </p:txBody>
      </p:sp>
      <p:sp>
        <p:nvSpPr>
          <p:cNvPr id="8" name="Text 6"/>
          <p:cNvSpPr/>
          <p:nvPr/>
        </p:nvSpPr>
        <p:spPr>
          <a:xfrm>
            <a:off x="1617758" y="3709549"/>
            <a:ext cx="10064369" cy="546633"/>
          </a:xfrm>
          <a:prstGeom prst="rect">
            <a:avLst/>
          </a:prstGeom>
          <a:noFill/>
        </p:spPr>
        <p:txBody>
          <a:bodyPr wrap="square" lIns="0" tIns="0" rIns="0" bIns="0" rtlCol="0" anchor="ctr"/>
          <a:lstStyle/>
          <a:p>
            <a:r>
              <a:rPr lang="en-US" sz="2800" dirty="0"/>
              <a:t>Data Collection for LLM training</a:t>
            </a:r>
            <a:endParaRPr lang="en-IN" sz="2800" dirty="0"/>
          </a:p>
        </p:txBody>
      </p:sp>
      <p:sp>
        <p:nvSpPr>
          <p:cNvPr id="12" name="Text 10"/>
          <p:cNvSpPr/>
          <p:nvPr/>
        </p:nvSpPr>
        <p:spPr>
          <a:xfrm>
            <a:off x="670224" y="4485515"/>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02</a:t>
            </a:r>
            <a:endParaRPr lang="en-US" sz="2500" dirty="0"/>
          </a:p>
        </p:txBody>
      </p:sp>
      <p:sp>
        <p:nvSpPr>
          <p:cNvPr id="13" name="Text 11"/>
          <p:cNvSpPr/>
          <p:nvPr/>
        </p:nvSpPr>
        <p:spPr>
          <a:xfrm>
            <a:off x="1617760" y="4487937"/>
            <a:ext cx="10064369" cy="546633"/>
          </a:xfrm>
          <a:prstGeom prst="rect">
            <a:avLst/>
          </a:prstGeom>
          <a:noFill/>
        </p:spPr>
        <p:txBody>
          <a:bodyPr wrap="square" lIns="0" tIns="0" rIns="0" bIns="0" rtlCol="0" anchor="ctr"/>
          <a:lstStyle/>
          <a:p>
            <a:r>
              <a:rPr lang="en-US" sz="2800" dirty="0"/>
              <a:t>Data Preprocessing and feature engineering</a:t>
            </a:r>
            <a:endParaRPr lang="en-IN" sz="2800" dirty="0"/>
          </a:p>
        </p:txBody>
      </p:sp>
      <p:sp>
        <p:nvSpPr>
          <p:cNvPr id="17" name="Text 15"/>
          <p:cNvSpPr/>
          <p:nvPr/>
        </p:nvSpPr>
        <p:spPr>
          <a:xfrm>
            <a:off x="670224" y="5332199"/>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1643369" y="5252749"/>
            <a:ext cx="10064369" cy="546633"/>
          </a:xfrm>
          <a:prstGeom prst="rect">
            <a:avLst/>
          </a:prstGeom>
          <a:noFill/>
        </p:spPr>
        <p:txBody>
          <a:bodyPr wrap="square" lIns="0" tIns="0" rIns="0" bIns="0" rtlCol="0" anchor="ctr"/>
          <a:lstStyle/>
          <a:p>
            <a:r>
              <a:rPr lang="en-IN" sz="2800" dirty="0"/>
              <a:t>Sentiment and Temporal analysis pipeline</a:t>
            </a:r>
          </a:p>
        </p:txBody>
      </p:sp>
      <p:sp>
        <p:nvSpPr>
          <p:cNvPr id="26" name="TextBox 25"/>
          <p:cNvSpPr txBox="1"/>
          <p:nvPr/>
        </p:nvSpPr>
        <p:spPr>
          <a:xfrm>
            <a:off x="286088" y="1050202"/>
            <a:ext cx="11709753" cy="1754326"/>
          </a:xfrm>
          <a:prstGeom prst="rect">
            <a:avLst/>
          </a:prstGeom>
          <a:noFill/>
        </p:spPr>
        <p:txBody>
          <a:bodyPr wrap="square" rtlCol="0">
            <a:spAutoFit/>
          </a:bodyPr>
          <a:lstStyle/>
          <a:p>
            <a:r>
              <a:rPr lang="en-US" sz="2400" dirty="0"/>
              <a:t>Name : </a:t>
            </a:r>
            <a:r>
              <a:rPr lang="en-US" sz="2400" dirty="0" err="1"/>
              <a:t>Sarthak</a:t>
            </a:r>
            <a:r>
              <a:rPr lang="en-US" sz="2400" dirty="0"/>
              <a:t> </a:t>
            </a:r>
            <a:r>
              <a:rPr lang="en-US" sz="2400" dirty="0" err="1"/>
              <a:t>Verma</a:t>
            </a:r>
            <a:endParaRPr lang="en-US" sz="2400" dirty="0"/>
          </a:p>
          <a:p>
            <a:r>
              <a:rPr lang="en-US" sz="2400" dirty="0"/>
              <a:t>College &amp; Branch : Delhi Technological University, </a:t>
            </a:r>
            <a:r>
              <a:rPr lang="en-US" sz="2400" dirty="0" err="1"/>
              <a:t>B.Tech</a:t>
            </a:r>
            <a:r>
              <a:rPr lang="en-US" sz="2400" dirty="0"/>
              <a:t>-SE</a:t>
            </a:r>
            <a:endParaRPr lang="en-US" sz="2400" baseline="0" dirty="0"/>
          </a:p>
          <a:p>
            <a:r>
              <a:rPr lang="en-US" sz="2400" dirty="0"/>
              <a:t>Duration : 3 Months (Starting from 21 May 2026)</a:t>
            </a:r>
            <a:endParaRPr lang="en-US" sz="2400" baseline="0" dirty="0"/>
          </a:p>
          <a:p>
            <a:endParaRPr lang="en-IN" dirty="0"/>
          </a:p>
          <a:p>
            <a:endParaRPr lang="en-IN" dirty="0"/>
          </a:p>
        </p:txBody>
      </p:sp>
      <p:sp>
        <p:nvSpPr>
          <p:cNvPr id="14" name="Text 16"/>
          <p:cNvSpPr/>
          <p:nvPr/>
        </p:nvSpPr>
        <p:spPr>
          <a:xfrm>
            <a:off x="1617759" y="5903144"/>
            <a:ext cx="10064369" cy="546633"/>
          </a:xfrm>
          <a:prstGeom prst="rect">
            <a:avLst/>
          </a:prstGeom>
          <a:noFill/>
        </p:spPr>
        <p:txBody>
          <a:bodyPr wrap="square" lIns="0" tIns="0" rIns="0" bIns="0" rtlCol="0" anchor="ctr"/>
          <a:lstStyle/>
          <a:p>
            <a:r>
              <a:rPr lang="en-US" sz="2800" dirty="0"/>
              <a:t>Testing and Evaluation of LLM</a:t>
            </a:r>
            <a:endParaRPr lang="en-IN" sz="2800" dirty="0"/>
          </a:p>
        </p:txBody>
      </p:sp>
      <p:sp>
        <p:nvSpPr>
          <p:cNvPr id="15" name="Text 15"/>
          <p:cNvSpPr/>
          <p:nvPr/>
        </p:nvSpPr>
        <p:spPr>
          <a:xfrm>
            <a:off x="670224" y="5951782"/>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04</a:t>
            </a:r>
          </a:p>
        </p:txBody>
      </p:sp>
    </p:spTree>
    <p:extLst>
      <p:ext uri="{BB962C8B-B14F-4D97-AF65-F5344CB8AC3E}">
        <p14:creationId xmlns:p14="http://schemas.microsoft.com/office/powerpoint/2010/main" val="4057267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Working on the following :-</a:t>
            </a:r>
            <a:endParaRPr lang="en-US" sz="2933" dirty="0"/>
          </a:p>
        </p:txBody>
      </p:sp>
      <p:sp>
        <p:nvSpPr>
          <p:cNvPr id="5" name="Shape 3"/>
          <p:cNvSpPr/>
          <p:nvPr/>
        </p:nvSpPr>
        <p:spPr>
          <a:xfrm>
            <a:off x="323988" y="1615274"/>
            <a:ext cx="5547360" cy="198628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323988" y="1615274"/>
            <a:ext cx="101600" cy="1986280"/>
          </a:xfrm>
          <a:prstGeom prst="rect">
            <a:avLst/>
          </a:prstGeom>
          <a:solidFill>
            <a:srgbClr val="2196C4"/>
          </a:solidFill>
          <a:ln w="12700">
            <a:solidFill>
              <a:srgbClr val="2196C4"/>
            </a:solidFill>
            <a:prstDash val="solid"/>
          </a:ln>
        </p:spPr>
      </p:sp>
      <p:sp>
        <p:nvSpPr>
          <p:cNvPr id="7" name="Text 5"/>
          <p:cNvSpPr/>
          <p:nvPr/>
        </p:nvSpPr>
        <p:spPr>
          <a:xfrm>
            <a:off x="506868" y="1724833"/>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957972" y="1724833"/>
            <a:ext cx="4791456" cy="365760"/>
          </a:xfrm>
          <a:prstGeom prst="rect">
            <a:avLst/>
          </a:prstGeom>
          <a:noFill/>
        </p:spPr>
        <p:txBody>
          <a:bodyPr wrap="square" lIns="0" tIns="0" rIns="0" bIns="0" rtlCol="0" anchor="ctr"/>
          <a:lstStyle/>
          <a:p>
            <a:r>
              <a:rPr lang="en-US" sz="2000" b="1" dirty="0"/>
              <a:t>Data Collection for LLM training</a:t>
            </a:r>
            <a:endParaRPr lang="en-IN" sz="2000" b="1" dirty="0"/>
          </a:p>
        </p:txBody>
      </p:sp>
      <p:sp>
        <p:nvSpPr>
          <p:cNvPr id="9" name="Text 7"/>
          <p:cNvSpPr/>
          <p:nvPr/>
        </p:nvSpPr>
        <p:spPr>
          <a:xfrm>
            <a:off x="738516" y="2392462"/>
            <a:ext cx="4541520" cy="706967"/>
          </a:xfrm>
          <a:prstGeom prst="rect">
            <a:avLst/>
          </a:prstGeom>
          <a:noFill/>
        </p:spPr>
        <p:txBody>
          <a:bodyPr wrap="square" lIns="0" tIns="0" rIns="0" bIns="0" rtlCol="0" anchor="ctr"/>
          <a:lstStyle/>
          <a:p>
            <a:pPr algn="just"/>
            <a:r>
              <a:rPr lang="en-US" sz="2000" dirty="0"/>
              <a:t>Responsibilities include analyzing internal office documents/files, creating train-validation-test datasets.</a:t>
            </a:r>
          </a:p>
        </p:txBody>
      </p:sp>
      <p:sp>
        <p:nvSpPr>
          <p:cNvPr id="10" name="Shape 8"/>
          <p:cNvSpPr/>
          <p:nvPr/>
        </p:nvSpPr>
        <p:spPr>
          <a:xfrm>
            <a:off x="6176995" y="1615274"/>
            <a:ext cx="5547360" cy="198628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1" name="Shape 9"/>
          <p:cNvSpPr/>
          <p:nvPr/>
        </p:nvSpPr>
        <p:spPr>
          <a:xfrm flipH="1">
            <a:off x="6176148" y="1615274"/>
            <a:ext cx="101600" cy="1986280"/>
          </a:xfrm>
          <a:prstGeom prst="rect">
            <a:avLst/>
          </a:prstGeom>
          <a:solidFill>
            <a:srgbClr val="2196C4"/>
          </a:solidFill>
          <a:ln w="12700">
            <a:solidFill>
              <a:srgbClr val="2196C4"/>
            </a:solidFill>
            <a:prstDash val="solid"/>
          </a:ln>
        </p:spPr>
      </p:sp>
      <p:sp>
        <p:nvSpPr>
          <p:cNvPr id="12" name="Text 10"/>
          <p:cNvSpPr/>
          <p:nvPr/>
        </p:nvSpPr>
        <p:spPr>
          <a:xfrm>
            <a:off x="6360044" y="1724833"/>
            <a:ext cx="463296" cy="414528"/>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6811148" y="1724833"/>
            <a:ext cx="4791456" cy="414528"/>
          </a:xfrm>
          <a:prstGeom prst="rect">
            <a:avLst/>
          </a:prstGeom>
          <a:noFill/>
        </p:spPr>
        <p:txBody>
          <a:bodyPr wrap="square" lIns="0" tIns="0" rIns="0" bIns="0" rtlCol="0" anchor="ctr"/>
          <a:lstStyle/>
          <a:p>
            <a:r>
              <a:rPr lang="en-US" sz="1600" b="1" dirty="0"/>
              <a:t>Data Preprocessing and feature engineering</a:t>
            </a:r>
            <a:endParaRPr lang="en-IN" sz="1600" b="1" dirty="0"/>
          </a:p>
        </p:txBody>
      </p:sp>
      <p:sp>
        <p:nvSpPr>
          <p:cNvPr id="14" name="Text 12"/>
          <p:cNvSpPr/>
          <p:nvPr/>
        </p:nvSpPr>
        <p:spPr>
          <a:xfrm>
            <a:off x="6360044" y="2265175"/>
            <a:ext cx="5242560" cy="801421"/>
          </a:xfrm>
          <a:prstGeom prst="rect">
            <a:avLst/>
          </a:prstGeom>
          <a:noFill/>
        </p:spPr>
        <p:txBody>
          <a:bodyPr wrap="square" lIns="0" tIns="0" rIns="0" bIns="0" rtlCol="0" anchor="ctr"/>
          <a:lstStyle/>
          <a:p>
            <a:pPr algn="just"/>
            <a:r>
              <a:rPr lang="en-US" sz="2000" dirty="0"/>
              <a:t>Data Cleaning, Batch-wise accuracy evaluation, WER preprocessing analysis</a:t>
            </a:r>
            <a:endParaRPr lang="en-US" sz="1867" dirty="0"/>
          </a:p>
        </p:txBody>
      </p:sp>
      <p:sp>
        <p:nvSpPr>
          <p:cNvPr id="15" name="Shape 13"/>
          <p:cNvSpPr/>
          <p:nvPr/>
        </p:nvSpPr>
        <p:spPr>
          <a:xfrm>
            <a:off x="2668559" y="4205938"/>
            <a:ext cx="5547360" cy="193548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6" name="Shape 14"/>
          <p:cNvSpPr/>
          <p:nvPr/>
        </p:nvSpPr>
        <p:spPr>
          <a:xfrm>
            <a:off x="2668559" y="4205938"/>
            <a:ext cx="101600" cy="1935480"/>
          </a:xfrm>
          <a:prstGeom prst="rect">
            <a:avLst/>
          </a:prstGeom>
          <a:solidFill>
            <a:srgbClr val="2196C4"/>
          </a:solidFill>
          <a:ln w="12700">
            <a:solidFill>
              <a:srgbClr val="2196C4"/>
            </a:solidFill>
            <a:prstDash val="solid"/>
          </a:ln>
        </p:spPr>
      </p:sp>
      <p:sp>
        <p:nvSpPr>
          <p:cNvPr id="17" name="Text 15"/>
          <p:cNvSpPr/>
          <p:nvPr/>
        </p:nvSpPr>
        <p:spPr>
          <a:xfrm>
            <a:off x="2851439" y="4315666"/>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3314396" y="4315666"/>
            <a:ext cx="4791456" cy="365760"/>
          </a:xfrm>
          <a:prstGeom prst="rect">
            <a:avLst/>
          </a:prstGeom>
          <a:noFill/>
        </p:spPr>
        <p:txBody>
          <a:bodyPr wrap="square" lIns="0" tIns="0" rIns="0" bIns="0" rtlCol="0" anchor="ctr"/>
          <a:lstStyle/>
          <a:p>
            <a:r>
              <a:rPr lang="en-IN" b="1" dirty="0"/>
              <a:t>Sentiment and Temporal analysis pipeline</a:t>
            </a:r>
          </a:p>
        </p:txBody>
      </p:sp>
      <p:sp>
        <p:nvSpPr>
          <p:cNvPr id="19" name="Text 17"/>
          <p:cNvSpPr/>
          <p:nvPr/>
        </p:nvSpPr>
        <p:spPr>
          <a:xfrm>
            <a:off x="3074959" y="4988259"/>
            <a:ext cx="4226560" cy="706967"/>
          </a:xfrm>
          <a:prstGeom prst="rect">
            <a:avLst/>
          </a:prstGeom>
          <a:noFill/>
        </p:spPr>
        <p:txBody>
          <a:bodyPr wrap="square" lIns="0" tIns="0" rIns="0" bIns="0" rtlCol="0" anchor="ctr"/>
          <a:lstStyle/>
          <a:p>
            <a:pPr algn="just"/>
            <a:r>
              <a:rPr lang="en-US" sz="1867" dirty="0">
                <a:latin typeface="Calibri" pitchFamily="34" charset="0"/>
                <a:ea typeface="Calibri" pitchFamily="34" charset="-122"/>
                <a:cs typeface="Calibri" pitchFamily="34" charset="-120"/>
              </a:rPr>
              <a:t>Studying</a:t>
            </a:r>
            <a:r>
              <a:rPr lang="en-US" sz="1867" dirty="0">
                <a:solidFill>
                  <a:srgbClr val="4A4A4A"/>
                </a:solidFill>
                <a:latin typeface="Calibri" pitchFamily="34" charset="0"/>
                <a:ea typeface="Calibri" pitchFamily="34" charset="-122"/>
                <a:cs typeface="Calibri" pitchFamily="34" charset="-120"/>
              </a:rPr>
              <a:t> </a:t>
            </a:r>
            <a:r>
              <a:rPr lang="en-US" sz="2000" dirty="0"/>
              <a:t>Sentiment and Temporal analysis in context of the dataset.</a:t>
            </a:r>
            <a:endParaRPr lang="en-US" sz="1867" dirty="0"/>
          </a:p>
        </p:txBody>
      </p:sp>
    </p:spTree>
    <p:extLst>
      <p:ext uri="{BB962C8B-B14F-4D97-AF65-F5344CB8AC3E}">
        <p14:creationId xmlns:p14="http://schemas.microsoft.com/office/powerpoint/2010/main" val="237635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Introduction and Problem Statement </a:t>
            </a:r>
            <a:endParaRPr lang="en-US" sz="2933" dirty="0"/>
          </a:p>
        </p:txBody>
      </p:sp>
      <p:sp>
        <p:nvSpPr>
          <p:cNvPr id="5" name="Shape 3"/>
          <p:cNvSpPr/>
          <p:nvPr/>
        </p:nvSpPr>
        <p:spPr>
          <a:xfrm>
            <a:off x="343708" y="3410752"/>
            <a:ext cx="11652133" cy="1935685"/>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txBody>
          <a:bodyPr/>
          <a:lstStyle/>
          <a:p>
            <a:endParaRPr lang="en-IN" dirty="0"/>
          </a:p>
        </p:txBody>
      </p:sp>
      <p:sp>
        <p:nvSpPr>
          <p:cNvPr id="6" name="Shape 4"/>
          <p:cNvSpPr/>
          <p:nvPr/>
        </p:nvSpPr>
        <p:spPr>
          <a:xfrm>
            <a:off x="286088" y="3447247"/>
            <a:ext cx="142537" cy="1899190"/>
          </a:xfrm>
          <a:prstGeom prst="rect">
            <a:avLst/>
          </a:prstGeom>
          <a:solidFill>
            <a:srgbClr val="2196C4"/>
          </a:solidFill>
          <a:ln w="12700">
            <a:solidFill>
              <a:srgbClr val="2196C4"/>
            </a:solidFill>
            <a:prstDash val="solid"/>
          </a:ln>
        </p:spPr>
      </p:sp>
      <p:sp>
        <p:nvSpPr>
          <p:cNvPr id="7" name="Text 5"/>
          <p:cNvSpPr/>
          <p:nvPr/>
        </p:nvSpPr>
        <p:spPr>
          <a:xfrm>
            <a:off x="670224" y="3734369"/>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01</a:t>
            </a:r>
            <a:endParaRPr lang="en-US" sz="2500" dirty="0"/>
          </a:p>
        </p:txBody>
      </p:sp>
      <p:sp>
        <p:nvSpPr>
          <p:cNvPr id="8" name="Text 6"/>
          <p:cNvSpPr/>
          <p:nvPr/>
        </p:nvSpPr>
        <p:spPr>
          <a:xfrm>
            <a:off x="1398302" y="3727837"/>
            <a:ext cx="10064369" cy="546633"/>
          </a:xfrm>
          <a:prstGeom prst="rect">
            <a:avLst/>
          </a:prstGeom>
          <a:noFill/>
        </p:spPr>
        <p:txBody>
          <a:bodyPr wrap="square" lIns="0" tIns="0" rIns="0" bIns="0" rtlCol="0" anchor="ctr"/>
          <a:lstStyle/>
          <a:p>
            <a:r>
              <a:rPr lang="en-US" sz="2800" dirty="0"/>
              <a:t>Dhruv Operation Management (DOM) Bugs and Issue Fix</a:t>
            </a:r>
          </a:p>
        </p:txBody>
      </p:sp>
      <p:sp>
        <p:nvSpPr>
          <p:cNvPr id="12" name="Text 10"/>
          <p:cNvSpPr/>
          <p:nvPr/>
        </p:nvSpPr>
        <p:spPr>
          <a:xfrm>
            <a:off x="670224" y="4485515"/>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02</a:t>
            </a:r>
            <a:endParaRPr lang="en-US" sz="2500" dirty="0"/>
          </a:p>
        </p:txBody>
      </p:sp>
      <p:sp>
        <p:nvSpPr>
          <p:cNvPr id="26" name="TextBox 25"/>
          <p:cNvSpPr txBox="1"/>
          <p:nvPr/>
        </p:nvSpPr>
        <p:spPr>
          <a:xfrm>
            <a:off x="286088" y="1050202"/>
            <a:ext cx="11709753" cy="1754326"/>
          </a:xfrm>
          <a:prstGeom prst="rect">
            <a:avLst/>
          </a:prstGeom>
          <a:noFill/>
        </p:spPr>
        <p:txBody>
          <a:bodyPr wrap="square" rtlCol="0">
            <a:spAutoFit/>
          </a:bodyPr>
          <a:lstStyle/>
          <a:p>
            <a:r>
              <a:rPr lang="en-US" sz="2400" dirty="0"/>
              <a:t>Name : Rajat Gupta</a:t>
            </a:r>
          </a:p>
          <a:p>
            <a:r>
              <a:rPr lang="en-US" sz="2400" dirty="0"/>
              <a:t>College &amp; Branch : Raj Kumar Goel Institute of Technology Ghaziabad, </a:t>
            </a:r>
            <a:r>
              <a:rPr lang="en-US" sz="2400" dirty="0" err="1"/>
              <a:t>B.Tech</a:t>
            </a:r>
            <a:r>
              <a:rPr lang="en-US" sz="2400" dirty="0"/>
              <a:t>-CSE</a:t>
            </a:r>
            <a:endParaRPr lang="en-US" sz="2400" baseline="0" dirty="0"/>
          </a:p>
          <a:p>
            <a:r>
              <a:rPr lang="en-US" sz="2400" dirty="0"/>
              <a:t>Duration : 6 Months (Starting from 25 May 2026)</a:t>
            </a:r>
            <a:endParaRPr lang="en-US" sz="2400" baseline="0" dirty="0"/>
          </a:p>
          <a:p>
            <a:endParaRPr lang="en-IN" dirty="0"/>
          </a:p>
          <a:p>
            <a:endParaRPr lang="en-IN" dirty="0"/>
          </a:p>
        </p:txBody>
      </p:sp>
      <p:sp>
        <p:nvSpPr>
          <p:cNvPr id="16" name="Text 6">
            <a:extLst>
              <a:ext uri="{FF2B5EF4-FFF2-40B4-BE49-F238E27FC236}">
                <a16:creationId xmlns:a16="http://schemas.microsoft.com/office/drawing/2014/main" id="{56E9DE98-BB5E-4FEB-94A2-04912FC03CE5}"/>
              </a:ext>
            </a:extLst>
          </p:cNvPr>
          <p:cNvSpPr/>
          <p:nvPr/>
        </p:nvSpPr>
        <p:spPr>
          <a:xfrm>
            <a:off x="1423913" y="4627829"/>
            <a:ext cx="10064369" cy="546633"/>
          </a:xfrm>
          <a:prstGeom prst="rect">
            <a:avLst/>
          </a:prstGeom>
          <a:noFill/>
        </p:spPr>
        <p:txBody>
          <a:bodyPr wrap="square" lIns="0" tIns="0" rIns="0" bIns="0" rtlCol="0" anchor="ctr"/>
          <a:lstStyle/>
          <a:p>
            <a:r>
              <a:rPr lang="en-US" sz="2800" dirty="0"/>
              <a:t>Migration and Deployment of the Sea web Version 1.2 from Production to </a:t>
            </a:r>
            <a:r>
              <a:rPr lang="en-US" sz="2800" dirty="0" err="1"/>
              <a:t>Megh</a:t>
            </a:r>
            <a:r>
              <a:rPr lang="en-US" sz="2800" dirty="0"/>
              <a:t> (NTRO Cloud)</a:t>
            </a:r>
            <a:endParaRPr lang="en-IN" sz="2800" dirty="0"/>
          </a:p>
        </p:txBody>
      </p:sp>
    </p:spTree>
    <p:extLst>
      <p:ext uri="{BB962C8B-B14F-4D97-AF65-F5344CB8AC3E}">
        <p14:creationId xmlns:p14="http://schemas.microsoft.com/office/powerpoint/2010/main" val="3827710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Working on the following :-</a:t>
            </a:r>
            <a:endParaRPr lang="en-US" sz="2933" dirty="0"/>
          </a:p>
        </p:txBody>
      </p:sp>
      <p:sp>
        <p:nvSpPr>
          <p:cNvPr id="5" name="Shape 3"/>
          <p:cNvSpPr/>
          <p:nvPr/>
        </p:nvSpPr>
        <p:spPr>
          <a:xfrm>
            <a:off x="982356" y="1615274"/>
            <a:ext cx="6497436" cy="301159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982355" y="1615274"/>
            <a:ext cx="119001" cy="3011590"/>
          </a:xfrm>
          <a:prstGeom prst="rect">
            <a:avLst/>
          </a:prstGeom>
          <a:solidFill>
            <a:srgbClr val="2196C4"/>
          </a:solidFill>
          <a:ln w="12700">
            <a:solidFill>
              <a:srgbClr val="2196C4"/>
            </a:solidFill>
            <a:prstDash val="solid"/>
          </a:ln>
        </p:spPr>
      </p:sp>
      <p:sp>
        <p:nvSpPr>
          <p:cNvPr id="7" name="Text 5"/>
          <p:cNvSpPr/>
          <p:nvPr/>
        </p:nvSpPr>
        <p:spPr>
          <a:xfrm>
            <a:off x="1165235" y="1724832"/>
            <a:ext cx="542643" cy="554563"/>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616339" y="1724832"/>
            <a:ext cx="5612071" cy="554563"/>
          </a:xfrm>
          <a:prstGeom prst="rect">
            <a:avLst/>
          </a:prstGeom>
          <a:noFill/>
        </p:spPr>
        <p:txBody>
          <a:bodyPr wrap="square" lIns="0" tIns="0" rIns="0" bIns="0" rtlCol="0" anchor="ctr"/>
          <a:lstStyle/>
          <a:p>
            <a:r>
              <a:rPr lang="en-US" sz="2000" b="1" dirty="0"/>
              <a:t>Dhruv Operation Management (DOM)</a:t>
            </a:r>
            <a:endParaRPr lang="en-IN" sz="2000" b="1" dirty="0"/>
          </a:p>
        </p:txBody>
      </p:sp>
      <p:sp>
        <p:nvSpPr>
          <p:cNvPr id="9" name="Text 7"/>
          <p:cNvSpPr/>
          <p:nvPr/>
        </p:nvSpPr>
        <p:spPr>
          <a:xfrm>
            <a:off x="1396884" y="2392461"/>
            <a:ext cx="5319330" cy="1071901"/>
          </a:xfrm>
          <a:prstGeom prst="rect">
            <a:avLst/>
          </a:prstGeom>
          <a:noFill/>
        </p:spPr>
        <p:txBody>
          <a:bodyPr wrap="square" lIns="0" tIns="0" rIns="0" bIns="0" rtlCol="0" anchor="ctr"/>
          <a:lstStyle/>
          <a:p>
            <a:pPr algn="just"/>
            <a:r>
              <a:rPr lang="en-US" sz="2000" dirty="0"/>
              <a:t>Responsibilities include finding bugs and issues in timeline page and fixing them </a:t>
            </a:r>
          </a:p>
        </p:txBody>
      </p:sp>
    </p:spTree>
    <p:extLst>
      <p:ext uri="{BB962C8B-B14F-4D97-AF65-F5344CB8AC3E}">
        <p14:creationId xmlns:p14="http://schemas.microsoft.com/office/powerpoint/2010/main" val="4064132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Introduction and Problem Statement </a:t>
            </a:r>
            <a:endParaRPr lang="en-US" sz="2933" dirty="0"/>
          </a:p>
        </p:txBody>
      </p:sp>
      <p:sp>
        <p:nvSpPr>
          <p:cNvPr id="5" name="Shape 3"/>
          <p:cNvSpPr/>
          <p:nvPr/>
        </p:nvSpPr>
        <p:spPr>
          <a:xfrm>
            <a:off x="343708" y="3044286"/>
            <a:ext cx="11652133" cy="3591904"/>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286088" y="3044286"/>
            <a:ext cx="213409" cy="3591904"/>
          </a:xfrm>
          <a:prstGeom prst="rect">
            <a:avLst/>
          </a:prstGeom>
          <a:solidFill>
            <a:srgbClr val="2196C4"/>
          </a:solidFill>
          <a:ln w="12700">
            <a:solidFill>
              <a:srgbClr val="2196C4"/>
            </a:solidFill>
            <a:prstDash val="solid"/>
          </a:ln>
        </p:spPr>
      </p:sp>
      <p:sp>
        <p:nvSpPr>
          <p:cNvPr id="7" name="Text 5"/>
          <p:cNvSpPr/>
          <p:nvPr/>
        </p:nvSpPr>
        <p:spPr>
          <a:xfrm>
            <a:off x="670224" y="3734369"/>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01</a:t>
            </a:r>
            <a:endParaRPr lang="en-US" sz="2500" dirty="0"/>
          </a:p>
        </p:txBody>
      </p:sp>
      <p:sp>
        <p:nvSpPr>
          <p:cNvPr id="8" name="Text 6"/>
          <p:cNvSpPr/>
          <p:nvPr/>
        </p:nvSpPr>
        <p:spPr>
          <a:xfrm>
            <a:off x="1617758" y="3709549"/>
            <a:ext cx="10064369" cy="546633"/>
          </a:xfrm>
          <a:prstGeom prst="rect">
            <a:avLst/>
          </a:prstGeom>
          <a:noFill/>
        </p:spPr>
        <p:txBody>
          <a:bodyPr wrap="square" lIns="0" tIns="0" rIns="0" bIns="0" rtlCol="0" anchor="ctr"/>
          <a:lstStyle/>
          <a:p>
            <a:r>
              <a:rPr lang="en-US" sz="700" dirty="0" smtClean="0"/>
              <a:t>Automation of management of Project </a:t>
            </a:r>
            <a:r>
              <a:rPr lang="en-US" sz="700" dirty="0"/>
              <a:t>C</a:t>
            </a:r>
            <a:r>
              <a:rPr lang="en-US" sz="700" dirty="0" smtClean="0"/>
              <a:t>ompute </a:t>
            </a:r>
            <a:r>
              <a:rPr lang="en-US" sz="700" dirty="0" smtClean="0"/>
              <a:t>R</a:t>
            </a:r>
            <a:r>
              <a:rPr lang="en-US" sz="700" dirty="0" smtClean="0"/>
              <a:t>esources</a:t>
            </a:r>
          </a:p>
          <a:p>
            <a:r>
              <a:rPr lang="en-US" sz="700" dirty="0" err="1"/>
              <a:t>i</a:t>
            </a:r>
            <a:r>
              <a:rPr lang="en-US" sz="700" dirty="0"/>
              <a:t> will be working on this type of data :IT asset inventory and infrastructure registry and these data comes from different vendors and in different formats and even sometimes unstructured tabular data. I am aiming to unify the data for all the projects in maritime and data center in database (m using </a:t>
            </a:r>
            <a:r>
              <a:rPr lang="en-US" sz="700" dirty="0" err="1"/>
              <a:t>Postgresql</a:t>
            </a:r>
            <a:r>
              <a:rPr lang="en-US" sz="700" dirty="0"/>
              <a:t> ) and converting to structured format and take another data of vendor's repository (can also be from IT solution dataset from sites of DELL/HP/TYRONE </a:t>
            </a:r>
            <a:r>
              <a:rPr lang="en-US" sz="700" dirty="0" err="1"/>
              <a:t>etc</a:t>
            </a:r>
            <a:r>
              <a:rPr lang="en-US" sz="700" dirty="0"/>
              <a:t> ) + the IT Inventory data for compute specifications and generate 2 modules or functionalities one for analytics like report generation in the format input by the user and CRUD Operations and </a:t>
            </a:r>
            <a:r>
              <a:rPr lang="en-US" sz="700" dirty="0" err="1"/>
              <a:t>visualisation</a:t>
            </a:r>
            <a:r>
              <a:rPr lang="en-US" sz="700" dirty="0"/>
              <a:t> enabling the user to interact through natural language queries. </a:t>
            </a:r>
            <a:endParaRPr lang="en-US" sz="700" dirty="0" smtClean="0"/>
          </a:p>
          <a:p>
            <a:endParaRPr lang="en-US" sz="700" dirty="0"/>
          </a:p>
          <a:p>
            <a:r>
              <a:rPr lang="en-US" sz="700" dirty="0" err="1"/>
              <a:t>i</a:t>
            </a:r>
            <a:r>
              <a:rPr lang="en-US" sz="700" dirty="0"/>
              <a:t> will be working on this type of data :IT asset inventory and infrastructure registry and these data comes from different vendors and in different formats and even sometimes unstructured tabular data. I am aiming to unify the data for all the projects in maritime and data center in database (m using </a:t>
            </a:r>
            <a:r>
              <a:rPr lang="en-US" sz="700" dirty="0" err="1"/>
              <a:t>Postgresql</a:t>
            </a:r>
            <a:r>
              <a:rPr lang="en-US" sz="700" dirty="0"/>
              <a:t> ) and converting to structured format and take another data of vendor's repository (can also be from IT solution dataset from sites of DELL/HP/TYRONE </a:t>
            </a:r>
            <a:r>
              <a:rPr lang="en-US" sz="700" dirty="0" err="1"/>
              <a:t>etc</a:t>
            </a:r>
            <a:r>
              <a:rPr lang="en-US" sz="700" dirty="0"/>
              <a:t> ) + the IT Inventory data for compute specifications and generate 2 modules or functionalities one for analytics like report generation in the format input by the user and CRUD Operations and </a:t>
            </a:r>
            <a:r>
              <a:rPr lang="en-US" sz="700" dirty="0" err="1"/>
              <a:t>visualisation</a:t>
            </a:r>
            <a:r>
              <a:rPr lang="en-US" sz="700" dirty="0"/>
              <a:t> enabling the user to interact through natural language queries. second module constitutes query based </a:t>
            </a:r>
            <a:r>
              <a:rPr lang="en-US" sz="700" dirty="0" err="1"/>
              <a:t>llm</a:t>
            </a:r>
            <a:r>
              <a:rPr lang="en-US" sz="700" dirty="0"/>
              <a:t> and interface for optimal resources required for any project and even the existing ones by asking progressively the questions to refine the problem statement and streamline to the exact details of the estimation of optimal compute resources and algorithms and </a:t>
            </a:r>
            <a:r>
              <a:rPr lang="en-US" sz="700" dirty="0" err="1"/>
              <a:t>infracstructure</a:t>
            </a:r>
            <a:r>
              <a:rPr lang="en-US" sz="700" dirty="0"/>
              <a:t> to use. </a:t>
            </a:r>
            <a:endParaRPr lang="en-US" sz="700" dirty="0" smtClean="0"/>
          </a:p>
          <a:p>
            <a:r>
              <a:rPr lang="en-US" sz="700" dirty="0" err="1"/>
              <a:t>i</a:t>
            </a:r>
            <a:r>
              <a:rPr lang="en-US" sz="700" dirty="0"/>
              <a:t> have a presentation with the senior most official in maritime so keep the terms technical and professional .</a:t>
            </a:r>
          </a:p>
          <a:p>
            <a:r>
              <a:rPr lang="en-US" sz="700" dirty="0"/>
              <a:t>suggest me content for presentation and even visuals(confidential </a:t>
            </a:r>
            <a:r>
              <a:rPr lang="en-US" sz="700" dirty="0" err="1"/>
              <a:t>organisation</a:t>
            </a:r>
            <a:r>
              <a:rPr lang="en-US" sz="700" dirty="0"/>
              <a:t> it is) this is 3 months intern started on 21 may till 21 august .</a:t>
            </a:r>
          </a:p>
          <a:p>
            <a:r>
              <a:rPr lang="en-US" sz="700" dirty="0"/>
              <a:t>dates or </a:t>
            </a:r>
            <a:r>
              <a:rPr lang="en-US" sz="700" dirty="0" err="1"/>
              <a:t>gantt</a:t>
            </a:r>
            <a:r>
              <a:rPr lang="en-US" sz="700" dirty="0"/>
              <a:t> chart can be </a:t>
            </a:r>
            <a:r>
              <a:rPr lang="en-US" sz="700" dirty="0" err="1"/>
              <a:t>iincorporated</a:t>
            </a:r>
            <a:r>
              <a:rPr lang="en-US" sz="700" dirty="0"/>
              <a:t> and specific details (not generic and vague) and use case and relevance to </a:t>
            </a:r>
            <a:r>
              <a:rPr lang="en-US" sz="700" dirty="0" err="1"/>
              <a:t>ntro</a:t>
            </a:r>
            <a:r>
              <a:rPr lang="en-US" sz="700" dirty="0"/>
              <a:t> maritime .dates should be incorporated in proposed plan and quantify the impact and achievements</a:t>
            </a:r>
            <a:r>
              <a:rPr lang="en-US" sz="700" dirty="0" smtClean="0"/>
              <a:t>.</a:t>
            </a:r>
          </a:p>
          <a:p>
            <a:r>
              <a:rPr lang="en-US" sz="700" dirty="0" err="1"/>
              <a:t>i</a:t>
            </a:r>
            <a:r>
              <a:rPr lang="en-US" sz="700" dirty="0"/>
              <a:t> will be working on this type of data :IT asset inventory and infrastructure registry and these data comes from different vendors and in different formats and even sometimes unstructured tabular data. I am aiming to unify the data for all the projects in maritime and data center in database (m using </a:t>
            </a:r>
            <a:r>
              <a:rPr lang="en-US" sz="700" dirty="0" err="1"/>
              <a:t>Postgresql</a:t>
            </a:r>
            <a:r>
              <a:rPr lang="en-US" sz="700" dirty="0"/>
              <a:t> ) and converting to structured format and take another data of vendor's repository (can also be from IT solution dataset from sites of DELL/HP/TYRONE </a:t>
            </a:r>
            <a:r>
              <a:rPr lang="en-US" sz="700" dirty="0" err="1"/>
              <a:t>etc</a:t>
            </a:r>
            <a:r>
              <a:rPr lang="en-US" sz="700" dirty="0"/>
              <a:t> ) + the IT Inventory data for compute specifications and generate 2 modules or functionalities one for analytics like report generation in the format input by the user and CRUD Operations and </a:t>
            </a:r>
            <a:r>
              <a:rPr lang="en-US" sz="700" dirty="0" err="1"/>
              <a:t>visualisation</a:t>
            </a:r>
            <a:r>
              <a:rPr lang="en-US" sz="700" dirty="0"/>
              <a:t> enabling the user to interact through natural language queries. second module constitutes query based </a:t>
            </a:r>
            <a:r>
              <a:rPr lang="en-US" sz="700" dirty="0" err="1"/>
              <a:t>llm</a:t>
            </a:r>
            <a:r>
              <a:rPr lang="en-US" sz="700" dirty="0"/>
              <a:t> and interface for optimal resources required for any project and even the existing ones by asking progressively the questions to refine the problem statement and streamline to the exact details of the estimation of optimal compute resources and algorithms and </a:t>
            </a:r>
            <a:r>
              <a:rPr lang="en-US" sz="700" dirty="0" err="1"/>
              <a:t>infracstructure</a:t>
            </a:r>
            <a:r>
              <a:rPr lang="en-US" sz="700" dirty="0"/>
              <a:t> to use. the it inventory data enables to build maritime geospatial intelligence: Asset </a:t>
            </a:r>
            <a:r>
              <a:rPr lang="en-US" sz="700" dirty="0" err="1"/>
              <a:t>inventory,Infrastructure</a:t>
            </a:r>
            <a:r>
              <a:rPr lang="en-US" sz="700" dirty="0"/>
              <a:t> </a:t>
            </a:r>
            <a:r>
              <a:rPr lang="en-US" sz="700" dirty="0" err="1"/>
              <a:t>monitoring,PostGIS</a:t>
            </a:r>
            <a:r>
              <a:rPr lang="en-US" sz="700" dirty="0"/>
              <a:t> spatial database directly leverage the existing servers, storage, GIS software, GPU resources, and maritime-focused </a:t>
            </a:r>
            <a:r>
              <a:rPr lang="en-US" sz="700" dirty="0" err="1"/>
              <a:t>Seaweb</a:t>
            </a:r>
            <a:r>
              <a:rPr lang="en-US" sz="700" dirty="0"/>
              <a:t>/</a:t>
            </a:r>
            <a:r>
              <a:rPr lang="en-US" sz="700" dirty="0" err="1"/>
              <a:t>Baaz</a:t>
            </a:r>
            <a:r>
              <a:rPr lang="en-US" sz="700" dirty="0"/>
              <a:t> infrastructure.</a:t>
            </a:r>
          </a:p>
          <a:p>
            <a:r>
              <a:rPr lang="en-US" sz="700" dirty="0" err="1"/>
              <a:t>i</a:t>
            </a:r>
            <a:r>
              <a:rPr lang="en-US" sz="700" dirty="0"/>
              <a:t> have a presentation with the senior most official in maritime so keep the terms technical and professional .</a:t>
            </a:r>
          </a:p>
          <a:p>
            <a:r>
              <a:rPr lang="en-US" sz="700" dirty="0"/>
              <a:t>suggest me content for presentation and even visuals(confidential </a:t>
            </a:r>
            <a:r>
              <a:rPr lang="en-US" sz="700" dirty="0" err="1"/>
              <a:t>organisation</a:t>
            </a:r>
            <a:r>
              <a:rPr lang="en-US" sz="700" dirty="0"/>
              <a:t> it is) this is 3 months intern started on 21 may till 21 august .</a:t>
            </a:r>
          </a:p>
          <a:p>
            <a:r>
              <a:rPr lang="en-US" sz="700" dirty="0"/>
              <a:t>dates or </a:t>
            </a:r>
            <a:r>
              <a:rPr lang="en-US" sz="700" dirty="0" err="1"/>
              <a:t>gantt</a:t>
            </a:r>
            <a:r>
              <a:rPr lang="en-US" sz="700" dirty="0"/>
              <a:t> chart can be </a:t>
            </a:r>
            <a:r>
              <a:rPr lang="en-US" sz="700" dirty="0" err="1"/>
              <a:t>iincorporated</a:t>
            </a:r>
            <a:r>
              <a:rPr lang="en-US" sz="700" dirty="0"/>
              <a:t> and specific details (not generic and vague) and use case and relevance to </a:t>
            </a:r>
            <a:r>
              <a:rPr lang="en-US" sz="700" dirty="0" err="1"/>
              <a:t>ntro</a:t>
            </a:r>
            <a:r>
              <a:rPr lang="en-US" sz="700" dirty="0"/>
              <a:t> maritime .dates should be incorporated in proposed plan and quantify the impact and achievements.</a:t>
            </a:r>
          </a:p>
          <a:p>
            <a:r>
              <a:rPr lang="en-US" sz="700" dirty="0"/>
              <a:t>outline of </a:t>
            </a:r>
            <a:r>
              <a:rPr lang="en-US" sz="700" dirty="0" err="1"/>
              <a:t>presntation</a:t>
            </a:r>
            <a:r>
              <a:rPr lang="en-US" sz="700" dirty="0"/>
              <a:t> (</a:t>
            </a:r>
            <a:r>
              <a:rPr lang="en-US" sz="700" dirty="0" err="1"/>
              <a:t>dont</a:t>
            </a:r>
            <a:r>
              <a:rPr lang="en-US" sz="700" dirty="0"/>
              <a:t> make it too text heavy):</a:t>
            </a:r>
          </a:p>
          <a:p>
            <a:r>
              <a:rPr lang="en-US" sz="700" dirty="0"/>
              <a:t>Problem statement</a:t>
            </a:r>
          </a:p>
          <a:p>
            <a:r>
              <a:rPr lang="en-US" sz="700" dirty="0"/>
              <a:t>work done so far</a:t>
            </a:r>
          </a:p>
          <a:p>
            <a:r>
              <a:rPr lang="en-US" sz="700" dirty="0"/>
              <a:t>impact /</a:t>
            </a:r>
            <a:r>
              <a:rPr lang="en-US" sz="700" dirty="0" err="1"/>
              <a:t>achievemnet</a:t>
            </a:r>
            <a:endParaRPr lang="en-US" sz="700" dirty="0"/>
          </a:p>
          <a:p>
            <a:r>
              <a:rPr lang="en-US" sz="700" dirty="0"/>
              <a:t>proposed plan of work for the rest of the internship period</a:t>
            </a:r>
          </a:p>
          <a:p>
            <a:r>
              <a:rPr lang="en-US" sz="700" dirty="0"/>
              <a:t>outcome expected</a:t>
            </a:r>
          </a:p>
          <a:p>
            <a:r>
              <a:rPr lang="en-US" sz="700" dirty="0"/>
              <a:t>plan of integration of outcomes in project/</a:t>
            </a:r>
            <a:r>
              <a:rPr lang="en-US" sz="700" dirty="0" err="1"/>
              <a:t>centre</a:t>
            </a:r>
            <a:r>
              <a:rPr lang="en-US" sz="700" dirty="0"/>
              <a:t>(planning to implement it within the </a:t>
            </a:r>
            <a:r>
              <a:rPr lang="en-US" sz="700" dirty="0" err="1"/>
              <a:t>organisation</a:t>
            </a:r>
            <a:r>
              <a:rPr lang="en-US" sz="700" dirty="0"/>
              <a:t> office )</a:t>
            </a:r>
          </a:p>
          <a:p>
            <a:endParaRPr lang="en-US" sz="700" dirty="0"/>
          </a:p>
          <a:p>
            <a:endParaRPr lang="en-US" sz="700" dirty="0"/>
          </a:p>
          <a:p>
            <a:endParaRPr lang="en-US" sz="700" dirty="0"/>
          </a:p>
          <a:p>
            <a:endParaRPr lang="en-US" sz="700" dirty="0"/>
          </a:p>
          <a:p>
            <a:r>
              <a:rPr lang="en-US" sz="700" dirty="0" smtClean="0"/>
              <a:t>Estimation of Compute Requirements    </a:t>
            </a:r>
            <a:endParaRPr lang="en-IN" sz="700" dirty="0"/>
          </a:p>
        </p:txBody>
      </p:sp>
      <p:sp>
        <p:nvSpPr>
          <p:cNvPr id="12" name="Text 10"/>
          <p:cNvSpPr/>
          <p:nvPr/>
        </p:nvSpPr>
        <p:spPr>
          <a:xfrm>
            <a:off x="670224" y="4485515"/>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02</a:t>
            </a:r>
            <a:endParaRPr lang="en-US" sz="2500" dirty="0"/>
          </a:p>
        </p:txBody>
      </p:sp>
      <p:sp>
        <p:nvSpPr>
          <p:cNvPr id="13" name="Text 11"/>
          <p:cNvSpPr/>
          <p:nvPr/>
        </p:nvSpPr>
        <p:spPr>
          <a:xfrm>
            <a:off x="1617760" y="4487937"/>
            <a:ext cx="10064369" cy="546633"/>
          </a:xfrm>
          <a:prstGeom prst="rect">
            <a:avLst/>
          </a:prstGeom>
          <a:noFill/>
        </p:spPr>
        <p:txBody>
          <a:bodyPr wrap="square" lIns="0" tIns="0" rIns="0" bIns="0" rtlCol="0" anchor="ctr"/>
          <a:lstStyle/>
          <a:p>
            <a:r>
              <a:rPr lang="en-US" sz="2800" dirty="0" smtClean="0"/>
              <a:t> </a:t>
            </a:r>
            <a:endParaRPr lang="en-IN" sz="2800" dirty="0"/>
          </a:p>
        </p:txBody>
      </p:sp>
      <p:sp>
        <p:nvSpPr>
          <p:cNvPr id="17" name="Text 15"/>
          <p:cNvSpPr/>
          <p:nvPr/>
        </p:nvSpPr>
        <p:spPr>
          <a:xfrm>
            <a:off x="670224" y="5332199"/>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1643369" y="5252749"/>
            <a:ext cx="10064369" cy="546633"/>
          </a:xfrm>
          <a:prstGeom prst="rect">
            <a:avLst/>
          </a:prstGeom>
          <a:noFill/>
        </p:spPr>
        <p:txBody>
          <a:bodyPr wrap="square" lIns="0" tIns="0" rIns="0" bIns="0" rtlCol="0" anchor="ctr"/>
          <a:lstStyle/>
          <a:p>
            <a:r>
              <a:rPr lang="en-US" sz="2800" dirty="0" smtClean="0"/>
              <a:t>Integration of NLP handling and Advance automation</a:t>
            </a:r>
            <a:endParaRPr lang="en-IN" sz="2800" dirty="0"/>
          </a:p>
        </p:txBody>
      </p:sp>
      <p:sp>
        <p:nvSpPr>
          <p:cNvPr id="26" name="TextBox 25"/>
          <p:cNvSpPr txBox="1"/>
          <p:nvPr/>
        </p:nvSpPr>
        <p:spPr>
          <a:xfrm>
            <a:off x="286088" y="1131060"/>
            <a:ext cx="11235352" cy="1754326"/>
          </a:xfrm>
          <a:prstGeom prst="rect">
            <a:avLst/>
          </a:prstGeom>
          <a:noFill/>
        </p:spPr>
        <p:txBody>
          <a:bodyPr wrap="square" rtlCol="0">
            <a:spAutoFit/>
          </a:bodyPr>
          <a:lstStyle/>
          <a:p>
            <a:r>
              <a:rPr lang="en-US" sz="2400" dirty="0"/>
              <a:t>Name : </a:t>
            </a:r>
            <a:r>
              <a:rPr lang="en-US" sz="2400" dirty="0" err="1"/>
              <a:t>Anugya</a:t>
            </a:r>
            <a:r>
              <a:rPr lang="en-US" sz="2400" dirty="0"/>
              <a:t> Saxena</a:t>
            </a:r>
          </a:p>
          <a:p>
            <a:r>
              <a:rPr lang="en-US" sz="2400" dirty="0"/>
              <a:t>College &amp; Branch : Delhi Technological University, </a:t>
            </a:r>
            <a:r>
              <a:rPr lang="en-US" sz="2400" dirty="0" err="1"/>
              <a:t>B.Tech</a:t>
            </a:r>
            <a:r>
              <a:rPr lang="en-US" sz="2400" dirty="0"/>
              <a:t>-CSE</a:t>
            </a:r>
            <a:endParaRPr lang="en-US" sz="2400" baseline="0" dirty="0"/>
          </a:p>
          <a:p>
            <a:r>
              <a:rPr lang="en-US" sz="2400" dirty="0"/>
              <a:t>Duration : </a:t>
            </a:r>
            <a:r>
              <a:rPr lang="en-US" sz="2400" dirty="0" smtClean="0"/>
              <a:t>03 </a:t>
            </a:r>
            <a:r>
              <a:rPr lang="en-US" sz="2400" dirty="0"/>
              <a:t>Months (Starting from 21 May 2026)</a:t>
            </a:r>
            <a:endParaRPr lang="en-US" sz="2400" baseline="0" dirty="0"/>
          </a:p>
          <a:p>
            <a:endParaRPr lang="en-IN" dirty="0"/>
          </a:p>
          <a:p>
            <a:endParaRPr lang="en-IN" dirty="0"/>
          </a:p>
        </p:txBody>
      </p:sp>
      <p:sp>
        <p:nvSpPr>
          <p:cNvPr id="14" name="Text 16"/>
          <p:cNvSpPr/>
          <p:nvPr/>
        </p:nvSpPr>
        <p:spPr>
          <a:xfrm>
            <a:off x="1617757" y="5958282"/>
            <a:ext cx="10064369" cy="546633"/>
          </a:xfrm>
          <a:prstGeom prst="rect">
            <a:avLst/>
          </a:prstGeom>
          <a:noFill/>
        </p:spPr>
        <p:txBody>
          <a:bodyPr wrap="square" lIns="0" tIns="0" rIns="0" bIns="0" rtlCol="0" anchor="ctr"/>
          <a:lstStyle/>
          <a:p>
            <a:r>
              <a:rPr lang="en-IN" sz="2800" dirty="0"/>
              <a:t>Knowledge Base expansion and Assistive AI Collaboration </a:t>
            </a:r>
          </a:p>
        </p:txBody>
      </p:sp>
      <p:sp>
        <p:nvSpPr>
          <p:cNvPr id="15" name="Text 15"/>
          <p:cNvSpPr/>
          <p:nvPr/>
        </p:nvSpPr>
        <p:spPr>
          <a:xfrm>
            <a:off x="670224" y="5951782"/>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04</a:t>
            </a:r>
          </a:p>
        </p:txBody>
      </p:sp>
    </p:spTree>
    <p:extLst>
      <p:ext uri="{BB962C8B-B14F-4D97-AF65-F5344CB8AC3E}">
        <p14:creationId xmlns:p14="http://schemas.microsoft.com/office/powerpoint/2010/main" val="1898277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Introduction and Problem Statement </a:t>
            </a:r>
            <a:endParaRPr lang="en-US" sz="2933" dirty="0"/>
          </a:p>
        </p:txBody>
      </p:sp>
      <p:sp>
        <p:nvSpPr>
          <p:cNvPr id="5" name="Shape 3"/>
          <p:cNvSpPr/>
          <p:nvPr/>
        </p:nvSpPr>
        <p:spPr>
          <a:xfrm>
            <a:off x="269933" y="2622842"/>
            <a:ext cx="11652133" cy="3675022"/>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259173" y="2622842"/>
            <a:ext cx="235170" cy="3646404"/>
          </a:xfrm>
          <a:prstGeom prst="rect">
            <a:avLst/>
          </a:prstGeom>
          <a:solidFill>
            <a:srgbClr val="2196C4"/>
          </a:solidFill>
          <a:ln w="12700">
            <a:solidFill>
              <a:srgbClr val="2196C4"/>
            </a:solidFill>
            <a:prstDash val="solid"/>
          </a:ln>
        </p:spPr>
      </p:sp>
      <p:sp>
        <p:nvSpPr>
          <p:cNvPr id="7" name="Text 5"/>
          <p:cNvSpPr/>
          <p:nvPr/>
        </p:nvSpPr>
        <p:spPr>
          <a:xfrm>
            <a:off x="639232" y="3044411"/>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01</a:t>
            </a:r>
            <a:endParaRPr lang="en-US" sz="2500" dirty="0"/>
          </a:p>
        </p:txBody>
      </p:sp>
      <p:sp>
        <p:nvSpPr>
          <p:cNvPr id="8" name="Text 6"/>
          <p:cNvSpPr/>
          <p:nvPr/>
        </p:nvSpPr>
        <p:spPr>
          <a:xfrm>
            <a:off x="1617758" y="3709549"/>
            <a:ext cx="10064369" cy="546633"/>
          </a:xfrm>
          <a:prstGeom prst="rect">
            <a:avLst/>
          </a:prstGeom>
          <a:noFill/>
        </p:spPr>
        <p:txBody>
          <a:bodyPr wrap="square" lIns="0" tIns="0" rIns="0" bIns="0" rtlCol="0" anchor="ctr"/>
          <a:lstStyle/>
          <a:p>
            <a:endParaRPr lang="en-IN" sz="700" dirty="0"/>
          </a:p>
        </p:txBody>
      </p:sp>
      <p:sp>
        <p:nvSpPr>
          <p:cNvPr id="12" name="Text 10"/>
          <p:cNvSpPr/>
          <p:nvPr/>
        </p:nvSpPr>
        <p:spPr>
          <a:xfrm>
            <a:off x="639233" y="4174001"/>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02</a:t>
            </a:r>
            <a:endParaRPr lang="en-US" sz="2500" dirty="0"/>
          </a:p>
        </p:txBody>
      </p:sp>
      <p:sp>
        <p:nvSpPr>
          <p:cNvPr id="13" name="Text 11"/>
          <p:cNvSpPr/>
          <p:nvPr/>
        </p:nvSpPr>
        <p:spPr>
          <a:xfrm>
            <a:off x="1617760" y="4487937"/>
            <a:ext cx="10064369" cy="546633"/>
          </a:xfrm>
          <a:prstGeom prst="rect">
            <a:avLst/>
          </a:prstGeom>
          <a:noFill/>
        </p:spPr>
        <p:txBody>
          <a:bodyPr wrap="square" lIns="0" tIns="0" rIns="0" bIns="0" rtlCol="0" anchor="ctr"/>
          <a:lstStyle/>
          <a:p>
            <a:r>
              <a:rPr lang="en-US" sz="2800" dirty="0" smtClean="0"/>
              <a:t> </a:t>
            </a:r>
            <a:endParaRPr lang="en-IN" sz="2800" dirty="0"/>
          </a:p>
        </p:txBody>
      </p:sp>
      <p:sp>
        <p:nvSpPr>
          <p:cNvPr id="17" name="Text 15"/>
          <p:cNvSpPr/>
          <p:nvPr/>
        </p:nvSpPr>
        <p:spPr>
          <a:xfrm>
            <a:off x="664844" y="5218720"/>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1643369" y="5252749"/>
            <a:ext cx="10064369" cy="546633"/>
          </a:xfrm>
          <a:prstGeom prst="rect">
            <a:avLst/>
          </a:prstGeom>
          <a:noFill/>
        </p:spPr>
        <p:txBody>
          <a:bodyPr wrap="square" lIns="0" tIns="0" rIns="0" bIns="0" rtlCol="0" anchor="ctr"/>
          <a:lstStyle/>
          <a:p>
            <a:endParaRPr lang="en-IN" sz="2800" dirty="0"/>
          </a:p>
        </p:txBody>
      </p:sp>
      <p:sp>
        <p:nvSpPr>
          <p:cNvPr id="26" name="TextBox 25"/>
          <p:cNvSpPr txBox="1"/>
          <p:nvPr/>
        </p:nvSpPr>
        <p:spPr>
          <a:xfrm>
            <a:off x="286088" y="1131060"/>
            <a:ext cx="11235352" cy="1754326"/>
          </a:xfrm>
          <a:prstGeom prst="rect">
            <a:avLst/>
          </a:prstGeom>
          <a:noFill/>
        </p:spPr>
        <p:txBody>
          <a:bodyPr wrap="square" rtlCol="0">
            <a:spAutoFit/>
          </a:bodyPr>
          <a:lstStyle/>
          <a:p>
            <a:r>
              <a:rPr lang="en-US" sz="2400" dirty="0"/>
              <a:t>Name : </a:t>
            </a:r>
            <a:r>
              <a:rPr lang="en-US" sz="2400" dirty="0" err="1"/>
              <a:t>Anugya</a:t>
            </a:r>
            <a:r>
              <a:rPr lang="en-US" sz="2400" dirty="0"/>
              <a:t> Saxena</a:t>
            </a:r>
          </a:p>
          <a:p>
            <a:r>
              <a:rPr lang="en-US" sz="2400" dirty="0"/>
              <a:t>College &amp; Branch : Delhi Technological University, </a:t>
            </a:r>
            <a:r>
              <a:rPr lang="en-US" sz="2400" dirty="0" err="1"/>
              <a:t>B.Tech</a:t>
            </a:r>
            <a:r>
              <a:rPr lang="en-US" sz="2400" dirty="0"/>
              <a:t>-CSE</a:t>
            </a:r>
            <a:endParaRPr lang="en-US" sz="2400" baseline="0" dirty="0"/>
          </a:p>
          <a:p>
            <a:r>
              <a:rPr lang="en-US" sz="2400" dirty="0"/>
              <a:t>Duration : </a:t>
            </a:r>
            <a:r>
              <a:rPr lang="en-US" sz="2400" dirty="0" smtClean="0"/>
              <a:t>03 </a:t>
            </a:r>
            <a:r>
              <a:rPr lang="en-US" sz="2400" dirty="0"/>
              <a:t>Months (Starting from 21 May 2026)</a:t>
            </a:r>
            <a:endParaRPr lang="en-US" sz="2400" baseline="0" dirty="0"/>
          </a:p>
          <a:p>
            <a:endParaRPr lang="en-IN" dirty="0"/>
          </a:p>
          <a:p>
            <a:endParaRPr lang="en-IN" dirty="0"/>
          </a:p>
        </p:txBody>
      </p:sp>
      <p:sp>
        <p:nvSpPr>
          <p:cNvPr id="14" name="Text 16"/>
          <p:cNvSpPr/>
          <p:nvPr/>
        </p:nvSpPr>
        <p:spPr>
          <a:xfrm>
            <a:off x="1156795" y="4166507"/>
            <a:ext cx="10781425" cy="861077"/>
          </a:xfrm>
          <a:prstGeom prst="rect">
            <a:avLst/>
          </a:prstGeom>
          <a:noFill/>
        </p:spPr>
        <p:txBody>
          <a:bodyPr wrap="square" lIns="0" tIns="0" rIns="0" bIns="0" rtlCol="0" anchor="ctr"/>
          <a:lstStyle/>
          <a:p>
            <a:r>
              <a:rPr lang="en-IN" sz="2500" b="1" dirty="0" smtClean="0"/>
              <a:t>Automation of Management of Compute Resources by building Unified </a:t>
            </a:r>
            <a:r>
              <a:rPr lang="en-IN" sz="2500" b="1" dirty="0"/>
              <a:t>Infrastructure Intelligence </a:t>
            </a:r>
            <a:r>
              <a:rPr lang="en-IN" sz="2500" b="1" dirty="0" smtClean="0"/>
              <a:t>Repository </a:t>
            </a:r>
            <a:r>
              <a:rPr lang="en-IN" sz="2500" dirty="0" smtClean="0"/>
              <a:t>for Fragmented </a:t>
            </a:r>
            <a:r>
              <a:rPr lang="en-IN" sz="2500" dirty="0"/>
              <a:t>infrastructure </a:t>
            </a:r>
            <a:r>
              <a:rPr lang="en-IN" sz="2500" dirty="0" smtClean="0"/>
              <a:t>inventories</a:t>
            </a:r>
            <a:endParaRPr lang="en-IN" sz="2500" b="1" dirty="0"/>
          </a:p>
          <a:p>
            <a:endParaRPr lang="en-US" sz="2500" dirty="0" smtClean="0"/>
          </a:p>
          <a:p>
            <a:r>
              <a:rPr lang="en-IN" sz="2500" b="1" dirty="0" smtClean="0"/>
              <a:t>Optimised </a:t>
            </a:r>
            <a:r>
              <a:rPr lang="en-IN" sz="2500" b="1" dirty="0"/>
              <a:t>Resource Planning &amp; </a:t>
            </a:r>
            <a:r>
              <a:rPr lang="en-IN" sz="2500" b="1" dirty="0" smtClean="0"/>
              <a:t>Advisory Engine  </a:t>
            </a:r>
          </a:p>
          <a:p>
            <a:r>
              <a:rPr lang="en-US" sz="2500" dirty="0" smtClean="0"/>
              <a:t>enables </a:t>
            </a:r>
            <a:r>
              <a:rPr lang="en-US" sz="2500" dirty="0"/>
              <a:t>data-driven </a:t>
            </a:r>
            <a:r>
              <a:rPr lang="en-US" sz="2500" dirty="0" smtClean="0"/>
              <a:t>decisions </a:t>
            </a:r>
          </a:p>
          <a:p>
            <a:endParaRPr lang="en-US" sz="2500" b="1" dirty="0"/>
          </a:p>
          <a:p>
            <a:r>
              <a:rPr lang="en-US" sz="2500" b="1" dirty="0" smtClean="0"/>
              <a:t>AI-Powered </a:t>
            </a:r>
            <a:r>
              <a:rPr lang="en-US" sz="2500" b="1" dirty="0"/>
              <a:t>Analytics &amp; Natural Language Operations</a:t>
            </a:r>
          </a:p>
          <a:p>
            <a:r>
              <a:rPr lang="en-US" sz="2500" dirty="0"/>
              <a:t>Enabling users to interact with infrastructure data through natural language queries</a:t>
            </a:r>
          </a:p>
          <a:p>
            <a:endParaRPr lang="en-IN" sz="2500" dirty="0" smtClean="0"/>
          </a:p>
        </p:txBody>
      </p:sp>
      <p:sp>
        <p:nvSpPr>
          <p:cNvPr id="15" name="Text 15"/>
          <p:cNvSpPr/>
          <p:nvPr/>
        </p:nvSpPr>
        <p:spPr>
          <a:xfrm>
            <a:off x="698092" y="5751230"/>
            <a:ext cx="973145" cy="546633"/>
          </a:xfrm>
          <a:prstGeom prst="rect">
            <a:avLst/>
          </a:prstGeom>
          <a:noFill/>
        </p:spPr>
        <p:txBody>
          <a:bodyPr wrap="square" lIns="0" tIns="0" rIns="0" bIns="0" rtlCol="0" anchor="ctr"/>
          <a:lstStyle/>
          <a:p>
            <a:endParaRPr lang="en-US" sz="2500" b="1" dirty="0">
              <a:solidFill>
                <a:srgbClr val="2196C4"/>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760389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txBody>
          <a:bodyPr/>
          <a:lstStyle/>
          <a:p>
            <a:endParaRPr lang="en-IN" dirty="0"/>
          </a:p>
        </p:txBody>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smtClean="0">
                <a:solidFill>
                  <a:srgbClr val="FFFFFF"/>
                </a:solidFill>
                <a:latin typeface="Calibri" pitchFamily="34" charset="0"/>
                <a:ea typeface="Calibri" pitchFamily="34" charset="-122"/>
                <a:cs typeface="Calibri" pitchFamily="34" charset="-120"/>
              </a:rPr>
              <a:t>Work Done So Far</a:t>
            </a:r>
            <a:endParaRPr lang="en-US" sz="2933" dirty="0"/>
          </a:p>
        </p:txBody>
      </p:sp>
      <p:sp>
        <p:nvSpPr>
          <p:cNvPr id="5" name="Shape 3"/>
          <p:cNvSpPr/>
          <p:nvPr/>
        </p:nvSpPr>
        <p:spPr>
          <a:xfrm>
            <a:off x="548640" y="1233593"/>
            <a:ext cx="5547360" cy="198628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548640" y="1233593"/>
            <a:ext cx="101600" cy="1986280"/>
          </a:xfrm>
          <a:prstGeom prst="rect">
            <a:avLst/>
          </a:prstGeom>
          <a:solidFill>
            <a:srgbClr val="2196C4"/>
          </a:solidFill>
          <a:ln w="12700">
            <a:solidFill>
              <a:srgbClr val="2196C4"/>
            </a:solidFill>
            <a:prstDash val="solid"/>
          </a:ln>
        </p:spPr>
      </p:sp>
      <p:sp>
        <p:nvSpPr>
          <p:cNvPr id="7" name="Text 5"/>
          <p:cNvSpPr/>
          <p:nvPr/>
        </p:nvSpPr>
        <p:spPr>
          <a:xfrm>
            <a:off x="731520" y="1343152"/>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194477" y="1368553"/>
            <a:ext cx="4791456" cy="365760"/>
          </a:xfrm>
          <a:prstGeom prst="rect">
            <a:avLst/>
          </a:prstGeom>
          <a:noFill/>
        </p:spPr>
        <p:txBody>
          <a:bodyPr wrap="square" lIns="0" tIns="0" rIns="0" bIns="0" rtlCol="0" anchor="ctr"/>
          <a:lstStyle/>
          <a:p>
            <a:endParaRPr lang="en-IN" b="1" dirty="0"/>
          </a:p>
        </p:txBody>
      </p:sp>
      <p:sp>
        <p:nvSpPr>
          <p:cNvPr id="9" name="Text 7"/>
          <p:cNvSpPr/>
          <p:nvPr/>
        </p:nvSpPr>
        <p:spPr>
          <a:xfrm>
            <a:off x="1012275" y="1869273"/>
            <a:ext cx="5022765" cy="706967"/>
          </a:xfrm>
          <a:prstGeom prst="rect">
            <a:avLst/>
          </a:prstGeom>
          <a:noFill/>
        </p:spPr>
        <p:txBody>
          <a:bodyPr wrap="square" lIns="0" tIns="0" rIns="0" bIns="0" rtlCol="0" anchor="ctr"/>
          <a:lstStyle/>
          <a:p>
            <a:r>
              <a:rPr lang="en-IN" b="1" dirty="0"/>
              <a:t>Developed a Unified Data Ingestion </a:t>
            </a:r>
            <a:r>
              <a:rPr lang="en-IN" b="1" dirty="0" smtClean="0"/>
              <a:t>&amp; Standardization </a:t>
            </a:r>
            <a:r>
              <a:rPr lang="en-IN" b="1" dirty="0"/>
              <a:t>Pipeline</a:t>
            </a:r>
          </a:p>
          <a:p>
            <a:r>
              <a:rPr lang="en-IN" dirty="0"/>
              <a:t>Designed </a:t>
            </a:r>
            <a:r>
              <a:rPr lang="en-IN" dirty="0" smtClean="0"/>
              <a:t>framework </a:t>
            </a:r>
            <a:r>
              <a:rPr lang="en-IN" dirty="0"/>
              <a:t>to ingest heterogeneous infrastructure inventories from multiple formats and vendors, transforming them into a structured PostgreSQL-based repository.</a:t>
            </a:r>
          </a:p>
        </p:txBody>
      </p:sp>
      <p:sp>
        <p:nvSpPr>
          <p:cNvPr id="10" name="Shape 8"/>
          <p:cNvSpPr/>
          <p:nvPr/>
        </p:nvSpPr>
        <p:spPr>
          <a:xfrm>
            <a:off x="6406727" y="2137833"/>
            <a:ext cx="5547360" cy="175260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1" name="Shape 9"/>
          <p:cNvSpPr/>
          <p:nvPr/>
        </p:nvSpPr>
        <p:spPr>
          <a:xfrm flipH="1">
            <a:off x="6405880" y="2137833"/>
            <a:ext cx="101600" cy="1752600"/>
          </a:xfrm>
          <a:prstGeom prst="rect">
            <a:avLst/>
          </a:prstGeom>
          <a:solidFill>
            <a:srgbClr val="2196C4"/>
          </a:solidFill>
          <a:ln w="12700">
            <a:solidFill>
              <a:srgbClr val="2196C4"/>
            </a:solidFill>
            <a:prstDash val="solid"/>
          </a:ln>
        </p:spPr>
      </p:sp>
      <p:sp>
        <p:nvSpPr>
          <p:cNvPr id="12" name="Text 10"/>
          <p:cNvSpPr/>
          <p:nvPr/>
        </p:nvSpPr>
        <p:spPr>
          <a:xfrm>
            <a:off x="6589776" y="2247392"/>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6835055" y="2958423"/>
            <a:ext cx="4791456" cy="365760"/>
          </a:xfrm>
          <a:prstGeom prst="rect">
            <a:avLst/>
          </a:prstGeom>
          <a:noFill/>
        </p:spPr>
        <p:txBody>
          <a:bodyPr wrap="square" lIns="0" tIns="0" rIns="0" bIns="0" rtlCol="0" anchor="ctr"/>
          <a:lstStyle/>
          <a:p>
            <a:r>
              <a:rPr lang="en-US" b="1" dirty="0"/>
              <a:t>Implemented Infrastructure Data Management Capabilities</a:t>
            </a:r>
          </a:p>
          <a:p>
            <a:r>
              <a:rPr lang="en-US" dirty="0"/>
              <a:t>Developed CRUD-based asset management functionalities for inventory datasets, enabling efficient creation, retrieval, updating, and maintenance of infrastructure records.</a:t>
            </a:r>
          </a:p>
          <a:p>
            <a:endParaRPr lang="en-IN" b="1" dirty="0"/>
          </a:p>
        </p:txBody>
      </p:sp>
      <p:sp>
        <p:nvSpPr>
          <p:cNvPr id="14" name="Text 12"/>
          <p:cNvSpPr/>
          <p:nvPr/>
        </p:nvSpPr>
        <p:spPr>
          <a:xfrm>
            <a:off x="6589776" y="2787735"/>
            <a:ext cx="5242560" cy="707136"/>
          </a:xfrm>
          <a:prstGeom prst="rect">
            <a:avLst/>
          </a:prstGeom>
          <a:noFill/>
        </p:spPr>
        <p:txBody>
          <a:bodyPr wrap="square" lIns="0" tIns="0" rIns="0" bIns="0" rtlCol="0" anchor="ctr"/>
          <a:lstStyle/>
          <a:p>
            <a:pPr algn="just"/>
            <a:endParaRPr lang="en-US" dirty="0"/>
          </a:p>
        </p:txBody>
      </p:sp>
      <p:sp>
        <p:nvSpPr>
          <p:cNvPr id="15" name="Shape 13"/>
          <p:cNvSpPr/>
          <p:nvPr/>
        </p:nvSpPr>
        <p:spPr>
          <a:xfrm>
            <a:off x="548640" y="3870959"/>
            <a:ext cx="5547360" cy="2255521"/>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6" name="Shape 14"/>
          <p:cNvSpPr/>
          <p:nvPr/>
        </p:nvSpPr>
        <p:spPr>
          <a:xfrm>
            <a:off x="548640" y="3870960"/>
            <a:ext cx="101600" cy="2255520"/>
          </a:xfrm>
          <a:prstGeom prst="rect">
            <a:avLst/>
          </a:prstGeom>
          <a:solidFill>
            <a:srgbClr val="2196C4"/>
          </a:solidFill>
          <a:ln w="12700">
            <a:solidFill>
              <a:srgbClr val="2196C4"/>
            </a:solidFill>
            <a:prstDash val="solid"/>
          </a:ln>
        </p:spPr>
      </p:sp>
      <p:sp>
        <p:nvSpPr>
          <p:cNvPr id="17" name="Text 15"/>
          <p:cNvSpPr/>
          <p:nvPr/>
        </p:nvSpPr>
        <p:spPr>
          <a:xfrm>
            <a:off x="731520" y="3980688"/>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1194477" y="3980688"/>
            <a:ext cx="4791456" cy="365760"/>
          </a:xfrm>
          <a:prstGeom prst="rect">
            <a:avLst/>
          </a:prstGeom>
          <a:noFill/>
        </p:spPr>
        <p:txBody>
          <a:bodyPr wrap="square" lIns="0" tIns="0" rIns="0" bIns="0" rtlCol="0" anchor="ctr"/>
          <a:lstStyle/>
          <a:p>
            <a:endParaRPr lang="en-IN" b="1" dirty="0"/>
          </a:p>
        </p:txBody>
      </p:sp>
      <p:sp>
        <p:nvSpPr>
          <p:cNvPr id="19" name="Text 17"/>
          <p:cNvSpPr/>
          <p:nvPr/>
        </p:nvSpPr>
        <p:spPr>
          <a:xfrm>
            <a:off x="1101344" y="4645707"/>
            <a:ext cx="4226560" cy="706967"/>
          </a:xfrm>
          <a:prstGeom prst="rect">
            <a:avLst/>
          </a:prstGeom>
          <a:noFill/>
        </p:spPr>
        <p:txBody>
          <a:bodyPr wrap="square" lIns="0" tIns="0" rIns="0" bIns="0" rtlCol="0" anchor="ctr"/>
          <a:lstStyle/>
          <a:p>
            <a:r>
              <a:rPr lang="en-US" b="1" dirty="0"/>
              <a:t>Conducted Infrastructure Resource Analysis</a:t>
            </a:r>
          </a:p>
          <a:p>
            <a:r>
              <a:rPr lang="en-US" dirty="0"/>
              <a:t>Performed detailed study and mapping of compute, GPU, storage, networking, and scalability requirements </a:t>
            </a:r>
            <a:r>
              <a:rPr lang="en-US" dirty="0" smtClean="0"/>
              <a:t>different projects.</a:t>
            </a:r>
            <a:endParaRPr lang="en-US" dirty="0"/>
          </a:p>
        </p:txBody>
      </p:sp>
      <p:sp>
        <p:nvSpPr>
          <p:cNvPr id="20" name="Shape 18"/>
          <p:cNvSpPr/>
          <p:nvPr/>
        </p:nvSpPr>
        <p:spPr>
          <a:xfrm>
            <a:off x="6406727" y="4632961"/>
            <a:ext cx="5547360" cy="1855047"/>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21" name="Shape 19"/>
          <p:cNvSpPr/>
          <p:nvPr/>
        </p:nvSpPr>
        <p:spPr>
          <a:xfrm>
            <a:off x="6406727" y="4632961"/>
            <a:ext cx="101600" cy="1855047"/>
          </a:xfrm>
          <a:prstGeom prst="rect">
            <a:avLst/>
          </a:prstGeom>
          <a:solidFill>
            <a:srgbClr val="2196C4"/>
          </a:solidFill>
          <a:ln w="12700">
            <a:solidFill>
              <a:srgbClr val="2196C4"/>
            </a:solidFill>
            <a:prstDash val="solid"/>
          </a:ln>
        </p:spPr>
      </p:sp>
      <p:sp>
        <p:nvSpPr>
          <p:cNvPr id="22" name="Text 20"/>
          <p:cNvSpPr/>
          <p:nvPr/>
        </p:nvSpPr>
        <p:spPr>
          <a:xfrm>
            <a:off x="6589776" y="4834128"/>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7132529" y="5248486"/>
            <a:ext cx="4791456" cy="365760"/>
          </a:xfrm>
          <a:prstGeom prst="rect">
            <a:avLst/>
          </a:prstGeom>
          <a:noFill/>
        </p:spPr>
        <p:txBody>
          <a:bodyPr wrap="square" lIns="0" tIns="0" rIns="0" bIns="0" rtlCol="0" anchor="ctr"/>
          <a:lstStyle/>
          <a:p>
            <a:r>
              <a:rPr lang="en-US" b="1" dirty="0"/>
              <a:t>Evaluated Offline Deployment Feasibility</a:t>
            </a:r>
            <a:r>
              <a:rPr lang="en-US" dirty="0"/>
              <a:t/>
            </a:r>
            <a:br>
              <a:rPr lang="en-US" dirty="0"/>
            </a:br>
            <a:r>
              <a:rPr lang="en-US" dirty="0"/>
              <a:t>Explored air-gapped/offline compatibility and deployment strategies for secure operational environments.</a:t>
            </a:r>
            <a:endParaRPr lang="en-IN" dirty="0"/>
          </a:p>
        </p:txBody>
      </p:sp>
      <p:sp>
        <p:nvSpPr>
          <p:cNvPr id="24" name="Text 22"/>
          <p:cNvSpPr/>
          <p:nvPr/>
        </p:nvSpPr>
        <p:spPr>
          <a:xfrm>
            <a:off x="6644640" y="5576108"/>
            <a:ext cx="4876800" cy="706967"/>
          </a:xfrm>
          <a:prstGeom prst="rect">
            <a:avLst/>
          </a:prstGeom>
          <a:noFill/>
        </p:spPr>
        <p:txBody>
          <a:bodyPr wrap="square" lIns="0" tIns="0" rIns="0" bIns="0" rtlCol="0" anchor="ctr"/>
          <a:lstStyle/>
          <a:p>
            <a:pPr algn="just"/>
            <a:endParaRPr lang="en-US" dirty="0"/>
          </a:p>
        </p:txBody>
      </p:sp>
    </p:spTree>
    <p:extLst>
      <p:ext uri="{BB962C8B-B14F-4D97-AF65-F5344CB8AC3E}">
        <p14:creationId xmlns:p14="http://schemas.microsoft.com/office/powerpoint/2010/main" val="2670018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txBody>
          <a:bodyPr/>
          <a:lstStyle/>
          <a:p>
            <a:endParaRPr lang="en-IN" dirty="0"/>
          </a:p>
        </p:txBody>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dirty="0" smtClean="0">
                <a:solidFill>
                  <a:schemeClr val="bg1"/>
                </a:solidFill>
              </a:rPr>
              <a:t>Impacts and </a:t>
            </a:r>
            <a:r>
              <a:rPr lang="en-US" sz="2933" dirty="0" err="1" smtClean="0">
                <a:solidFill>
                  <a:schemeClr val="bg1"/>
                </a:solidFill>
              </a:rPr>
              <a:t>achiemvements</a:t>
            </a:r>
            <a:endParaRPr lang="en-US" sz="2933" dirty="0">
              <a:solidFill>
                <a:schemeClr val="bg1"/>
              </a:solidFill>
            </a:endParaRPr>
          </a:p>
        </p:txBody>
      </p:sp>
      <p:sp>
        <p:nvSpPr>
          <p:cNvPr id="5" name="Shape 3"/>
          <p:cNvSpPr/>
          <p:nvPr/>
        </p:nvSpPr>
        <p:spPr>
          <a:xfrm>
            <a:off x="548640" y="1233593"/>
            <a:ext cx="5547360" cy="198628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548640" y="1233593"/>
            <a:ext cx="101600" cy="1986280"/>
          </a:xfrm>
          <a:prstGeom prst="rect">
            <a:avLst/>
          </a:prstGeom>
          <a:solidFill>
            <a:srgbClr val="2196C4"/>
          </a:solidFill>
          <a:ln w="12700">
            <a:solidFill>
              <a:srgbClr val="2196C4"/>
            </a:solidFill>
            <a:prstDash val="solid"/>
          </a:ln>
        </p:spPr>
      </p:sp>
      <p:sp>
        <p:nvSpPr>
          <p:cNvPr id="7" name="Text 5"/>
          <p:cNvSpPr/>
          <p:nvPr/>
        </p:nvSpPr>
        <p:spPr>
          <a:xfrm>
            <a:off x="731520" y="1343152"/>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194477" y="1368553"/>
            <a:ext cx="4791456" cy="365760"/>
          </a:xfrm>
          <a:prstGeom prst="rect">
            <a:avLst/>
          </a:prstGeom>
          <a:noFill/>
        </p:spPr>
        <p:txBody>
          <a:bodyPr wrap="square" lIns="0" tIns="0" rIns="0" bIns="0" rtlCol="0" anchor="ctr"/>
          <a:lstStyle/>
          <a:p>
            <a:endParaRPr lang="en-IN" b="1" dirty="0"/>
          </a:p>
        </p:txBody>
      </p:sp>
      <p:sp>
        <p:nvSpPr>
          <p:cNvPr id="9" name="Text 7"/>
          <p:cNvSpPr/>
          <p:nvPr/>
        </p:nvSpPr>
        <p:spPr>
          <a:xfrm>
            <a:off x="444239" y="3980688"/>
            <a:ext cx="7258888" cy="701610"/>
          </a:xfrm>
          <a:prstGeom prst="rect">
            <a:avLst/>
          </a:prstGeom>
          <a:noFill/>
        </p:spPr>
        <p:txBody>
          <a:bodyPr wrap="square" lIns="0" tIns="0" rIns="0" bIns="0" rtlCol="0" anchor="ctr"/>
          <a:lstStyle/>
          <a:p>
            <a:r>
              <a:rPr lang="en-US" b="1" dirty="0" smtClean="0"/>
              <a:t>Impact &amp; Achievements</a:t>
            </a:r>
          </a:p>
          <a:p>
            <a:r>
              <a:rPr lang="en-US" b="1" dirty="0" smtClean="0"/>
              <a:t>Key Achievements</a:t>
            </a:r>
          </a:p>
          <a:p>
            <a:r>
              <a:rPr lang="en-US" b="1" dirty="0" smtClean="0"/>
              <a:t>✓ Established a Unified Infrastructure Data Foundation</a:t>
            </a:r>
            <a:r>
              <a:rPr lang="en-US" dirty="0" smtClean="0"/>
              <a:t/>
            </a:r>
            <a:br>
              <a:rPr lang="en-US" dirty="0" smtClean="0"/>
            </a:br>
            <a:r>
              <a:rPr lang="en-US" dirty="0" smtClean="0"/>
              <a:t>standardize and centralize multi-vendor IT inventory data into a structured PostgreSQL repository.</a:t>
            </a:r>
          </a:p>
          <a:p>
            <a:r>
              <a:rPr lang="en-US" b="1" dirty="0" smtClean="0"/>
              <a:t>✓ </a:t>
            </a:r>
            <a:r>
              <a:rPr lang="en-US" b="1" dirty="0"/>
              <a:t>Enabled Analytics-Ready Asset Intelligence</a:t>
            </a:r>
            <a:r>
              <a:rPr lang="en-US" dirty="0"/>
              <a:t/>
            </a:r>
            <a:br>
              <a:rPr lang="en-US" dirty="0"/>
            </a:br>
            <a:r>
              <a:rPr lang="en-US" dirty="0"/>
              <a:t>Structured compute, storage, network, GIS, and software asset information for querying, reporting, and future decision-support applications.</a:t>
            </a:r>
          </a:p>
          <a:p>
            <a:r>
              <a:rPr lang="en-US" b="1" dirty="0"/>
              <a:t>✓ Built Core Infrastructure Management Capabilities</a:t>
            </a:r>
            <a:r>
              <a:rPr lang="en-US" dirty="0"/>
              <a:t/>
            </a:r>
            <a:br>
              <a:rPr lang="en-US" dirty="0"/>
            </a:br>
            <a:r>
              <a:rPr lang="en-US" dirty="0"/>
              <a:t>Implemented inventory management operations and data handling workflows for efficient maintenance of infrastructure records.</a:t>
            </a:r>
          </a:p>
          <a:p>
            <a:r>
              <a:rPr lang="en-US" b="1" dirty="0"/>
              <a:t>✓ Assessed Infrastructure Requirements for Maritime Workloads</a:t>
            </a:r>
            <a:r>
              <a:rPr lang="en-US" dirty="0"/>
              <a:t/>
            </a:r>
            <a:br>
              <a:rPr lang="en-US" dirty="0"/>
            </a:br>
            <a:r>
              <a:rPr lang="en-US" dirty="0" err="1"/>
              <a:t>Analysed</a:t>
            </a:r>
            <a:r>
              <a:rPr lang="en-US" dirty="0"/>
              <a:t> compute, GPU, storage, networking, and scalability requirements across AI, GIS, and maritime processing environments.</a:t>
            </a:r>
          </a:p>
          <a:p>
            <a:r>
              <a:rPr lang="en-US" b="1" dirty="0"/>
              <a:t>✓ Evaluated Secure Offline Deployment Feasibility</a:t>
            </a:r>
            <a:r>
              <a:rPr lang="en-US" dirty="0"/>
              <a:t/>
            </a:r>
            <a:br>
              <a:rPr lang="en-US" dirty="0"/>
            </a:br>
            <a:r>
              <a:rPr lang="en-US" dirty="0"/>
              <a:t>Explored approaches for operating the solution within air-gapped and restricted-network environments.</a:t>
            </a:r>
          </a:p>
        </p:txBody>
      </p:sp>
      <p:sp>
        <p:nvSpPr>
          <p:cNvPr id="12" name="Text 10"/>
          <p:cNvSpPr/>
          <p:nvPr/>
        </p:nvSpPr>
        <p:spPr>
          <a:xfrm>
            <a:off x="6589776" y="2247392"/>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6835055" y="2958423"/>
            <a:ext cx="4791456" cy="365760"/>
          </a:xfrm>
          <a:prstGeom prst="rect">
            <a:avLst/>
          </a:prstGeom>
          <a:noFill/>
        </p:spPr>
        <p:txBody>
          <a:bodyPr wrap="square" lIns="0" tIns="0" rIns="0" bIns="0" rtlCol="0" anchor="ctr"/>
          <a:lstStyle/>
          <a:p>
            <a:endParaRPr lang="en-IN" b="1" dirty="0"/>
          </a:p>
        </p:txBody>
      </p:sp>
      <p:sp>
        <p:nvSpPr>
          <p:cNvPr id="14" name="Text 12"/>
          <p:cNvSpPr/>
          <p:nvPr/>
        </p:nvSpPr>
        <p:spPr>
          <a:xfrm>
            <a:off x="6589776" y="2787735"/>
            <a:ext cx="5242560" cy="707136"/>
          </a:xfrm>
          <a:prstGeom prst="rect">
            <a:avLst/>
          </a:prstGeom>
          <a:noFill/>
        </p:spPr>
        <p:txBody>
          <a:bodyPr wrap="square" lIns="0" tIns="0" rIns="0" bIns="0" rtlCol="0" anchor="ctr"/>
          <a:lstStyle/>
          <a:p>
            <a:pPr algn="just"/>
            <a:endParaRPr lang="en-US" dirty="0"/>
          </a:p>
        </p:txBody>
      </p:sp>
      <p:sp>
        <p:nvSpPr>
          <p:cNvPr id="18" name="Text 16"/>
          <p:cNvSpPr/>
          <p:nvPr/>
        </p:nvSpPr>
        <p:spPr>
          <a:xfrm>
            <a:off x="1194477" y="3980688"/>
            <a:ext cx="4791456" cy="365760"/>
          </a:xfrm>
          <a:prstGeom prst="rect">
            <a:avLst/>
          </a:prstGeom>
          <a:noFill/>
        </p:spPr>
        <p:txBody>
          <a:bodyPr wrap="square" lIns="0" tIns="0" rIns="0" bIns="0" rtlCol="0" anchor="ctr"/>
          <a:lstStyle/>
          <a:p>
            <a:endParaRPr lang="en-IN" b="1" dirty="0"/>
          </a:p>
        </p:txBody>
      </p:sp>
      <p:sp>
        <p:nvSpPr>
          <p:cNvPr id="20" name="Shape 18"/>
          <p:cNvSpPr/>
          <p:nvPr/>
        </p:nvSpPr>
        <p:spPr>
          <a:xfrm>
            <a:off x="6406727" y="4632961"/>
            <a:ext cx="5547360" cy="1855047"/>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21" name="Shape 19"/>
          <p:cNvSpPr/>
          <p:nvPr/>
        </p:nvSpPr>
        <p:spPr>
          <a:xfrm>
            <a:off x="6406727" y="4632961"/>
            <a:ext cx="101600" cy="1855047"/>
          </a:xfrm>
          <a:prstGeom prst="rect">
            <a:avLst/>
          </a:prstGeom>
          <a:solidFill>
            <a:srgbClr val="2196C4"/>
          </a:solidFill>
          <a:ln w="12700">
            <a:solidFill>
              <a:srgbClr val="2196C4"/>
            </a:solidFill>
            <a:prstDash val="solid"/>
          </a:ln>
        </p:spPr>
      </p:sp>
      <p:sp>
        <p:nvSpPr>
          <p:cNvPr id="22" name="Text 20"/>
          <p:cNvSpPr/>
          <p:nvPr/>
        </p:nvSpPr>
        <p:spPr>
          <a:xfrm>
            <a:off x="6589776" y="4834128"/>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7162631" y="2935147"/>
            <a:ext cx="4791456" cy="365760"/>
          </a:xfrm>
          <a:prstGeom prst="rect">
            <a:avLst/>
          </a:prstGeom>
          <a:noFill/>
        </p:spPr>
        <p:txBody>
          <a:bodyPr wrap="square" lIns="0" tIns="0" rIns="0" bIns="0" rtlCol="0" anchor="ctr"/>
          <a:lstStyle/>
          <a:p>
            <a:r>
              <a:rPr lang="en-US" b="1" dirty="0"/>
              <a:t>✓ Enhanced Visibility of Maritime Technology Infrastructure</a:t>
            </a:r>
          </a:p>
          <a:p>
            <a:r>
              <a:rPr lang="en-US" dirty="0"/>
              <a:t>Provides a consolidated view of compute, storage, GIS, and software resources across projects, enabling faster identification and utilization of existing assets</a:t>
            </a:r>
            <a:r>
              <a:rPr lang="en-US" dirty="0" smtClean="0"/>
              <a:t>.</a:t>
            </a:r>
          </a:p>
          <a:p>
            <a:endParaRPr lang="en-US" dirty="0"/>
          </a:p>
          <a:p>
            <a:r>
              <a:rPr lang="en-US" b="1" dirty="0"/>
              <a:t>Supports Faster Infrastructure Planning for New Maritime Projects</a:t>
            </a:r>
          </a:p>
          <a:p>
            <a:r>
              <a:rPr lang="en-US" dirty="0"/>
              <a:t>Reduces dependence on manual assessment by creating a structured foundation for evaluating resource availability and infrastructure readiness</a:t>
            </a:r>
            <a:r>
              <a:rPr lang="en-US" dirty="0" smtClean="0"/>
              <a:t>.</a:t>
            </a:r>
          </a:p>
          <a:p>
            <a:endParaRPr lang="en-US" dirty="0"/>
          </a:p>
          <a:p>
            <a:r>
              <a:rPr lang="en-US" b="1" dirty="0"/>
              <a:t>Enables Data-Driven Capacity Assessment</a:t>
            </a:r>
          </a:p>
          <a:p>
            <a:r>
              <a:rPr lang="en-US" dirty="0"/>
              <a:t>Facilitates informed decisions regarding compute, GPU, storage, and network requirements for maritime analytics, surveillance, GIS, and AI workloads.</a:t>
            </a:r>
          </a:p>
          <a:p>
            <a:endParaRPr lang="en-US" dirty="0"/>
          </a:p>
          <a:p>
            <a:endParaRPr lang="en-US" dirty="0"/>
          </a:p>
        </p:txBody>
      </p:sp>
      <p:sp>
        <p:nvSpPr>
          <p:cNvPr id="24" name="Text 22"/>
          <p:cNvSpPr/>
          <p:nvPr/>
        </p:nvSpPr>
        <p:spPr>
          <a:xfrm>
            <a:off x="6644640" y="5576108"/>
            <a:ext cx="4876800" cy="706967"/>
          </a:xfrm>
          <a:prstGeom prst="rect">
            <a:avLst/>
          </a:prstGeom>
          <a:noFill/>
        </p:spPr>
        <p:txBody>
          <a:bodyPr wrap="square" lIns="0" tIns="0" rIns="0" bIns="0" rtlCol="0" anchor="ctr"/>
          <a:lstStyle/>
          <a:p>
            <a:pPr algn="just"/>
            <a:endParaRPr lang="en-US" dirty="0"/>
          </a:p>
        </p:txBody>
      </p:sp>
    </p:spTree>
    <p:extLst>
      <p:ext uri="{BB962C8B-B14F-4D97-AF65-F5344CB8AC3E}">
        <p14:creationId xmlns:p14="http://schemas.microsoft.com/office/powerpoint/2010/main" val="3911482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7225679"/>
              </p:ext>
            </p:extLst>
          </p:nvPr>
        </p:nvGraphicFramePr>
        <p:xfrm>
          <a:off x="0" y="3392322"/>
          <a:ext cx="5112328" cy="3291840"/>
        </p:xfrm>
        <a:graphic>
          <a:graphicData uri="http://schemas.openxmlformats.org/drawingml/2006/table">
            <a:tbl>
              <a:tblPr/>
              <a:tblGrid>
                <a:gridCol w="2556164">
                  <a:extLst>
                    <a:ext uri="{9D8B030D-6E8A-4147-A177-3AD203B41FA5}">
                      <a16:colId xmlns:a16="http://schemas.microsoft.com/office/drawing/2014/main" val="1256307527"/>
                    </a:ext>
                  </a:extLst>
                </a:gridCol>
                <a:gridCol w="2556164">
                  <a:extLst>
                    <a:ext uri="{9D8B030D-6E8A-4147-A177-3AD203B41FA5}">
                      <a16:colId xmlns:a16="http://schemas.microsoft.com/office/drawing/2014/main" val="1595738597"/>
                    </a:ext>
                  </a:extLst>
                </a:gridCol>
              </a:tblGrid>
              <a:tr h="316155">
                <a:tc>
                  <a:txBody>
                    <a:bodyPr/>
                    <a:lstStyle/>
                    <a:p>
                      <a:r>
                        <a:rPr lang="en-IN" dirty="0"/>
                        <a:t>Impact </a:t>
                      </a:r>
                      <a:r>
                        <a:rPr lang="en-IN" dirty="0" smtClean="0"/>
                        <a:t>Area</a:t>
                      </a:r>
                      <a:endParaRPr lang="en-IN" dirty="0"/>
                    </a:p>
                  </a:txBody>
                  <a:tcPr anchor="ctr">
                    <a:lnL>
                      <a:noFill/>
                    </a:lnL>
                    <a:lnR>
                      <a:noFill/>
                    </a:lnR>
                    <a:lnT>
                      <a:noFill/>
                    </a:lnT>
                    <a:lnB>
                      <a:noFill/>
                    </a:lnB>
                  </a:tcPr>
                </a:tc>
                <a:tc>
                  <a:txBody>
                    <a:bodyPr/>
                    <a:lstStyle/>
                    <a:p>
                      <a:r>
                        <a:rPr lang="en-IN"/>
                        <a:t>Improvement</a:t>
                      </a:r>
                    </a:p>
                  </a:txBody>
                  <a:tcPr anchor="ctr">
                    <a:lnL>
                      <a:noFill/>
                    </a:lnL>
                    <a:lnR>
                      <a:noFill/>
                    </a:lnR>
                    <a:lnT>
                      <a:noFill/>
                    </a:lnT>
                    <a:lnB>
                      <a:noFill/>
                    </a:lnB>
                  </a:tcPr>
                </a:tc>
                <a:extLst>
                  <a:ext uri="{0D108BD9-81ED-4DB2-BD59-A6C34878D82A}">
                    <a16:rowId xmlns:a16="http://schemas.microsoft.com/office/drawing/2014/main" val="1221445624"/>
                  </a:ext>
                </a:extLst>
              </a:tr>
              <a:tr h="316155">
                <a:tc>
                  <a:txBody>
                    <a:bodyPr/>
                    <a:lstStyle/>
                    <a:p>
                      <a:r>
                        <a:rPr lang="en-IN"/>
                        <a:t>Manual Data Processing</a:t>
                      </a:r>
                    </a:p>
                  </a:txBody>
                  <a:tcPr anchor="ctr">
                    <a:lnL>
                      <a:noFill/>
                    </a:lnL>
                    <a:lnR>
                      <a:noFill/>
                    </a:lnR>
                    <a:lnT>
                      <a:noFill/>
                    </a:lnT>
                    <a:lnB>
                      <a:noFill/>
                    </a:lnB>
                  </a:tcPr>
                </a:tc>
                <a:tc>
                  <a:txBody>
                    <a:bodyPr/>
                    <a:lstStyle/>
                    <a:p>
                      <a:r>
                        <a:rPr lang="en-IN" b="1"/>
                        <a:t>70–80% Reduction</a:t>
                      </a:r>
                      <a:endParaRPr lang="en-IN"/>
                    </a:p>
                  </a:txBody>
                  <a:tcPr anchor="ctr">
                    <a:lnL>
                      <a:noFill/>
                    </a:lnL>
                    <a:lnR>
                      <a:noFill/>
                    </a:lnR>
                    <a:lnT>
                      <a:noFill/>
                    </a:lnT>
                    <a:lnB>
                      <a:noFill/>
                    </a:lnB>
                  </a:tcPr>
                </a:tc>
                <a:extLst>
                  <a:ext uri="{0D108BD9-81ED-4DB2-BD59-A6C34878D82A}">
                    <a16:rowId xmlns:a16="http://schemas.microsoft.com/office/drawing/2014/main" val="3998393991"/>
                  </a:ext>
                </a:extLst>
              </a:tr>
              <a:tr h="316155">
                <a:tc>
                  <a:txBody>
                    <a:bodyPr/>
                    <a:lstStyle/>
                    <a:p>
                      <a:r>
                        <a:rPr lang="en-IN" dirty="0"/>
                        <a:t>Asset Discovery &amp; Search</a:t>
                      </a:r>
                    </a:p>
                  </a:txBody>
                  <a:tcPr anchor="ctr">
                    <a:lnL>
                      <a:noFill/>
                    </a:lnL>
                    <a:lnR>
                      <a:noFill/>
                    </a:lnR>
                    <a:lnT>
                      <a:noFill/>
                    </a:lnT>
                    <a:lnB>
                      <a:noFill/>
                    </a:lnB>
                  </a:tcPr>
                </a:tc>
                <a:tc>
                  <a:txBody>
                    <a:bodyPr/>
                    <a:lstStyle/>
                    <a:p>
                      <a:r>
                        <a:rPr lang="en-IN" b="1"/>
                        <a:t>Hours/Days → Minutes</a:t>
                      </a:r>
                      <a:endParaRPr lang="en-IN"/>
                    </a:p>
                  </a:txBody>
                  <a:tcPr anchor="ctr">
                    <a:lnL>
                      <a:noFill/>
                    </a:lnL>
                    <a:lnR>
                      <a:noFill/>
                    </a:lnR>
                    <a:lnT>
                      <a:noFill/>
                    </a:lnT>
                    <a:lnB>
                      <a:noFill/>
                    </a:lnB>
                  </a:tcPr>
                </a:tc>
                <a:extLst>
                  <a:ext uri="{0D108BD9-81ED-4DB2-BD59-A6C34878D82A}">
                    <a16:rowId xmlns:a16="http://schemas.microsoft.com/office/drawing/2014/main" val="3616896103"/>
                  </a:ext>
                </a:extLst>
              </a:tr>
              <a:tr h="316155">
                <a:tc>
                  <a:txBody>
                    <a:bodyPr/>
                    <a:lstStyle/>
                    <a:p>
                      <a:r>
                        <a:rPr lang="en-IN"/>
                        <a:t>Report Generation</a:t>
                      </a:r>
                    </a:p>
                  </a:txBody>
                  <a:tcPr anchor="ctr">
                    <a:lnL>
                      <a:noFill/>
                    </a:lnL>
                    <a:lnR>
                      <a:noFill/>
                    </a:lnR>
                    <a:lnT>
                      <a:noFill/>
                    </a:lnT>
                    <a:lnB>
                      <a:noFill/>
                    </a:lnB>
                  </a:tcPr>
                </a:tc>
                <a:tc>
                  <a:txBody>
                    <a:bodyPr/>
                    <a:lstStyle/>
                    <a:p>
                      <a:r>
                        <a:rPr lang="en-IN" b="1"/>
                        <a:t>Automated &amp; On-Demand</a:t>
                      </a:r>
                      <a:endParaRPr lang="en-IN"/>
                    </a:p>
                  </a:txBody>
                  <a:tcPr anchor="ctr">
                    <a:lnL>
                      <a:noFill/>
                    </a:lnL>
                    <a:lnR>
                      <a:noFill/>
                    </a:lnR>
                    <a:lnT>
                      <a:noFill/>
                    </a:lnT>
                    <a:lnB>
                      <a:noFill/>
                    </a:lnB>
                  </a:tcPr>
                </a:tc>
                <a:extLst>
                  <a:ext uri="{0D108BD9-81ED-4DB2-BD59-A6C34878D82A}">
                    <a16:rowId xmlns:a16="http://schemas.microsoft.com/office/drawing/2014/main" val="1860325788"/>
                  </a:ext>
                </a:extLst>
              </a:tr>
              <a:tr h="316155">
                <a:tc>
                  <a:txBody>
                    <a:bodyPr/>
                    <a:lstStyle/>
                    <a:p>
                      <a:r>
                        <a:rPr lang="en-IN"/>
                        <a:t>Infrastructure Visibility</a:t>
                      </a:r>
                    </a:p>
                  </a:txBody>
                  <a:tcPr anchor="ctr">
                    <a:lnL>
                      <a:noFill/>
                    </a:lnL>
                    <a:lnR>
                      <a:noFill/>
                    </a:lnR>
                    <a:lnT>
                      <a:noFill/>
                    </a:lnT>
                    <a:lnB>
                      <a:noFill/>
                    </a:lnB>
                  </a:tcPr>
                </a:tc>
                <a:tc>
                  <a:txBody>
                    <a:bodyPr/>
                    <a:lstStyle/>
                    <a:p>
                      <a:r>
                        <a:rPr lang="en-IN" b="1"/>
                        <a:t>Centralized Analytics &amp; Visualizations</a:t>
                      </a:r>
                      <a:endParaRPr lang="en-IN"/>
                    </a:p>
                  </a:txBody>
                  <a:tcPr anchor="ctr">
                    <a:lnL>
                      <a:noFill/>
                    </a:lnL>
                    <a:lnR>
                      <a:noFill/>
                    </a:lnR>
                    <a:lnT>
                      <a:noFill/>
                    </a:lnT>
                    <a:lnB>
                      <a:noFill/>
                    </a:lnB>
                  </a:tcPr>
                </a:tc>
                <a:extLst>
                  <a:ext uri="{0D108BD9-81ED-4DB2-BD59-A6C34878D82A}">
                    <a16:rowId xmlns:a16="http://schemas.microsoft.com/office/drawing/2014/main" val="3151229978"/>
                  </a:ext>
                </a:extLst>
              </a:tr>
              <a:tr h="481510">
                <a:tc>
                  <a:txBody>
                    <a:bodyPr/>
                    <a:lstStyle/>
                    <a:p>
                      <a:r>
                        <a:rPr lang="en-IN"/>
                        <a:t>Resource Planning</a:t>
                      </a:r>
                    </a:p>
                  </a:txBody>
                  <a:tcPr anchor="ctr">
                    <a:lnL>
                      <a:noFill/>
                    </a:lnL>
                    <a:lnR>
                      <a:noFill/>
                    </a:lnR>
                    <a:lnT>
                      <a:noFill/>
                    </a:lnT>
                    <a:lnB>
                      <a:noFill/>
                    </a:lnB>
                  </a:tcPr>
                </a:tc>
                <a:tc>
                  <a:txBody>
                    <a:bodyPr/>
                    <a:lstStyle/>
                    <a:p>
                      <a:r>
                        <a:rPr lang="en-IN" b="1" dirty="0"/>
                        <a:t>Transitioning to AI-Assisted Recommendations</a:t>
                      </a:r>
                      <a:endParaRPr lang="en-IN" dirty="0"/>
                    </a:p>
                  </a:txBody>
                  <a:tcPr anchor="ctr">
                    <a:lnL>
                      <a:noFill/>
                    </a:lnL>
                    <a:lnR>
                      <a:noFill/>
                    </a:lnR>
                    <a:lnT>
                      <a:noFill/>
                    </a:lnT>
                    <a:lnB>
                      <a:noFill/>
                    </a:lnB>
                  </a:tcPr>
                </a:tc>
                <a:extLst>
                  <a:ext uri="{0D108BD9-81ED-4DB2-BD59-A6C34878D82A}">
                    <a16:rowId xmlns:a16="http://schemas.microsoft.com/office/drawing/2014/main" val="1932215172"/>
                  </a:ext>
                </a:extLst>
              </a:tr>
            </a:tbl>
          </a:graphicData>
        </a:graphic>
      </p:graphicFrame>
      <p:sp>
        <p:nvSpPr>
          <p:cNvPr id="4" name="Rectangle 3"/>
          <p:cNvSpPr/>
          <p:nvPr/>
        </p:nvSpPr>
        <p:spPr>
          <a:xfrm>
            <a:off x="609600" y="792218"/>
            <a:ext cx="3837709" cy="2031325"/>
          </a:xfrm>
          <a:prstGeom prst="rect">
            <a:avLst/>
          </a:prstGeom>
        </p:spPr>
        <p:txBody>
          <a:bodyPr wrap="square">
            <a:spAutoFit/>
          </a:bodyPr>
          <a:lstStyle/>
          <a:p>
            <a:r>
              <a:rPr lang="en-US" b="1" dirty="0"/>
              <a:t>Reduced Manual Data Processing Effort by ~70–80%</a:t>
            </a:r>
            <a:r>
              <a:rPr lang="en-US" dirty="0"/>
              <a:t/>
            </a:r>
            <a:br>
              <a:rPr lang="en-US" dirty="0"/>
            </a:br>
            <a:r>
              <a:rPr lang="en-US" dirty="0"/>
              <a:t>Automated ingestion, normalization, and management of heterogeneous infrastructure inventories, minimizing manual consolidation and data preparation efforts.</a:t>
            </a:r>
            <a:endParaRPr lang="en-IN" dirty="0"/>
          </a:p>
        </p:txBody>
      </p:sp>
      <p:sp>
        <p:nvSpPr>
          <p:cNvPr id="5" name="Rectangle 4"/>
          <p:cNvSpPr/>
          <p:nvPr/>
        </p:nvSpPr>
        <p:spPr>
          <a:xfrm>
            <a:off x="5306291" y="792217"/>
            <a:ext cx="7065818" cy="6186309"/>
          </a:xfrm>
          <a:prstGeom prst="rect">
            <a:avLst/>
          </a:prstGeom>
        </p:spPr>
        <p:txBody>
          <a:bodyPr wrap="square">
            <a:spAutoFit/>
          </a:bodyPr>
          <a:lstStyle/>
          <a:p>
            <a:r>
              <a:rPr lang="en-US" b="1" dirty="0" smtClean="0"/>
              <a:t>Proposed plan </a:t>
            </a:r>
            <a:endParaRPr lang="en-IN" b="1" dirty="0" smtClean="0"/>
          </a:p>
          <a:p>
            <a:r>
              <a:rPr lang="en-IN" b="1" dirty="0" smtClean="0"/>
              <a:t>Expand </a:t>
            </a:r>
            <a:r>
              <a:rPr lang="en-IN" b="1" dirty="0"/>
              <a:t>Infrastructure Intelligence Repository</a:t>
            </a:r>
          </a:p>
          <a:p>
            <a:pPr>
              <a:buFont typeface="Arial" panose="020B0604020202020204" pitchFamily="34" charset="0"/>
              <a:buChar char="•"/>
            </a:pPr>
            <a:r>
              <a:rPr lang="en-IN" dirty="0"/>
              <a:t>Integrate additional infrastructure inventories, vendor catalogues, and technical specifications. </a:t>
            </a:r>
          </a:p>
          <a:p>
            <a:pPr>
              <a:buFont typeface="Arial" panose="020B0604020202020204" pitchFamily="34" charset="0"/>
              <a:buChar char="•"/>
            </a:pPr>
            <a:r>
              <a:rPr lang="en-IN" dirty="0"/>
              <a:t>Refine infrastructure classification, metadata standards, and asset relationships. </a:t>
            </a:r>
          </a:p>
          <a:p>
            <a:pPr>
              <a:buFont typeface="Arial" panose="020B0604020202020204" pitchFamily="34" charset="0"/>
              <a:buChar char="•"/>
            </a:pPr>
            <a:r>
              <a:rPr lang="en-IN" dirty="0"/>
              <a:t>Create a comprehensive knowledge repository covering compute, storage, networking, GIS, and software resources</a:t>
            </a:r>
            <a:r>
              <a:rPr lang="en-IN" dirty="0" smtClean="0"/>
              <a:t>.</a:t>
            </a:r>
          </a:p>
          <a:p>
            <a:r>
              <a:rPr lang="en-US" b="1" dirty="0"/>
              <a:t>Analytics </a:t>
            </a:r>
            <a:r>
              <a:rPr lang="en-US" b="1" dirty="0" smtClean="0"/>
              <a:t>and dashboard advancements </a:t>
            </a:r>
          </a:p>
          <a:p>
            <a:r>
              <a:rPr lang="en-US" dirty="0" smtClean="0"/>
              <a:t>Natural </a:t>
            </a:r>
            <a:r>
              <a:rPr lang="en-US" dirty="0"/>
              <a:t>language search </a:t>
            </a:r>
          </a:p>
          <a:p>
            <a:r>
              <a:rPr lang="en-US" dirty="0"/>
              <a:t>Automated reporting </a:t>
            </a:r>
          </a:p>
          <a:p>
            <a:r>
              <a:rPr lang="en-US" dirty="0"/>
              <a:t>Dashboards &amp; </a:t>
            </a:r>
            <a:r>
              <a:rPr lang="en-US" dirty="0" smtClean="0"/>
              <a:t>visualizations</a:t>
            </a:r>
          </a:p>
          <a:p>
            <a:r>
              <a:rPr lang="en-US" b="1" dirty="0" smtClean="0"/>
              <a:t>Enhanced </a:t>
            </a:r>
            <a:r>
              <a:rPr lang="en-US" b="1" dirty="0" err="1" smtClean="0"/>
              <a:t>nlp</a:t>
            </a:r>
            <a:endParaRPr lang="en-US" b="1" dirty="0" smtClean="0"/>
          </a:p>
          <a:p>
            <a:r>
              <a:rPr lang="en-US" dirty="0"/>
              <a:t>Improve Natural Language Query to handle more complex, multi-part queries and contextual </a:t>
            </a:r>
            <a:endParaRPr lang="en-US" dirty="0" smtClean="0"/>
          </a:p>
          <a:p>
            <a:endParaRPr lang="en-US" dirty="0"/>
          </a:p>
          <a:p>
            <a:r>
              <a:rPr lang="en-US" b="1" dirty="0" smtClean="0"/>
              <a:t>Outcomes</a:t>
            </a:r>
            <a:r>
              <a:rPr lang="en-US" dirty="0" smtClean="0"/>
              <a:t> :</a:t>
            </a:r>
            <a:r>
              <a:rPr lang="en-IN" dirty="0"/>
              <a:t>The project will evolve existing infrastructure inventories into an AI-enabled Maritime Infrastructure Intelligence and Decision Support Platform, providing enterprise-wide visibility, automated analytics, and intelligent resource planning </a:t>
            </a:r>
            <a:r>
              <a:rPr lang="en-IN" dirty="0" err="1"/>
              <a:t>capabilitie</a:t>
            </a:r>
            <a:endParaRPr lang="en-US" dirty="0"/>
          </a:p>
          <a:p>
            <a:pPr>
              <a:buFont typeface="Arial" panose="020B0604020202020204" pitchFamily="34" charset="0"/>
              <a:buChar char="•"/>
            </a:pPr>
            <a:endParaRPr lang="en-IN" dirty="0" smtClean="0"/>
          </a:p>
          <a:p>
            <a:pPr>
              <a:buFont typeface="Arial" panose="020B0604020202020204" pitchFamily="34" charset="0"/>
              <a:buChar char="•"/>
            </a:pPr>
            <a:endParaRPr lang="en-IN" dirty="0"/>
          </a:p>
        </p:txBody>
      </p:sp>
      <p:sp>
        <p:nvSpPr>
          <p:cNvPr id="6" name="Rectangle 2"/>
          <p:cNvSpPr>
            <a:spLocks noChangeArrowheads="1"/>
          </p:cNvSpPr>
          <p:nvPr/>
        </p:nvSpPr>
        <p:spPr bwMode="auto">
          <a:xfrm>
            <a:off x="0" y="22167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Implement automated report generation and infrastructure summaries.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Develop interactive dashboards and visualization capabilities. </a:t>
            </a:r>
          </a:p>
        </p:txBody>
      </p:sp>
    </p:spTree>
    <p:extLst>
      <p:ext uri="{BB962C8B-B14F-4D97-AF65-F5344CB8AC3E}">
        <p14:creationId xmlns:p14="http://schemas.microsoft.com/office/powerpoint/2010/main" val="1771260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2"/>
          <p:cNvSpPr>
            <a:spLocks noChangeArrowheads="1"/>
          </p:cNvSpPr>
          <p:nvPr/>
        </p:nvSpPr>
        <p:spPr bwMode="auto">
          <a:xfrm flipV="1">
            <a:off x="2141620" y="152399"/>
            <a:ext cx="10202779" cy="1423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9" name="Picture 8"/>
          <p:cNvPicPr>
            <a:picLocks noChangeAspect="1"/>
          </p:cNvPicPr>
          <p:nvPr/>
        </p:nvPicPr>
        <p:blipFill>
          <a:blip r:embed="rId2"/>
          <a:stretch>
            <a:fillRect/>
          </a:stretch>
        </p:blipFill>
        <p:spPr>
          <a:xfrm>
            <a:off x="249657" y="152398"/>
            <a:ext cx="8146104" cy="4876801"/>
          </a:xfrm>
          <a:prstGeom prst="rect">
            <a:avLst/>
          </a:prstGeom>
        </p:spPr>
      </p:pic>
      <p:sp>
        <p:nvSpPr>
          <p:cNvPr id="10" name="Rectangle 9"/>
          <p:cNvSpPr/>
          <p:nvPr/>
        </p:nvSpPr>
        <p:spPr>
          <a:xfrm>
            <a:off x="8584531" y="2093495"/>
            <a:ext cx="7214937" cy="3754874"/>
          </a:xfrm>
          <a:prstGeom prst="rect">
            <a:avLst/>
          </a:prstGeom>
        </p:spPr>
        <p:txBody>
          <a:bodyPr wrap="square">
            <a:spAutoFit/>
          </a:bodyPr>
          <a:lstStyle/>
          <a:p>
            <a:r>
              <a:rPr lang="en-IN" sz="1400" dirty="0"/>
              <a:t>Infrastructure Inventories</a:t>
            </a:r>
          </a:p>
          <a:p>
            <a:r>
              <a:rPr lang="en-IN" sz="1400" dirty="0"/>
              <a:t>(Servers, Storage, Network, GIS Assets)</a:t>
            </a:r>
          </a:p>
          <a:p>
            <a:r>
              <a:rPr lang="en-IN" sz="1400" dirty="0"/>
              <a:t>                │</a:t>
            </a:r>
          </a:p>
          <a:p>
            <a:r>
              <a:rPr lang="en-IN" sz="1400" dirty="0"/>
              <a:t>                ▼</a:t>
            </a:r>
          </a:p>
          <a:p>
            <a:r>
              <a:rPr lang="en-IN" sz="1400" dirty="0"/>
              <a:t>Unified Infrastructure Repository</a:t>
            </a:r>
          </a:p>
          <a:p>
            <a:r>
              <a:rPr lang="en-IN" sz="1400" dirty="0"/>
              <a:t>(PostgreSQL / </a:t>
            </a:r>
            <a:r>
              <a:rPr lang="en-IN" sz="1400" dirty="0" err="1"/>
              <a:t>PostGIS</a:t>
            </a:r>
            <a:r>
              <a:rPr lang="en-IN" sz="1400" dirty="0"/>
              <a:t> Foundation)</a:t>
            </a:r>
          </a:p>
          <a:p>
            <a:r>
              <a:rPr lang="en-IN" sz="1400" dirty="0"/>
              <a:t>                │</a:t>
            </a:r>
          </a:p>
          <a:p>
            <a:r>
              <a:rPr lang="en-IN" sz="1400" dirty="0"/>
              <a:t>                ▼</a:t>
            </a:r>
          </a:p>
          <a:p>
            <a:r>
              <a:rPr lang="en-IN" sz="1400" dirty="0"/>
              <a:t>Infrastructure Intelligence Layer</a:t>
            </a:r>
          </a:p>
          <a:p>
            <a:r>
              <a:rPr lang="en-IN" sz="1400" dirty="0"/>
              <a:t>(Search • Analytics • Reporting • Visualization)</a:t>
            </a:r>
          </a:p>
          <a:p>
            <a:r>
              <a:rPr lang="en-IN" sz="1400" dirty="0"/>
              <a:t>                │</a:t>
            </a:r>
          </a:p>
          <a:p>
            <a:r>
              <a:rPr lang="en-IN" sz="1400" dirty="0"/>
              <a:t>                ▼</a:t>
            </a:r>
          </a:p>
          <a:p>
            <a:r>
              <a:rPr lang="en-IN" sz="1400" dirty="0"/>
              <a:t>AI-Assisted Recommendation Engine</a:t>
            </a:r>
          </a:p>
          <a:p>
            <a:r>
              <a:rPr lang="en-IN" sz="1400" dirty="0"/>
              <a:t>(Resource Planning &amp; Estimation)</a:t>
            </a:r>
          </a:p>
          <a:p>
            <a:r>
              <a:rPr lang="en-IN" sz="1400" dirty="0"/>
              <a:t>                │</a:t>
            </a:r>
          </a:p>
          <a:p>
            <a:r>
              <a:rPr lang="en-IN" sz="1400" dirty="0"/>
              <a:t>                ▼</a:t>
            </a:r>
          </a:p>
          <a:p>
            <a:r>
              <a:rPr lang="en-IN" sz="1400" dirty="0"/>
              <a:t>Maritime Decision Support Platform</a:t>
            </a:r>
          </a:p>
        </p:txBody>
      </p:sp>
    </p:spTree>
    <p:extLst>
      <p:ext uri="{BB962C8B-B14F-4D97-AF65-F5344CB8AC3E}">
        <p14:creationId xmlns:p14="http://schemas.microsoft.com/office/powerpoint/2010/main" val="3856314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2"/>
          <p:cNvSpPr>
            <a:spLocks noChangeArrowheads="1"/>
          </p:cNvSpPr>
          <p:nvPr/>
        </p:nvSpPr>
        <p:spPr bwMode="auto">
          <a:xfrm flipV="1">
            <a:off x="2141620" y="152399"/>
            <a:ext cx="10202779" cy="1423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2" name="AutoShape 2" descr="Knime importing excel, exporting to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Knime importing excel, exporting to ..."/>
          <p:cNvSpPr>
            <a:spLocks noChangeAspect="1" noChangeArrowheads="1"/>
          </p:cNvSpPr>
          <p:nvPr/>
        </p:nvSpPr>
        <p:spPr bwMode="auto">
          <a:xfrm>
            <a:off x="307974" y="7937"/>
            <a:ext cx="6838783" cy="683880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p:cNvPicPr>
            <a:picLocks noChangeAspect="1"/>
          </p:cNvPicPr>
          <p:nvPr/>
        </p:nvPicPr>
        <p:blipFill rotWithShape="1">
          <a:blip r:embed="rId2"/>
          <a:srcRect t="9180" b="4928"/>
          <a:stretch/>
        </p:blipFill>
        <p:spPr>
          <a:xfrm>
            <a:off x="567990" y="878306"/>
            <a:ext cx="5363578" cy="3152274"/>
          </a:xfrm>
          <a:prstGeom prst="rect">
            <a:avLst/>
          </a:prstGeom>
        </p:spPr>
      </p:pic>
      <p:pic>
        <p:nvPicPr>
          <p:cNvPr id="3078" name="Picture 6" descr="How natural language processing (NLP) works in graph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1567" y="878306"/>
            <a:ext cx="4896853" cy="2884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5761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3545" t="9185" r="13593" b="3125"/>
          <a:stretch/>
        </p:blipFill>
        <p:spPr>
          <a:xfrm>
            <a:off x="969819" y="720435"/>
            <a:ext cx="9157854" cy="6328489"/>
          </a:xfrm>
          <a:prstGeom prst="rect">
            <a:avLst/>
          </a:prstGeom>
        </p:spPr>
      </p:pic>
    </p:spTree>
    <p:extLst>
      <p:ext uri="{BB962C8B-B14F-4D97-AF65-F5344CB8AC3E}">
        <p14:creationId xmlns:p14="http://schemas.microsoft.com/office/powerpoint/2010/main" val="3036192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3902" t="8617" r="13476" b="2936"/>
          <a:stretch/>
        </p:blipFill>
        <p:spPr>
          <a:xfrm>
            <a:off x="1399309" y="401782"/>
            <a:ext cx="9448800" cy="6470073"/>
          </a:xfrm>
          <a:prstGeom prst="rect">
            <a:avLst/>
          </a:prstGeom>
        </p:spPr>
      </p:pic>
    </p:spTree>
    <p:extLst>
      <p:ext uri="{BB962C8B-B14F-4D97-AF65-F5344CB8AC3E}">
        <p14:creationId xmlns:p14="http://schemas.microsoft.com/office/powerpoint/2010/main" val="751287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Impact &amp; Achievements</a:t>
            </a:r>
            <a:endParaRPr lang="en-US" sz="2933" dirty="0"/>
          </a:p>
        </p:txBody>
      </p:sp>
      <p:sp>
        <p:nvSpPr>
          <p:cNvPr id="5" name="Text 3"/>
          <p:cNvSpPr/>
          <p:nvPr/>
        </p:nvSpPr>
        <p:spPr>
          <a:xfrm>
            <a:off x="548640" y="999744"/>
            <a:ext cx="10972800" cy="341376"/>
          </a:xfrm>
          <a:prstGeom prst="rect">
            <a:avLst/>
          </a:prstGeom>
          <a:noFill/>
        </p:spPr>
        <p:txBody>
          <a:bodyPr wrap="square" lIns="0" tIns="0" rIns="0" bIns="0" rtlCol="0" anchor="ctr"/>
          <a:lstStyle/>
          <a:p>
            <a:r>
              <a:rPr lang="en-US" sz="1200" b="1" kern="0" spc="267" dirty="0">
                <a:solidFill>
                  <a:srgbClr val="2196C4"/>
                </a:solidFill>
              </a:rPr>
              <a:t>KEY METRICS</a:t>
            </a:r>
            <a:endParaRPr lang="en-US" sz="1200" dirty="0"/>
          </a:p>
        </p:txBody>
      </p:sp>
      <p:sp>
        <p:nvSpPr>
          <p:cNvPr id="6" name="Shape 4"/>
          <p:cNvSpPr/>
          <p:nvPr/>
        </p:nvSpPr>
        <p:spPr>
          <a:xfrm>
            <a:off x="548640" y="1365504"/>
            <a:ext cx="2438400" cy="0"/>
          </a:xfrm>
          <a:prstGeom prst="line">
            <a:avLst/>
          </a:prstGeom>
          <a:noFill/>
          <a:ln w="19050">
            <a:solidFill>
              <a:srgbClr val="2196C4"/>
            </a:solidFill>
            <a:prstDash val="solid"/>
          </a:ln>
        </p:spPr>
      </p:sp>
      <p:sp>
        <p:nvSpPr>
          <p:cNvPr id="7" name="Text 5"/>
          <p:cNvSpPr/>
          <p:nvPr/>
        </p:nvSpPr>
        <p:spPr>
          <a:xfrm>
            <a:off x="548640" y="1438656"/>
            <a:ext cx="2682240" cy="877824"/>
          </a:xfrm>
          <a:prstGeom prst="rect">
            <a:avLst/>
          </a:prstGeom>
          <a:noFill/>
        </p:spPr>
        <p:txBody>
          <a:bodyPr wrap="square" lIns="0" tIns="0" rIns="0" bIns="0" rtlCol="0" anchor="ctr"/>
          <a:lstStyle/>
          <a:p>
            <a:r>
              <a:rPr lang="en-US" sz="5867" b="1" dirty="0">
                <a:solidFill>
                  <a:srgbClr val="111111"/>
                </a:solidFill>
                <a:latin typeface="Calibri" pitchFamily="34" charset="0"/>
                <a:cs typeface="Calibri" pitchFamily="34" charset="-120"/>
              </a:rPr>
              <a:t>200%</a:t>
            </a:r>
            <a:endParaRPr lang="en-US" sz="5867" dirty="0"/>
          </a:p>
        </p:txBody>
      </p:sp>
      <p:sp>
        <p:nvSpPr>
          <p:cNvPr id="8" name="Text 6"/>
          <p:cNvSpPr/>
          <p:nvPr/>
        </p:nvSpPr>
        <p:spPr>
          <a:xfrm>
            <a:off x="548640" y="2316480"/>
            <a:ext cx="2682240" cy="365760"/>
          </a:xfrm>
          <a:prstGeom prst="rect">
            <a:avLst/>
          </a:prstGeom>
          <a:noFill/>
        </p:spPr>
        <p:txBody>
          <a:bodyPr wrap="square" lIns="0" tIns="0" rIns="0" bIns="0" rtlCol="0" anchor="ctr"/>
          <a:lstStyle/>
          <a:p>
            <a:pPr algn="ctr"/>
            <a:r>
              <a:rPr lang="en-US" sz="1400" dirty="0">
                <a:latin typeface="Calibri" pitchFamily="34" charset="0"/>
                <a:ea typeface="Calibri" pitchFamily="34" charset="-122"/>
                <a:cs typeface="Calibri" pitchFamily="34" charset="-120"/>
              </a:rPr>
              <a:t>Dashboard Speed Improvement</a:t>
            </a:r>
            <a:endParaRPr lang="en-US" sz="1400" dirty="0"/>
          </a:p>
        </p:txBody>
      </p:sp>
      <p:sp>
        <p:nvSpPr>
          <p:cNvPr id="9" name="Shape 7"/>
          <p:cNvSpPr/>
          <p:nvPr/>
        </p:nvSpPr>
        <p:spPr>
          <a:xfrm>
            <a:off x="3450336" y="1365504"/>
            <a:ext cx="2438400" cy="0"/>
          </a:xfrm>
          <a:prstGeom prst="line">
            <a:avLst/>
          </a:prstGeom>
          <a:noFill/>
          <a:ln w="19050">
            <a:solidFill>
              <a:srgbClr val="2196C4"/>
            </a:solidFill>
            <a:prstDash val="solid"/>
          </a:ln>
        </p:spPr>
      </p:sp>
      <p:sp>
        <p:nvSpPr>
          <p:cNvPr id="10" name="Text 8"/>
          <p:cNvSpPr/>
          <p:nvPr/>
        </p:nvSpPr>
        <p:spPr>
          <a:xfrm>
            <a:off x="3450336" y="1438656"/>
            <a:ext cx="2682240" cy="877824"/>
          </a:xfrm>
          <a:prstGeom prst="rect">
            <a:avLst/>
          </a:prstGeom>
          <a:noFill/>
        </p:spPr>
        <p:txBody>
          <a:bodyPr wrap="square" lIns="0" tIns="0" rIns="0" bIns="0" rtlCol="0" anchor="ctr"/>
          <a:lstStyle/>
          <a:p>
            <a:pPr algn="ctr"/>
            <a:r>
              <a:rPr lang="en-US" sz="6000" b="1" dirty="0">
                <a:latin typeface="Calibri" pitchFamily="34" charset="0"/>
                <a:ea typeface="Calibri" pitchFamily="34" charset="-122"/>
                <a:cs typeface="Calibri" pitchFamily="34" charset="-120"/>
              </a:rPr>
              <a:t>4</a:t>
            </a:r>
            <a:endParaRPr lang="en-US" sz="6000" dirty="0"/>
          </a:p>
        </p:txBody>
      </p:sp>
      <p:sp>
        <p:nvSpPr>
          <p:cNvPr id="11" name="Text 9"/>
          <p:cNvSpPr/>
          <p:nvPr/>
        </p:nvSpPr>
        <p:spPr>
          <a:xfrm>
            <a:off x="3450336" y="2316480"/>
            <a:ext cx="2682240" cy="365760"/>
          </a:xfrm>
          <a:prstGeom prst="rect">
            <a:avLst/>
          </a:prstGeom>
          <a:noFill/>
        </p:spPr>
        <p:txBody>
          <a:bodyPr wrap="square" lIns="0" tIns="0" rIns="0" bIns="0" rtlCol="0" anchor="ctr"/>
          <a:lstStyle/>
          <a:p>
            <a:pPr algn="ctr"/>
            <a:r>
              <a:rPr lang="en-US" sz="1400" dirty="0">
                <a:latin typeface="Calibri" pitchFamily="34" charset="0"/>
                <a:ea typeface="Calibri" pitchFamily="34" charset="-122"/>
                <a:cs typeface="Calibri" pitchFamily="34" charset="-120"/>
              </a:rPr>
              <a:t>Production Systems Fixed</a:t>
            </a:r>
            <a:endParaRPr lang="en-US" sz="1400" dirty="0"/>
          </a:p>
        </p:txBody>
      </p:sp>
      <p:sp>
        <p:nvSpPr>
          <p:cNvPr id="12" name="Shape 10"/>
          <p:cNvSpPr/>
          <p:nvPr/>
        </p:nvSpPr>
        <p:spPr>
          <a:xfrm>
            <a:off x="6352032" y="1365504"/>
            <a:ext cx="2438400" cy="0"/>
          </a:xfrm>
          <a:prstGeom prst="line">
            <a:avLst/>
          </a:prstGeom>
          <a:noFill/>
          <a:ln w="19050">
            <a:solidFill>
              <a:srgbClr val="2196C4"/>
            </a:solidFill>
            <a:prstDash val="solid"/>
          </a:ln>
        </p:spPr>
      </p:sp>
      <p:sp>
        <p:nvSpPr>
          <p:cNvPr id="13" name="Text 11"/>
          <p:cNvSpPr/>
          <p:nvPr/>
        </p:nvSpPr>
        <p:spPr>
          <a:xfrm>
            <a:off x="6352032" y="1438656"/>
            <a:ext cx="2682240" cy="877824"/>
          </a:xfrm>
          <a:prstGeom prst="rect">
            <a:avLst/>
          </a:prstGeom>
          <a:noFill/>
        </p:spPr>
        <p:txBody>
          <a:bodyPr wrap="square" lIns="0" tIns="0" rIns="0" bIns="0" rtlCol="0" anchor="ctr"/>
          <a:lstStyle/>
          <a:p>
            <a:pPr algn="ctr"/>
            <a:r>
              <a:rPr lang="en-US" sz="6000" b="1" dirty="0">
                <a:latin typeface="Calibri" pitchFamily="34" charset="0"/>
                <a:ea typeface="Calibri" pitchFamily="34" charset="-122"/>
                <a:cs typeface="Calibri" pitchFamily="34" charset="-120"/>
              </a:rPr>
              <a:t>100%</a:t>
            </a:r>
            <a:endParaRPr lang="en-US" sz="6000" dirty="0"/>
          </a:p>
        </p:txBody>
      </p:sp>
      <p:sp>
        <p:nvSpPr>
          <p:cNvPr id="14" name="Text 12"/>
          <p:cNvSpPr/>
          <p:nvPr/>
        </p:nvSpPr>
        <p:spPr>
          <a:xfrm>
            <a:off x="6352032" y="2316480"/>
            <a:ext cx="2682240" cy="365760"/>
          </a:xfrm>
          <a:prstGeom prst="rect">
            <a:avLst/>
          </a:prstGeom>
          <a:noFill/>
        </p:spPr>
        <p:txBody>
          <a:bodyPr wrap="square" lIns="0" tIns="0" rIns="0" bIns="0" rtlCol="0" anchor="ctr"/>
          <a:lstStyle/>
          <a:p>
            <a:pPr algn="ctr"/>
            <a:r>
              <a:rPr lang="en-US" sz="1400" dirty="0">
                <a:latin typeface="Calibri" pitchFamily="34" charset="0"/>
                <a:ea typeface="Calibri" pitchFamily="34" charset="-122"/>
                <a:cs typeface="Calibri" pitchFamily="34" charset="-120"/>
              </a:rPr>
              <a:t>Zero-Dependency Ingestion</a:t>
            </a:r>
            <a:endParaRPr lang="en-US" sz="1400" dirty="0"/>
          </a:p>
        </p:txBody>
      </p:sp>
      <p:sp>
        <p:nvSpPr>
          <p:cNvPr id="15" name="Shape 13"/>
          <p:cNvSpPr/>
          <p:nvPr/>
        </p:nvSpPr>
        <p:spPr>
          <a:xfrm>
            <a:off x="9253728" y="1365504"/>
            <a:ext cx="2438400" cy="0"/>
          </a:xfrm>
          <a:prstGeom prst="line">
            <a:avLst/>
          </a:prstGeom>
          <a:noFill/>
          <a:ln w="19050">
            <a:solidFill>
              <a:srgbClr val="2196C4"/>
            </a:solidFill>
            <a:prstDash val="solid"/>
          </a:ln>
        </p:spPr>
      </p:sp>
      <p:sp>
        <p:nvSpPr>
          <p:cNvPr id="16" name="Text 14"/>
          <p:cNvSpPr/>
          <p:nvPr/>
        </p:nvSpPr>
        <p:spPr>
          <a:xfrm>
            <a:off x="9253728" y="1438656"/>
            <a:ext cx="2682240" cy="877824"/>
          </a:xfrm>
          <a:prstGeom prst="rect">
            <a:avLst/>
          </a:prstGeom>
          <a:noFill/>
        </p:spPr>
        <p:txBody>
          <a:bodyPr wrap="square" lIns="0" tIns="0" rIns="0" bIns="0" rtlCol="0" anchor="ctr"/>
          <a:lstStyle/>
          <a:p>
            <a:pPr algn="ctr"/>
            <a:r>
              <a:rPr lang="en-US" sz="6000" b="1" dirty="0">
                <a:latin typeface="Calibri" pitchFamily="34" charset="0"/>
                <a:ea typeface="Calibri" pitchFamily="34" charset="-122"/>
                <a:cs typeface="Calibri" pitchFamily="34" charset="-120"/>
              </a:rPr>
              <a:t>&gt;90%</a:t>
            </a:r>
            <a:endParaRPr lang="en-US" sz="6000" dirty="0"/>
          </a:p>
        </p:txBody>
      </p:sp>
      <p:sp>
        <p:nvSpPr>
          <p:cNvPr id="17" name="Text 15"/>
          <p:cNvSpPr/>
          <p:nvPr/>
        </p:nvSpPr>
        <p:spPr>
          <a:xfrm>
            <a:off x="9253728" y="2316480"/>
            <a:ext cx="2682240" cy="365760"/>
          </a:xfrm>
          <a:prstGeom prst="rect">
            <a:avLst/>
          </a:prstGeom>
          <a:noFill/>
        </p:spPr>
        <p:txBody>
          <a:bodyPr wrap="square" lIns="0" tIns="0" rIns="0" bIns="0" rtlCol="0" anchor="ctr"/>
          <a:lstStyle/>
          <a:p>
            <a:pPr algn="ctr"/>
            <a:r>
              <a:rPr lang="en-US" sz="1400" dirty="0">
                <a:latin typeface="Calibri" pitchFamily="34" charset="0"/>
                <a:ea typeface="Calibri" pitchFamily="34" charset="-122"/>
                <a:cs typeface="Calibri" pitchFamily="34" charset="-120"/>
              </a:rPr>
              <a:t>RF Correlation Accuracy</a:t>
            </a:r>
            <a:endParaRPr lang="en-US" sz="1400" dirty="0"/>
          </a:p>
          <a:p>
            <a:pPr algn="ctr"/>
            <a:r>
              <a:rPr lang="en-US" sz="1400" dirty="0">
                <a:latin typeface="Calibri" pitchFamily="34" charset="0"/>
                <a:ea typeface="Calibri" pitchFamily="34" charset="-122"/>
                <a:cs typeface="Calibri" pitchFamily="34" charset="-120"/>
              </a:rPr>
              <a:t>(from detection #1)</a:t>
            </a:r>
            <a:endParaRPr lang="en-US" sz="1400" dirty="0"/>
          </a:p>
        </p:txBody>
      </p:sp>
      <p:sp>
        <p:nvSpPr>
          <p:cNvPr id="18" name="Shape 16"/>
          <p:cNvSpPr/>
          <p:nvPr/>
        </p:nvSpPr>
        <p:spPr>
          <a:xfrm>
            <a:off x="548640" y="2901696"/>
            <a:ext cx="11094720" cy="0"/>
          </a:xfrm>
          <a:prstGeom prst="line">
            <a:avLst/>
          </a:prstGeom>
          <a:noFill/>
          <a:ln w="9525">
            <a:solidFill>
              <a:srgbClr val="D8E8F0"/>
            </a:solidFill>
            <a:prstDash val="solid"/>
          </a:ln>
        </p:spPr>
      </p:sp>
      <p:grpSp>
        <p:nvGrpSpPr>
          <p:cNvPr id="4" name="Group 3"/>
          <p:cNvGrpSpPr/>
          <p:nvPr/>
        </p:nvGrpSpPr>
        <p:grpSpPr>
          <a:xfrm>
            <a:off x="548640" y="3267457"/>
            <a:ext cx="11094720" cy="3377788"/>
            <a:chOff x="795528" y="3486913"/>
            <a:chExt cx="8458200" cy="2514600"/>
          </a:xfrm>
        </p:grpSpPr>
        <p:sp>
          <p:nvSpPr>
            <p:cNvPr id="46" name="Shape 17"/>
            <p:cNvSpPr/>
            <p:nvPr/>
          </p:nvSpPr>
          <p:spPr>
            <a:xfrm>
              <a:off x="822960" y="3486913"/>
              <a:ext cx="4114800" cy="1188720"/>
            </a:xfrm>
            <a:prstGeom prst="rect">
              <a:avLst/>
            </a:prstGeom>
            <a:solidFill>
              <a:srgbClr val="0F2540"/>
            </a:solidFill>
            <a:ln w="12700">
              <a:solidFill>
                <a:srgbClr val="10B981"/>
              </a:solidFill>
              <a:prstDash val="solid"/>
            </a:ln>
          </p:spPr>
        </p:sp>
        <p:sp>
          <p:nvSpPr>
            <p:cNvPr id="47" name="Shape 18"/>
            <p:cNvSpPr/>
            <p:nvPr/>
          </p:nvSpPr>
          <p:spPr>
            <a:xfrm>
              <a:off x="795528" y="3486913"/>
              <a:ext cx="64008" cy="1188720"/>
            </a:xfrm>
            <a:prstGeom prst="rect">
              <a:avLst/>
            </a:prstGeom>
            <a:solidFill>
              <a:srgbClr val="10B981"/>
            </a:solidFill>
            <a:ln w="12700">
              <a:solidFill>
                <a:srgbClr val="10B981"/>
              </a:solidFill>
              <a:prstDash val="solid"/>
            </a:ln>
          </p:spPr>
        </p:sp>
        <p:sp>
          <p:nvSpPr>
            <p:cNvPr id="48" name="Text 19"/>
            <p:cNvSpPr/>
            <p:nvPr/>
          </p:nvSpPr>
          <p:spPr>
            <a:xfrm>
              <a:off x="978408" y="3596641"/>
              <a:ext cx="3749040" cy="237744"/>
            </a:xfrm>
            <a:prstGeom prst="rect">
              <a:avLst/>
            </a:prstGeom>
            <a:noFill/>
          </p:spPr>
          <p:txBody>
            <a:bodyPr wrap="square" lIns="0" tIns="0" rIns="0" bIns="0" rtlCol="0" anchor="ctr"/>
            <a:lstStyle/>
            <a:p>
              <a:pPr marL="0" indent="0">
                <a:buNone/>
              </a:pPr>
              <a:r>
                <a:rPr lang="en-US" sz="2400" b="1" dirty="0">
                  <a:solidFill>
                    <a:srgbClr val="10B981"/>
                  </a:solidFill>
                  <a:latin typeface="Calibri" pitchFamily="34" charset="0"/>
                  <a:ea typeface="Calibri" pitchFamily="34" charset="-122"/>
                  <a:cs typeface="Calibri" pitchFamily="34" charset="-120"/>
                </a:rPr>
                <a:t>Operational Continuity</a:t>
              </a:r>
              <a:endParaRPr lang="en-US" sz="2400" dirty="0"/>
            </a:p>
          </p:txBody>
        </p:sp>
        <p:sp>
          <p:nvSpPr>
            <p:cNvPr id="49" name="Text 20"/>
            <p:cNvSpPr/>
            <p:nvPr/>
          </p:nvSpPr>
          <p:spPr>
            <a:xfrm>
              <a:off x="978408" y="3870961"/>
              <a:ext cx="3749040" cy="786384"/>
            </a:xfrm>
            <a:prstGeom prst="rect">
              <a:avLst/>
            </a:prstGeom>
            <a:noFill/>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SICS dashboard restored from non-functional to fully operational — active maritime operations no longer blocked by software failures.</a:t>
              </a:r>
              <a:endParaRPr lang="en-US" sz="1600" dirty="0"/>
            </a:p>
          </p:txBody>
        </p:sp>
        <p:sp>
          <p:nvSpPr>
            <p:cNvPr id="50" name="Shape 21"/>
            <p:cNvSpPr/>
            <p:nvPr/>
          </p:nvSpPr>
          <p:spPr>
            <a:xfrm>
              <a:off x="5138928" y="3486913"/>
              <a:ext cx="4114800" cy="1188720"/>
            </a:xfrm>
            <a:prstGeom prst="rect">
              <a:avLst/>
            </a:prstGeom>
            <a:solidFill>
              <a:srgbClr val="0F2540"/>
            </a:solidFill>
            <a:ln w="12700">
              <a:solidFill>
                <a:srgbClr val="818CF8"/>
              </a:solidFill>
              <a:prstDash val="solid"/>
            </a:ln>
          </p:spPr>
        </p:sp>
        <p:sp>
          <p:nvSpPr>
            <p:cNvPr id="51" name="Shape 22"/>
            <p:cNvSpPr/>
            <p:nvPr/>
          </p:nvSpPr>
          <p:spPr>
            <a:xfrm>
              <a:off x="5138928" y="3486913"/>
              <a:ext cx="64008" cy="1188720"/>
            </a:xfrm>
            <a:prstGeom prst="rect">
              <a:avLst/>
            </a:prstGeom>
            <a:solidFill>
              <a:srgbClr val="818CF8"/>
            </a:solidFill>
            <a:ln w="12700">
              <a:solidFill>
                <a:srgbClr val="818CF8"/>
              </a:solidFill>
              <a:prstDash val="solid"/>
            </a:ln>
          </p:spPr>
        </p:sp>
        <p:sp>
          <p:nvSpPr>
            <p:cNvPr id="52" name="Text 23"/>
            <p:cNvSpPr/>
            <p:nvPr/>
          </p:nvSpPr>
          <p:spPr>
            <a:xfrm>
              <a:off x="5321808" y="3596641"/>
              <a:ext cx="3749040" cy="237744"/>
            </a:xfrm>
            <a:prstGeom prst="rect">
              <a:avLst/>
            </a:prstGeom>
            <a:noFill/>
          </p:spPr>
          <p:txBody>
            <a:bodyPr wrap="square" lIns="0" tIns="0" rIns="0" bIns="0" rtlCol="0" anchor="ctr"/>
            <a:lstStyle/>
            <a:p>
              <a:pPr marL="0" indent="0">
                <a:buNone/>
              </a:pPr>
              <a:r>
                <a:rPr lang="en-US" sz="2400" b="1" dirty="0">
                  <a:solidFill>
                    <a:srgbClr val="818CF8"/>
                  </a:solidFill>
                  <a:latin typeface="Calibri" pitchFamily="34" charset="0"/>
                  <a:ea typeface="Calibri" pitchFamily="34" charset="-122"/>
                  <a:cs typeface="Calibri" pitchFamily="34" charset="-120"/>
                </a:rPr>
                <a:t>Air-Gap AI Capability</a:t>
              </a:r>
              <a:endParaRPr lang="en-US" sz="2400" dirty="0"/>
            </a:p>
          </p:txBody>
        </p:sp>
        <p:sp>
          <p:nvSpPr>
            <p:cNvPr id="53" name="Text 24"/>
            <p:cNvSpPr/>
            <p:nvPr/>
          </p:nvSpPr>
          <p:spPr>
            <a:xfrm>
              <a:off x="5321808" y="3870961"/>
              <a:ext cx="3749040" cy="786384"/>
            </a:xfrm>
            <a:prstGeom prst="rect">
              <a:avLst/>
            </a:prstGeom>
            <a:noFill/>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Designed complete architecture for offline LLM deployment; enables AI-assisted work on classified/restricted networks for the first time.</a:t>
              </a:r>
              <a:endParaRPr lang="en-US" sz="1600" dirty="0"/>
            </a:p>
          </p:txBody>
        </p:sp>
        <p:sp>
          <p:nvSpPr>
            <p:cNvPr id="54" name="Shape 25"/>
            <p:cNvSpPr/>
            <p:nvPr/>
          </p:nvSpPr>
          <p:spPr>
            <a:xfrm>
              <a:off x="795528" y="4812793"/>
              <a:ext cx="4114800" cy="1188720"/>
            </a:xfrm>
            <a:prstGeom prst="rect">
              <a:avLst/>
            </a:prstGeom>
            <a:solidFill>
              <a:srgbClr val="0F2540"/>
            </a:solidFill>
            <a:ln w="12700">
              <a:solidFill>
                <a:srgbClr val="0E7490"/>
              </a:solidFill>
              <a:prstDash val="solid"/>
            </a:ln>
          </p:spPr>
        </p:sp>
        <p:sp>
          <p:nvSpPr>
            <p:cNvPr id="55" name="Shape 26"/>
            <p:cNvSpPr/>
            <p:nvPr/>
          </p:nvSpPr>
          <p:spPr>
            <a:xfrm>
              <a:off x="795528" y="4812793"/>
              <a:ext cx="64008" cy="1188720"/>
            </a:xfrm>
            <a:prstGeom prst="rect">
              <a:avLst/>
            </a:prstGeom>
            <a:solidFill>
              <a:srgbClr val="0E7490"/>
            </a:solidFill>
            <a:ln w="12700">
              <a:solidFill>
                <a:srgbClr val="0E7490"/>
              </a:solidFill>
              <a:prstDash val="solid"/>
            </a:ln>
          </p:spPr>
        </p:sp>
        <p:sp>
          <p:nvSpPr>
            <p:cNvPr id="56" name="Text 27"/>
            <p:cNvSpPr/>
            <p:nvPr/>
          </p:nvSpPr>
          <p:spPr>
            <a:xfrm>
              <a:off x="978408" y="4885945"/>
              <a:ext cx="3749040" cy="237744"/>
            </a:xfrm>
            <a:prstGeom prst="rect">
              <a:avLst/>
            </a:prstGeom>
            <a:noFill/>
          </p:spPr>
          <p:txBody>
            <a:bodyPr wrap="square" lIns="0" tIns="0" rIns="0" bIns="0" rtlCol="0" anchor="ctr"/>
            <a:lstStyle/>
            <a:p>
              <a:pPr marL="0" indent="0">
                <a:buNone/>
              </a:pPr>
              <a:r>
                <a:rPr lang="en-US" sz="2400" b="1" dirty="0">
                  <a:solidFill>
                    <a:srgbClr val="0E7490"/>
                  </a:solidFill>
                  <a:latin typeface="Calibri" pitchFamily="34" charset="0"/>
                  <a:ea typeface="Calibri" pitchFamily="34" charset="-122"/>
                  <a:cs typeface="Calibri" pitchFamily="34" charset="-120"/>
                </a:rPr>
                <a:t>Data Pipeline Reliability</a:t>
              </a:r>
              <a:endParaRPr lang="en-US" sz="2400" dirty="0"/>
            </a:p>
          </p:txBody>
        </p:sp>
        <p:sp>
          <p:nvSpPr>
            <p:cNvPr id="57" name="Text 28"/>
            <p:cNvSpPr/>
            <p:nvPr/>
          </p:nvSpPr>
          <p:spPr>
            <a:xfrm>
              <a:off x="978408" y="5160265"/>
              <a:ext cx="3749040" cy="786384"/>
            </a:xfrm>
            <a:prstGeom prst="rect">
              <a:avLst/>
            </a:prstGeom>
            <a:noFill/>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Automated and documented the full data lifecycle — import, checkpoint, re-import, and cleanup — reducing manual errors to zero.</a:t>
              </a:r>
              <a:endParaRPr lang="en-US" sz="1600" dirty="0"/>
            </a:p>
          </p:txBody>
        </p:sp>
        <p:sp>
          <p:nvSpPr>
            <p:cNvPr id="58" name="Shape 29"/>
            <p:cNvSpPr/>
            <p:nvPr/>
          </p:nvSpPr>
          <p:spPr>
            <a:xfrm>
              <a:off x="5138928" y="4812793"/>
              <a:ext cx="4114800" cy="1188720"/>
            </a:xfrm>
            <a:prstGeom prst="rect">
              <a:avLst/>
            </a:prstGeom>
            <a:solidFill>
              <a:srgbClr val="0F2540"/>
            </a:solidFill>
            <a:ln w="12700">
              <a:solidFill>
                <a:srgbClr val="F59E0B"/>
              </a:solidFill>
              <a:prstDash val="solid"/>
            </a:ln>
          </p:spPr>
        </p:sp>
        <p:sp>
          <p:nvSpPr>
            <p:cNvPr id="59" name="Shape 30"/>
            <p:cNvSpPr/>
            <p:nvPr/>
          </p:nvSpPr>
          <p:spPr>
            <a:xfrm>
              <a:off x="5138928" y="4812793"/>
              <a:ext cx="64008" cy="1188720"/>
            </a:xfrm>
            <a:prstGeom prst="rect">
              <a:avLst/>
            </a:prstGeom>
            <a:solidFill>
              <a:srgbClr val="F59E0B"/>
            </a:solidFill>
            <a:ln w="12700">
              <a:solidFill>
                <a:srgbClr val="F59E0B"/>
              </a:solidFill>
              <a:prstDash val="solid"/>
            </a:ln>
          </p:spPr>
        </p:sp>
        <p:sp>
          <p:nvSpPr>
            <p:cNvPr id="60" name="Text 31"/>
            <p:cNvSpPr/>
            <p:nvPr/>
          </p:nvSpPr>
          <p:spPr>
            <a:xfrm>
              <a:off x="5321808" y="4885945"/>
              <a:ext cx="3749040" cy="237744"/>
            </a:xfrm>
            <a:prstGeom prst="rect">
              <a:avLst/>
            </a:prstGeom>
            <a:noFill/>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Scientific RF Matching</a:t>
              </a:r>
              <a:endParaRPr lang="en-US" sz="2400" dirty="0"/>
            </a:p>
          </p:txBody>
        </p:sp>
        <p:sp>
          <p:nvSpPr>
            <p:cNvPr id="61" name="Text 32"/>
            <p:cNvSpPr/>
            <p:nvPr/>
          </p:nvSpPr>
          <p:spPr>
            <a:xfrm>
              <a:off x="5321808" y="5160265"/>
              <a:ext cx="3749040" cy="786384"/>
            </a:xfrm>
            <a:prstGeom prst="rect">
              <a:avLst/>
            </a:prstGeom>
            <a:noFill/>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Physics-grounded Bayesian correlation replaces manual vessel matching; provides quantifiable confidence scores aligned with ITU-R standards.</a:t>
              </a:r>
              <a:endParaRPr lang="en-US" sz="1600" dirty="0"/>
            </a:p>
          </p:txBody>
        </p:sp>
      </p:grpSp>
    </p:spTree>
    <p:extLst>
      <p:ext uri="{BB962C8B-B14F-4D97-AF65-F5344CB8AC3E}">
        <p14:creationId xmlns:p14="http://schemas.microsoft.com/office/powerpoint/2010/main" val="901527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Introduction and Problem Statement </a:t>
            </a:r>
            <a:endParaRPr lang="en-US" sz="2933" dirty="0"/>
          </a:p>
        </p:txBody>
      </p:sp>
      <p:sp>
        <p:nvSpPr>
          <p:cNvPr id="5" name="Shape 3"/>
          <p:cNvSpPr/>
          <p:nvPr/>
        </p:nvSpPr>
        <p:spPr>
          <a:xfrm>
            <a:off x="343708" y="3044286"/>
            <a:ext cx="11652133" cy="3591904"/>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286088" y="3044286"/>
            <a:ext cx="213409" cy="3591904"/>
          </a:xfrm>
          <a:prstGeom prst="rect">
            <a:avLst/>
          </a:prstGeom>
          <a:solidFill>
            <a:srgbClr val="2196C4"/>
          </a:solidFill>
          <a:ln w="12700">
            <a:solidFill>
              <a:srgbClr val="2196C4"/>
            </a:solidFill>
            <a:prstDash val="solid"/>
          </a:ln>
        </p:spPr>
      </p:sp>
      <p:sp>
        <p:nvSpPr>
          <p:cNvPr id="7" name="Text 5"/>
          <p:cNvSpPr/>
          <p:nvPr/>
        </p:nvSpPr>
        <p:spPr>
          <a:xfrm>
            <a:off x="670224" y="3242408"/>
            <a:ext cx="973145" cy="661425"/>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01</a:t>
            </a:r>
            <a:endParaRPr lang="en-US" sz="2500" dirty="0"/>
          </a:p>
        </p:txBody>
      </p:sp>
      <p:sp>
        <p:nvSpPr>
          <p:cNvPr id="8" name="Text 6"/>
          <p:cNvSpPr/>
          <p:nvPr/>
        </p:nvSpPr>
        <p:spPr>
          <a:xfrm>
            <a:off x="1617760" y="3242408"/>
            <a:ext cx="10064369" cy="661425"/>
          </a:xfrm>
          <a:prstGeom prst="rect">
            <a:avLst/>
          </a:prstGeom>
          <a:noFill/>
        </p:spPr>
        <p:txBody>
          <a:bodyPr wrap="square" lIns="0" tIns="0" rIns="0" bIns="0" rtlCol="0" anchor="ctr"/>
          <a:lstStyle/>
          <a:p>
            <a:r>
              <a:rPr lang="en-US" sz="2500" b="1" dirty="0">
                <a:solidFill>
                  <a:srgbClr val="1E1E1E"/>
                </a:solidFill>
                <a:latin typeface="Calibri" pitchFamily="34" charset="0"/>
                <a:ea typeface="Calibri" pitchFamily="34" charset="-122"/>
                <a:cs typeface="Calibri" pitchFamily="34" charset="-120"/>
              </a:rPr>
              <a:t>GT Preparation </a:t>
            </a:r>
            <a:r>
              <a:rPr lang="" altLang="en-US" sz="2500" b="1" dirty="0">
                <a:solidFill>
                  <a:srgbClr val="1E1E1E"/>
                </a:solidFill>
                <a:latin typeface="Calibri" pitchFamily="34" charset="0"/>
                <a:ea typeface="Calibri" pitchFamily="34" charset="-122"/>
                <a:cs typeface="Calibri" pitchFamily="34" charset="-120"/>
              </a:rPr>
              <a:t>-</a:t>
            </a:r>
            <a:r>
              <a:rPr lang="en-US" sz="2500" b="1" dirty="0">
                <a:solidFill>
                  <a:srgbClr val="1E1E1E"/>
                </a:solidFill>
                <a:latin typeface="Calibri" pitchFamily="34" charset="0"/>
                <a:ea typeface="Calibri" pitchFamily="34" charset="-122"/>
                <a:cs typeface="Calibri" pitchFamily="34" charset="-120"/>
              </a:rPr>
              <a:t> AIGC PS09</a:t>
            </a:r>
            <a:endParaRPr lang="en-US" sz="2500" dirty="0"/>
          </a:p>
        </p:txBody>
      </p:sp>
      <p:sp>
        <p:nvSpPr>
          <p:cNvPr id="12" name="Text 10"/>
          <p:cNvSpPr/>
          <p:nvPr/>
        </p:nvSpPr>
        <p:spPr>
          <a:xfrm>
            <a:off x="670224" y="3993554"/>
            <a:ext cx="973145" cy="661425"/>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02</a:t>
            </a:r>
            <a:endParaRPr lang="en-US" sz="2500" dirty="0"/>
          </a:p>
        </p:txBody>
      </p:sp>
      <p:sp>
        <p:nvSpPr>
          <p:cNvPr id="13" name="Text 11"/>
          <p:cNvSpPr/>
          <p:nvPr/>
        </p:nvSpPr>
        <p:spPr>
          <a:xfrm>
            <a:off x="1617760" y="3995976"/>
            <a:ext cx="10064369" cy="661425"/>
          </a:xfrm>
          <a:prstGeom prst="rect">
            <a:avLst/>
          </a:prstGeom>
          <a:noFill/>
        </p:spPr>
        <p:txBody>
          <a:bodyPr wrap="square" lIns="0" tIns="0" rIns="0" bIns="0" rtlCol="0" anchor="ctr"/>
          <a:lstStyle/>
          <a:p>
            <a:r>
              <a:rPr lang="en-US" sz="2500" b="1" dirty="0">
                <a:solidFill>
                  <a:srgbClr val="1E1E1E"/>
                </a:solidFill>
                <a:latin typeface="Calibri" pitchFamily="34" charset="0"/>
                <a:ea typeface="Calibri" pitchFamily="34" charset="-122"/>
                <a:cs typeface="Calibri" pitchFamily="34" charset="-120"/>
              </a:rPr>
              <a:t>Evaluation Script for PS09 Stage II</a:t>
            </a:r>
            <a:endParaRPr lang="en-US" sz="2500" dirty="0"/>
          </a:p>
        </p:txBody>
      </p:sp>
      <p:sp>
        <p:nvSpPr>
          <p:cNvPr id="17" name="Text 15"/>
          <p:cNvSpPr/>
          <p:nvPr/>
        </p:nvSpPr>
        <p:spPr>
          <a:xfrm>
            <a:off x="670224" y="4840238"/>
            <a:ext cx="973145" cy="661425"/>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1643369" y="4760788"/>
            <a:ext cx="10064369" cy="661425"/>
          </a:xfrm>
          <a:prstGeom prst="rect">
            <a:avLst/>
          </a:prstGeom>
          <a:noFill/>
        </p:spPr>
        <p:txBody>
          <a:bodyPr wrap="square" lIns="0" tIns="0" rIns="0" bIns="0" rtlCol="0" anchor="ctr"/>
          <a:lstStyle/>
          <a:p>
            <a:r>
              <a:rPr lang="en-US" sz="2500" b="1" dirty="0">
                <a:solidFill>
                  <a:srgbClr val="1E1E1E"/>
                </a:solidFill>
                <a:latin typeface="Calibri" pitchFamily="34" charset="0"/>
                <a:ea typeface="Calibri" pitchFamily="34" charset="-122"/>
                <a:cs typeface="Calibri" pitchFamily="34" charset="-120"/>
              </a:rPr>
              <a:t>PLANET Pipeline Optimisation</a:t>
            </a:r>
          </a:p>
        </p:txBody>
      </p:sp>
      <p:sp>
        <p:nvSpPr>
          <p:cNvPr id="22" name="Text 20"/>
          <p:cNvSpPr/>
          <p:nvPr/>
        </p:nvSpPr>
        <p:spPr>
          <a:xfrm>
            <a:off x="670224" y="5510598"/>
            <a:ext cx="973145" cy="661425"/>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04</a:t>
            </a:r>
            <a:endParaRPr lang="en-US" sz="2500" dirty="0"/>
          </a:p>
        </p:txBody>
      </p:sp>
      <p:sp>
        <p:nvSpPr>
          <p:cNvPr id="23" name="Text 21"/>
          <p:cNvSpPr/>
          <p:nvPr/>
        </p:nvSpPr>
        <p:spPr>
          <a:xfrm>
            <a:off x="1617760" y="5530445"/>
            <a:ext cx="10064369" cy="661425"/>
          </a:xfrm>
          <a:prstGeom prst="rect">
            <a:avLst/>
          </a:prstGeom>
          <a:noFill/>
        </p:spPr>
        <p:txBody>
          <a:bodyPr wrap="square" lIns="0" tIns="0" rIns="0" bIns="0" rtlCol="0" anchor="ctr"/>
          <a:lstStyle/>
          <a:p>
            <a:r>
              <a:rPr lang="en-US" sz="2500" b="1" dirty="0">
                <a:solidFill>
                  <a:srgbClr val="1E1E1E"/>
                </a:solidFill>
                <a:latin typeface="Calibri" pitchFamily="34" charset="0"/>
                <a:cs typeface="Calibri" pitchFamily="34" charset="-120"/>
              </a:rPr>
              <a:t>Decoder Pipeline for encrypted AIS Data</a:t>
            </a:r>
            <a:endParaRPr lang="en-US" sz="2500" dirty="0"/>
          </a:p>
        </p:txBody>
      </p:sp>
      <p:sp>
        <p:nvSpPr>
          <p:cNvPr id="26" name="TextBox 25"/>
          <p:cNvSpPr txBox="1"/>
          <p:nvPr/>
        </p:nvSpPr>
        <p:spPr>
          <a:xfrm>
            <a:off x="286088" y="1105294"/>
            <a:ext cx="11709753" cy="1938992"/>
          </a:xfrm>
          <a:prstGeom prst="rect">
            <a:avLst/>
          </a:prstGeom>
          <a:noFill/>
        </p:spPr>
        <p:txBody>
          <a:bodyPr wrap="square" rtlCol="0">
            <a:spAutoFit/>
          </a:bodyPr>
          <a:lstStyle/>
          <a:p>
            <a:r>
              <a:rPr lang="en-US" sz="2800" dirty="0"/>
              <a:t>Name : </a:t>
            </a:r>
            <a:r>
              <a:rPr lang="en-US" sz="2800" dirty="0" err="1"/>
              <a:t>Shivansh</a:t>
            </a:r>
            <a:r>
              <a:rPr lang="en-US" sz="2800" dirty="0"/>
              <a:t> </a:t>
            </a:r>
            <a:r>
              <a:rPr lang="en-US" sz="2800" dirty="0" err="1"/>
              <a:t>Tyagi</a:t>
            </a:r>
            <a:endParaRPr lang="en-US" sz="2800" dirty="0"/>
          </a:p>
          <a:p>
            <a:r>
              <a:rPr lang="en-US" sz="2800" dirty="0"/>
              <a:t>College : Raj Kumar </a:t>
            </a:r>
            <a:r>
              <a:rPr lang="en-US" sz="2800" dirty="0" err="1"/>
              <a:t>Goel</a:t>
            </a:r>
            <a:r>
              <a:rPr lang="en-US" sz="2800" baseline="0" dirty="0"/>
              <a:t> Institute of Technology</a:t>
            </a:r>
          </a:p>
          <a:p>
            <a:r>
              <a:rPr lang="en-US" sz="2800" dirty="0"/>
              <a:t>Duration : 6 Months (Starting from 15 Jan 2026)</a:t>
            </a:r>
            <a:endParaRPr lang="en-US" sz="2800" baseline="0" dirty="0"/>
          </a:p>
          <a:p>
            <a:endParaRPr lang="en-IN" dirty="0"/>
          </a:p>
          <a:p>
            <a:endParaRPr lang="en-IN" dirty="0"/>
          </a:p>
        </p:txBody>
      </p:sp>
    </p:spTree>
    <p:extLst>
      <p:ext uri="{BB962C8B-B14F-4D97-AF65-F5344CB8AC3E}">
        <p14:creationId xmlns:p14="http://schemas.microsoft.com/office/powerpoint/2010/main" val="1300290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Work Done So Far</a:t>
            </a:r>
            <a:endParaRPr lang="en-US" sz="2933" dirty="0"/>
          </a:p>
        </p:txBody>
      </p:sp>
      <p:sp>
        <p:nvSpPr>
          <p:cNvPr id="5" name="Shape 3"/>
          <p:cNvSpPr/>
          <p:nvPr/>
        </p:nvSpPr>
        <p:spPr>
          <a:xfrm>
            <a:off x="548640" y="1430434"/>
            <a:ext cx="5547360" cy="1955562"/>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548640" y="1430434"/>
            <a:ext cx="101598" cy="1955562"/>
          </a:xfrm>
          <a:prstGeom prst="rect">
            <a:avLst/>
          </a:prstGeom>
          <a:solidFill>
            <a:srgbClr val="2196C4"/>
          </a:solidFill>
          <a:ln w="12700">
            <a:solidFill>
              <a:srgbClr val="2196C4"/>
            </a:solidFill>
            <a:prstDash val="solid"/>
          </a:ln>
        </p:spPr>
      </p:sp>
      <p:sp>
        <p:nvSpPr>
          <p:cNvPr id="7" name="Text 5"/>
          <p:cNvSpPr/>
          <p:nvPr/>
        </p:nvSpPr>
        <p:spPr>
          <a:xfrm>
            <a:off x="731520" y="1539992"/>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077223" y="1539992"/>
            <a:ext cx="4791456" cy="365760"/>
          </a:xfrm>
          <a:prstGeom prst="rect">
            <a:avLst/>
          </a:prstGeom>
          <a:noFill/>
        </p:spPr>
        <p:txBody>
          <a:bodyPr wrap="square" lIns="0" tIns="0" rIns="0" bIns="0" rtlCol="0" anchor="ctr"/>
          <a:lstStyle/>
          <a:p>
            <a:r>
              <a:rPr lang="en-US" sz="1600" b="1" dirty="0">
                <a:solidFill>
                  <a:srgbClr val="1E1E1E"/>
                </a:solidFill>
                <a:latin typeface="Calibri" pitchFamily="34" charset="0"/>
                <a:ea typeface="Calibri" pitchFamily="34" charset="-122"/>
                <a:cs typeface="Calibri" pitchFamily="34" charset="-120"/>
              </a:rPr>
              <a:t>GT Preparation </a:t>
            </a:r>
            <a:r>
              <a:rPr lang="" altLang="en-US" sz="1600" b="1" dirty="0">
                <a:solidFill>
                  <a:srgbClr val="1E1E1E"/>
                </a:solidFill>
                <a:latin typeface="Calibri" pitchFamily="34" charset="0"/>
                <a:ea typeface="Calibri" pitchFamily="34" charset="-122"/>
                <a:cs typeface="Calibri" pitchFamily="34" charset="-120"/>
              </a:rPr>
              <a:t>-</a:t>
            </a:r>
            <a:r>
              <a:rPr lang="en-US" sz="1600" b="1" dirty="0">
                <a:solidFill>
                  <a:srgbClr val="1E1E1E"/>
                </a:solidFill>
                <a:latin typeface="Calibri" pitchFamily="34" charset="0"/>
                <a:ea typeface="Calibri" pitchFamily="34" charset="-122"/>
                <a:cs typeface="Calibri" pitchFamily="34" charset="-120"/>
              </a:rPr>
              <a:t> AIGC PS09</a:t>
            </a:r>
            <a:endParaRPr lang="en-US" sz="1600" dirty="0"/>
          </a:p>
        </p:txBody>
      </p:sp>
      <p:sp>
        <p:nvSpPr>
          <p:cNvPr id="9" name="Text 7"/>
          <p:cNvSpPr/>
          <p:nvPr/>
        </p:nvSpPr>
        <p:spPr>
          <a:xfrm>
            <a:off x="1017567" y="2151112"/>
            <a:ext cx="4740437" cy="845303"/>
          </a:xfrm>
          <a:prstGeom prst="rect">
            <a:avLst/>
          </a:prstGeom>
          <a:noFill/>
        </p:spPr>
        <p:txBody>
          <a:bodyPr wrap="square" lIns="0" tIns="0" rIns="0" bIns="0" rtlCol="0" anchor="ctr"/>
          <a:lstStyle/>
          <a:p>
            <a:pPr algn="just"/>
            <a:r>
              <a:rPr lang="en-US" sz="1867" dirty="0">
                <a:solidFill>
                  <a:srgbClr val="4A4A4A"/>
                </a:solidFill>
                <a:latin typeface="Calibri" pitchFamily="34" charset="0"/>
                <a:ea typeface="Calibri" pitchFamily="34" charset="-122"/>
                <a:cs typeface="Calibri" pitchFamily="34" charset="-120"/>
              </a:rPr>
              <a:t>Annotated SAR, EO &amp; PLANET imagery for ground truth preparation for the AI Grand Challenge India problem statement.</a:t>
            </a:r>
            <a:endParaRPr lang="en-US" sz="1867" dirty="0"/>
          </a:p>
        </p:txBody>
      </p:sp>
      <p:sp>
        <p:nvSpPr>
          <p:cNvPr id="10" name="Shape 8"/>
          <p:cNvSpPr/>
          <p:nvPr/>
        </p:nvSpPr>
        <p:spPr>
          <a:xfrm>
            <a:off x="542410" y="3848938"/>
            <a:ext cx="5498666" cy="2694882"/>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1" name="Shape 9"/>
          <p:cNvSpPr/>
          <p:nvPr/>
        </p:nvSpPr>
        <p:spPr>
          <a:xfrm flipH="1">
            <a:off x="542410" y="3848938"/>
            <a:ext cx="107828" cy="2694882"/>
          </a:xfrm>
          <a:prstGeom prst="rect">
            <a:avLst/>
          </a:prstGeom>
          <a:solidFill>
            <a:srgbClr val="2196C4"/>
          </a:solidFill>
          <a:ln w="12700">
            <a:solidFill>
              <a:srgbClr val="2196C4"/>
            </a:solidFill>
            <a:prstDash val="solid"/>
          </a:ln>
        </p:spPr>
      </p:sp>
      <p:sp>
        <p:nvSpPr>
          <p:cNvPr id="12" name="Text 10"/>
          <p:cNvSpPr/>
          <p:nvPr/>
        </p:nvSpPr>
        <p:spPr>
          <a:xfrm>
            <a:off x="719328" y="3986994"/>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1127869" y="3986994"/>
            <a:ext cx="4791456" cy="365760"/>
          </a:xfrm>
          <a:prstGeom prst="rect">
            <a:avLst/>
          </a:prstGeom>
          <a:noFill/>
        </p:spPr>
        <p:txBody>
          <a:bodyPr wrap="square" lIns="0" tIns="0" rIns="0" bIns="0" rtlCol="0" anchor="ctr"/>
          <a:lstStyle/>
          <a:p>
            <a:r>
              <a:rPr lang="en-US" sz="1600" b="1" dirty="0">
                <a:solidFill>
                  <a:srgbClr val="1E1E1E"/>
                </a:solidFill>
                <a:latin typeface="Calibri" pitchFamily="34" charset="0"/>
                <a:ea typeface="Calibri" pitchFamily="34" charset="-122"/>
                <a:cs typeface="Calibri" pitchFamily="34" charset="-120"/>
              </a:rPr>
              <a:t>Evaluation Script</a:t>
            </a:r>
            <a:endParaRPr lang="en-US" sz="1600" dirty="0"/>
          </a:p>
        </p:txBody>
      </p:sp>
      <p:sp>
        <p:nvSpPr>
          <p:cNvPr id="14" name="Text 12"/>
          <p:cNvSpPr/>
          <p:nvPr/>
        </p:nvSpPr>
        <p:spPr>
          <a:xfrm>
            <a:off x="676765" y="4906246"/>
            <a:ext cx="5242560" cy="707136"/>
          </a:xfrm>
          <a:prstGeom prst="rect">
            <a:avLst/>
          </a:prstGeom>
          <a:noFill/>
        </p:spPr>
        <p:txBody>
          <a:bodyPr wrap="square" lIns="0" tIns="0" rIns="0" bIns="0" rtlCol="0" anchor="ctr"/>
          <a:lstStyle/>
          <a:p>
            <a:pPr algn="just"/>
            <a:r>
              <a:rPr lang="en-US" sz="1867" dirty="0">
                <a:solidFill>
                  <a:srgbClr val="4A4A4A"/>
                </a:solidFill>
                <a:latin typeface="Calibri" pitchFamily="34" charset="0"/>
                <a:ea typeface="Calibri" pitchFamily="34" charset="-122"/>
                <a:cs typeface="Calibri" pitchFamily="34" charset="-120"/>
              </a:rPr>
              <a:t>Built Python evaluation pipeline: path prediction, interpolation, vessel detection &amp; classification, and AIS correlation.</a:t>
            </a:r>
            <a:endParaRPr lang="en-US" sz="1867" dirty="0"/>
          </a:p>
        </p:txBody>
      </p:sp>
      <p:sp>
        <p:nvSpPr>
          <p:cNvPr id="25" name="Shape 8"/>
          <p:cNvSpPr/>
          <p:nvPr/>
        </p:nvSpPr>
        <p:spPr>
          <a:xfrm>
            <a:off x="6443719" y="3848938"/>
            <a:ext cx="5547360" cy="2694882"/>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26" name="Shape 9"/>
          <p:cNvSpPr/>
          <p:nvPr/>
        </p:nvSpPr>
        <p:spPr>
          <a:xfrm flipH="1">
            <a:off x="6448410" y="3848938"/>
            <a:ext cx="98693" cy="2694882"/>
          </a:xfrm>
          <a:prstGeom prst="rect">
            <a:avLst/>
          </a:prstGeom>
          <a:solidFill>
            <a:srgbClr val="2196C4"/>
          </a:solidFill>
          <a:ln w="12700">
            <a:solidFill>
              <a:srgbClr val="2196C4"/>
            </a:solidFill>
            <a:prstDash val="solid"/>
          </a:ln>
        </p:spPr>
      </p:sp>
      <p:sp>
        <p:nvSpPr>
          <p:cNvPr id="4" name="TextBox 3"/>
          <p:cNvSpPr txBox="1"/>
          <p:nvPr/>
        </p:nvSpPr>
        <p:spPr>
          <a:xfrm>
            <a:off x="6681457" y="3958497"/>
            <a:ext cx="4906979" cy="2585323"/>
          </a:xfrm>
          <a:prstGeom prst="rect">
            <a:avLst/>
          </a:prstGeom>
          <a:noFill/>
        </p:spPr>
        <p:txBody>
          <a:bodyPr wrap="square" rtlCol="0">
            <a:spAutoFit/>
          </a:bodyPr>
          <a:lstStyle/>
          <a:p>
            <a:pPr marL="342900" indent="-342900">
              <a:buAutoNum type="arabicPeriod"/>
            </a:pPr>
            <a:r>
              <a:rPr lang="en-US" dirty="0"/>
              <a:t>F1 Score for AIS correlation by calculation no. of True Positives, False Positives, True Negatives.</a:t>
            </a:r>
          </a:p>
          <a:p>
            <a:pPr marL="342900" indent="-342900">
              <a:buAutoNum type="arabicPeriod"/>
            </a:pPr>
            <a:r>
              <a:rPr lang="en-US" dirty="0"/>
              <a:t>RMSE Calculation for Path Prediction, Interpolation and length/width/heading ERROR</a:t>
            </a:r>
          </a:p>
          <a:p>
            <a:pPr marL="342900" indent="-342900">
              <a:buAutoNum type="arabicPeriod"/>
            </a:pPr>
            <a:r>
              <a:rPr lang="en-US" dirty="0"/>
              <a:t>Weighted-F1 for Classification among 4 classes (undefined, Warship, Commercial, Ship-to-Ship)</a:t>
            </a:r>
            <a:endParaRPr lang="en-IN" dirty="0"/>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1703" y="1430434"/>
            <a:ext cx="2648742" cy="1955562"/>
          </a:xfrm>
          <a:prstGeom prst="rect">
            <a:avLst/>
          </a:prstGeom>
        </p:spPr>
      </p:pic>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48106" y="1435222"/>
            <a:ext cx="2842974" cy="1950774"/>
          </a:xfrm>
          <a:prstGeom prst="rect">
            <a:avLst/>
          </a:prstGeom>
        </p:spPr>
      </p:pic>
    </p:spTree>
    <p:extLst>
      <p:ext uri="{BB962C8B-B14F-4D97-AF65-F5344CB8AC3E}">
        <p14:creationId xmlns:p14="http://schemas.microsoft.com/office/powerpoint/2010/main" val="1461968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Work Done So Far</a:t>
            </a:r>
            <a:endParaRPr lang="en-US" sz="2933" dirty="0"/>
          </a:p>
        </p:txBody>
      </p:sp>
      <p:sp>
        <p:nvSpPr>
          <p:cNvPr id="15" name="Shape 13"/>
          <p:cNvSpPr/>
          <p:nvPr/>
        </p:nvSpPr>
        <p:spPr>
          <a:xfrm>
            <a:off x="256684" y="1006953"/>
            <a:ext cx="5547360" cy="2701856"/>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6" name="Shape 14"/>
          <p:cNvSpPr/>
          <p:nvPr/>
        </p:nvSpPr>
        <p:spPr>
          <a:xfrm>
            <a:off x="256684" y="1006953"/>
            <a:ext cx="101600" cy="2701856"/>
          </a:xfrm>
          <a:prstGeom prst="rect">
            <a:avLst/>
          </a:prstGeom>
          <a:solidFill>
            <a:srgbClr val="2196C4"/>
          </a:solidFill>
          <a:ln w="12700">
            <a:solidFill>
              <a:srgbClr val="2196C4"/>
            </a:solidFill>
            <a:prstDash val="solid"/>
          </a:ln>
        </p:spPr>
      </p:sp>
      <p:sp>
        <p:nvSpPr>
          <p:cNvPr id="17" name="Text 15"/>
          <p:cNvSpPr/>
          <p:nvPr/>
        </p:nvSpPr>
        <p:spPr>
          <a:xfrm>
            <a:off x="439564" y="1116680"/>
            <a:ext cx="463296" cy="510587"/>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902521" y="1116680"/>
            <a:ext cx="4791456" cy="510587"/>
          </a:xfrm>
          <a:prstGeom prst="rect">
            <a:avLst/>
          </a:prstGeom>
          <a:noFill/>
        </p:spPr>
        <p:txBody>
          <a:bodyPr wrap="square" lIns="0" tIns="0" rIns="0" bIns="0" rtlCol="0" anchor="ctr"/>
          <a:lstStyle/>
          <a:p>
            <a:r>
              <a:rPr lang="en-US" sz="1600" b="1" dirty="0">
                <a:solidFill>
                  <a:srgbClr val="1E1E1E"/>
                </a:solidFill>
                <a:latin typeface="Calibri" pitchFamily="34" charset="0"/>
                <a:ea typeface="Calibri" pitchFamily="34" charset="-122"/>
                <a:cs typeface="Calibri" pitchFamily="34" charset="-120"/>
              </a:rPr>
              <a:t>PLANET Pipeline Optimisation</a:t>
            </a:r>
          </a:p>
        </p:txBody>
      </p:sp>
      <p:sp>
        <p:nvSpPr>
          <p:cNvPr id="19" name="Text 17"/>
          <p:cNvSpPr/>
          <p:nvPr/>
        </p:nvSpPr>
        <p:spPr>
          <a:xfrm>
            <a:off x="666637" y="1864431"/>
            <a:ext cx="4226560" cy="986899"/>
          </a:xfrm>
          <a:prstGeom prst="rect">
            <a:avLst/>
          </a:prstGeom>
          <a:noFill/>
        </p:spPr>
        <p:txBody>
          <a:bodyPr wrap="square" lIns="0" tIns="0" rIns="0" bIns="0" rtlCol="0" anchor="ctr"/>
          <a:lstStyle/>
          <a:p>
            <a:pPr algn="just"/>
            <a:r>
              <a:rPr lang="en-US" sz="1867" dirty="0">
                <a:solidFill>
                  <a:srgbClr val="4A4A4A"/>
                </a:solidFill>
                <a:latin typeface="Calibri" pitchFamily="34" charset="0"/>
                <a:ea typeface="Calibri" pitchFamily="34" charset="-122"/>
                <a:cs typeface="Calibri" pitchFamily="34" charset="-120"/>
              </a:rPr>
              <a:t>Reduced daily processing from 3–4 hrs → 25 mins via parallel model inference &amp; full-RAM image processing.</a:t>
            </a:r>
            <a:endParaRPr lang="en-US" sz="1867" dirty="0"/>
          </a:p>
        </p:txBody>
      </p:sp>
      <p:sp>
        <p:nvSpPr>
          <p:cNvPr id="20" name="Shape 18"/>
          <p:cNvSpPr/>
          <p:nvPr/>
        </p:nvSpPr>
        <p:spPr>
          <a:xfrm>
            <a:off x="256684" y="4059574"/>
            <a:ext cx="5547360" cy="2352734"/>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21" name="Shape 19"/>
          <p:cNvSpPr/>
          <p:nvPr/>
        </p:nvSpPr>
        <p:spPr>
          <a:xfrm>
            <a:off x="256684" y="4059574"/>
            <a:ext cx="101600" cy="2352734"/>
          </a:xfrm>
          <a:prstGeom prst="rect">
            <a:avLst/>
          </a:prstGeom>
          <a:solidFill>
            <a:srgbClr val="2196C4"/>
          </a:solidFill>
          <a:ln w="12700">
            <a:solidFill>
              <a:srgbClr val="2196C4"/>
            </a:solidFill>
            <a:prstDash val="solid"/>
          </a:ln>
        </p:spPr>
      </p:sp>
      <p:sp>
        <p:nvSpPr>
          <p:cNvPr id="22" name="Text 20"/>
          <p:cNvSpPr/>
          <p:nvPr/>
        </p:nvSpPr>
        <p:spPr>
          <a:xfrm>
            <a:off x="439733" y="4260740"/>
            <a:ext cx="463296" cy="463889"/>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890837" y="4260740"/>
            <a:ext cx="4791456" cy="463889"/>
          </a:xfrm>
          <a:prstGeom prst="rect">
            <a:avLst/>
          </a:prstGeom>
          <a:noFill/>
        </p:spPr>
        <p:txBody>
          <a:bodyPr wrap="square" lIns="0" tIns="0" rIns="0" bIns="0" rtlCol="0" anchor="ctr"/>
          <a:lstStyle/>
          <a:p>
            <a:r>
              <a:rPr lang="en-US" sz="1600" b="1" dirty="0">
                <a:solidFill>
                  <a:srgbClr val="1E1E1E"/>
                </a:solidFill>
                <a:latin typeface="Calibri" pitchFamily="34" charset="0"/>
                <a:ea typeface="Calibri" pitchFamily="34" charset="-122"/>
                <a:cs typeface="Calibri" pitchFamily="34" charset="-120"/>
              </a:rPr>
              <a:t>AIS Decoder Pipeline</a:t>
            </a:r>
            <a:endParaRPr lang="en-US" sz="1600" dirty="0"/>
          </a:p>
        </p:txBody>
      </p:sp>
      <p:sp>
        <p:nvSpPr>
          <p:cNvPr id="24" name="Text 22"/>
          <p:cNvSpPr/>
          <p:nvPr/>
        </p:nvSpPr>
        <p:spPr>
          <a:xfrm>
            <a:off x="591964" y="4846127"/>
            <a:ext cx="4876800" cy="896638"/>
          </a:xfrm>
          <a:prstGeom prst="rect">
            <a:avLst/>
          </a:prstGeom>
          <a:noFill/>
        </p:spPr>
        <p:txBody>
          <a:bodyPr wrap="square" lIns="0" tIns="0" rIns="0" bIns="0" rtlCol="0" anchor="ctr"/>
          <a:lstStyle/>
          <a:p>
            <a:pPr algn="just"/>
            <a:r>
              <a:rPr lang="en-US" sz="1867" dirty="0">
                <a:solidFill>
                  <a:srgbClr val="4A4A4A"/>
                </a:solidFill>
                <a:latin typeface="Calibri" pitchFamily="34" charset="0"/>
                <a:ea typeface="Calibri" pitchFamily="34" charset="-122"/>
                <a:cs typeface="Calibri" pitchFamily="34" charset="-120"/>
              </a:rPr>
              <a:t>Master-worker architecture; 10 files/3 min vs 1 file/10 min. Integrates DGLL data. Supports up to 32 workers.</a:t>
            </a:r>
            <a:endParaRPr lang="en-US" sz="1867" dirty="0"/>
          </a:p>
        </p:txBody>
      </p:sp>
      <p:sp>
        <p:nvSpPr>
          <p:cNvPr id="25" name="Shape 13"/>
          <p:cNvSpPr/>
          <p:nvPr/>
        </p:nvSpPr>
        <p:spPr>
          <a:xfrm>
            <a:off x="6061766" y="1006953"/>
            <a:ext cx="5547360" cy="2701856"/>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26" name="Shape 14"/>
          <p:cNvSpPr/>
          <p:nvPr/>
        </p:nvSpPr>
        <p:spPr>
          <a:xfrm>
            <a:off x="6062169" y="1006953"/>
            <a:ext cx="123520" cy="2701856"/>
          </a:xfrm>
          <a:prstGeom prst="rect">
            <a:avLst/>
          </a:prstGeom>
          <a:solidFill>
            <a:srgbClr val="2196C4"/>
          </a:solidFill>
          <a:ln w="12700">
            <a:solidFill>
              <a:srgbClr val="2196C4"/>
            </a:solidFill>
            <a:prstDash val="solid"/>
          </a:ln>
        </p:spPr>
      </p:sp>
      <p:sp>
        <p:nvSpPr>
          <p:cNvPr id="4" name="TextBox 3"/>
          <p:cNvSpPr txBox="1"/>
          <p:nvPr/>
        </p:nvSpPr>
        <p:spPr>
          <a:xfrm>
            <a:off x="6381052" y="1015149"/>
            <a:ext cx="4970352" cy="2585323"/>
          </a:xfrm>
          <a:prstGeom prst="rect">
            <a:avLst/>
          </a:prstGeom>
          <a:noFill/>
        </p:spPr>
        <p:txBody>
          <a:bodyPr wrap="square" rtlCol="0">
            <a:spAutoFit/>
          </a:bodyPr>
          <a:lstStyle/>
          <a:p>
            <a:pPr marL="342900" indent="-342900">
              <a:buAutoNum type="arabicPeriod"/>
            </a:pPr>
            <a:r>
              <a:rPr lang="en-US" dirty="0"/>
              <a:t>Using Producer-Consumer Architecture to modularize the Re-projection/Classification and master csv generation for PLANET imagery.</a:t>
            </a:r>
          </a:p>
          <a:p>
            <a:pPr marL="342900" indent="-342900">
              <a:buAutoNum type="arabicPeriod"/>
            </a:pPr>
            <a:r>
              <a:rPr lang="en-US" dirty="0"/>
              <a:t>Switching from ‘</a:t>
            </a:r>
            <a:r>
              <a:rPr lang="en-US" dirty="0" err="1"/>
              <a:t>tensorflow</a:t>
            </a:r>
            <a:r>
              <a:rPr lang="en-US" dirty="0"/>
              <a:t>’ to ‘</a:t>
            </a:r>
            <a:r>
              <a:rPr lang="en-US" dirty="0" err="1"/>
              <a:t>pytorch</a:t>
            </a:r>
            <a:r>
              <a:rPr lang="en-US" dirty="0"/>
              <a:t>’ for flexibility and better inference of classification model.</a:t>
            </a:r>
          </a:p>
          <a:p>
            <a:pPr marL="342900" indent="-342900">
              <a:buAutoNum type="arabicPeriod"/>
            </a:pPr>
            <a:r>
              <a:rPr lang="en-US" dirty="0"/>
              <a:t>Proper Utilization of Server Compute to reduce time taken for per day PLANET imagery from 3-4 hrs to 25-30 </a:t>
            </a:r>
            <a:r>
              <a:rPr lang="en-US" dirty="0" err="1"/>
              <a:t>mins</a:t>
            </a:r>
            <a:endParaRPr lang="en-US" dirty="0"/>
          </a:p>
        </p:txBody>
      </p:sp>
      <p:sp>
        <p:nvSpPr>
          <p:cNvPr id="27" name="Shape 13"/>
          <p:cNvSpPr/>
          <p:nvPr/>
        </p:nvSpPr>
        <p:spPr>
          <a:xfrm>
            <a:off x="6061766" y="4059574"/>
            <a:ext cx="5597991" cy="2352734"/>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28" name="Shape 14"/>
          <p:cNvSpPr/>
          <p:nvPr/>
        </p:nvSpPr>
        <p:spPr>
          <a:xfrm>
            <a:off x="6061766" y="4059574"/>
            <a:ext cx="123923" cy="2352734"/>
          </a:xfrm>
          <a:prstGeom prst="rect">
            <a:avLst/>
          </a:prstGeom>
          <a:solidFill>
            <a:srgbClr val="2196C4"/>
          </a:solidFill>
          <a:ln w="12700">
            <a:solidFill>
              <a:srgbClr val="2196C4"/>
            </a:solidFill>
            <a:prstDash val="solid"/>
          </a:ln>
        </p:spPr>
      </p:sp>
      <p:sp>
        <p:nvSpPr>
          <p:cNvPr id="29" name="TextBox 28"/>
          <p:cNvSpPr txBox="1"/>
          <p:nvPr/>
        </p:nvSpPr>
        <p:spPr>
          <a:xfrm>
            <a:off x="6431683" y="4103984"/>
            <a:ext cx="4970352" cy="2308324"/>
          </a:xfrm>
          <a:prstGeom prst="rect">
            <a:avLst/>
          </a:prstGeom>
          <a:noFill/>
        </p:spPr>
        <p:txBody>
          <a:bodyPr wrap="square" rtlCol="0">
            <a:spAutoFit/>
          </a:bodyPr>
          <a:lstStyle/>
          <a:p>
            <a:pPr marL="342900" indent="-342900">
              <a:buAutoNum type="arabicPeriod"/>
            </a:pPr>
            <a:r>
              <a:rPr lang="en-US" dirty="0"/>
              <a:t>Replaced Outdated AIS decoder to Latest maintained AIS decoder for better decoding accuracy.</a:t>
            </a:r>
          </a:p>
          <a:p>
            <a:pPr marL="342900" indent="-342900">
              <a:buAutoNum type="arabicPeriod"/>
            </a:pPr>
            <a:r>
              <a:rPr lang="en-US" dirty="0"/>
              <a:t>Used Master-worker architecture for parallel decoding to 15+ encrypted files at once.</a:t>
            </a:r>
          </a:p>
          <a:p>
            <a:pPr marL="342900" indent="-342900">
              <a:buAutoNum type="arabicPeriod"/>
            </a:pPr>
            <a:r>
              <a:rPr lang="en-US" dirty="0"/>
              <a:t>Included DGLL encrypted files in same pipeline to boost time taken from 1 file/10 min to 10 files/3 </a:t>
            </a:r>
            <a:r>
              <a:rPr lang="en-US" dirty="0" err="1"/>
              <a:t>mins</a:t>
            </a:r>
            <a:endParaRPr lang="en-IN" dirty="0"/>
          </a:p>
        </p:txBody>
      </p:sp>
    </p:spTree>
    <p:extLst>
      <p:ext uri="{BB962C8B-B14F-4D97-AF65-F5344CB8AC3E}">
        <p14:creationId xmlns:p14="http://schemas.microsoft.com/office/powerpoint/2010/main" val="505520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Impact &amp; Achievements</a:t>
            </a:r>
            <a:endParaRPr lang="en-US" sz="2933" dirty="0"/>
          </a:p>
        </p:txBody>
      </p:sp>
      <p:sp>
        <p:nvSpPr>
          <p:cNvPr id="5" name="Text 3"/>
          <p:cNvSpPr/>
          <p:nvPr/>
        </p:nvSpPr>
        <p:spPr>
          <a:xfrm>
            <a:off x="548640" y="999744"/>
            <a:ext cx="10972800" cy="341376"/>
          </a:xfrm>
          <a:prstGeom prst="rect">
            <a:avLst/>
          </a:prstGeom>
          <a:noFill/>
        </p:spPr>
        <p:txBody>
          <a:bodyPr wrap="square" lIns="0" tIns="0" rIns="0" bIns="0" rtlCol="0" anchor="ctr"/>
          <a:lstStyle/>
          <a:p>
            <a:r>
              <a:rPr lang="en-US" sz="1200" b="1" kern="0" spc="267" dirty="0">
                <a:solidFill>
                  <a:srgbClr val="2196C4"/>
                </a:solidFill>
              </a:rPr>
              <a:t>KEY METRICS</a:t>
            </a:r>
            <a:endParaRPr lang="en-US" sz="1200" dirty="0"/>
          </a:p>
        </p:txBody>
      </p:sp>
      <p:sp>
        <p:nvSpPr>
          <p:cNvPr id="6" name="Shape 4"/>
          <p:cNvSpPr/>
          <p:nvPr/>
        </p:nvSpPr>
        <p:spPr>
          <a:xfrm>
            <a:off x="548640" y="1365504"/>
            <a:ext cx="2438400" cy="0"/>
          </a:xfrm>
          <a:prstGeom prst="line">
            <a:avLst/>
          </a:prstGeom>
          <a:noFill/>
          <a:ln w="19050">
            <a:solidFill>
              <a:srgbClr val="2196C4"/>
            </a:solidFill>
            <a:prstDash val="solid"/>
          </a:ln>
        </p:spPr>
      </p:sp>
      <p:sp>
        <p:nvSpPr>
          <p:cNvPr id="7" name="Text 5"/>
          <p:cNvSpPr/>
          <p:nvPr/>
        </p:nvSpPr>
        <p:spPr>
          <a:xfrm>
            <a:off x="548640" y="1438656"/>
            <a:ext cx="2682240" cy="877824"/>
          </a:xfrm>
          <a:prstGeom prst="rect">
            <a:avLst/>
          </a:prstGeom>
          <a:noFill/>
        </p:spPr>
        <p:txBody>
          <a:bodyPr wrap="square" lIns="0" tIns="0" rIns="0" bIns="0" rtlCol="0" anchor="ctr"/>
          <a:lstStyle/>
          <a:p>
            <a:r>
              <a:rPr lang="en-US" sz="5867" b="1" dirty="0">
                <a:solidFill>
                  <a:srgbClr val="111111"/>
                </a:solidFill>
                <a:latin typeface="Calibri" pitchFamily="34" charset="0"/>
                <a:ea typeface="Calibri" pitchFamily="34" charset="-122"/>
                <a:cs typeface="Calibri" pitchFamily="34" charset="-120"/>
              </a:rPr>
              <a:t>~9×</a:t>
            </a:r>
            <a:endParaRPr lang="en-US" sz="5867" dirty="0"/>
          </a:p>
        </p:txBody>
      </p:sp>
      <p:sp>
        <p:nvSpPr>
          <p:cNvPr id="8" name="Text 6"/>
          <p:cNvSpPr/>
          <p:nvPr/>
        </p:nvSpPr>
        <p:spPr>
          <a:xfrm>
            <a:off x="548640" y="2316480"/>
            <a:ext cx="2682240" cy="365760"/>
          </a:xfrm>
          <a:prstGeom prst="rect">
            <a:avLst/>
          </a:prstGeom>
          <a:noFill/>
        </p:spPr>
        <p:txBody>
          <a:bodyPr wrap="square" lIns="0" tIns="0" rIns="0" bIns="0" rtlCol="0" anchor="ctr"/>
          <a:lstStyle/>
          <a:p>
            <a:r>
              <a:rPr lang="en-US" sz="1333" dirty="0">
                <a:solidFill>
                  <a:srgbClr val="4A4A4A"/>
                </a:solidFill>
                <a:latin typeface="Calibri" pitchFamily="34" charset="0"/>
                <a:ea typeface="Calibri" pitchFamily="34" charset="-122"/>
                <a:cs typeface="Calibri" pitchFamily="34" charset="-120"/>
              </a:rPr>
              <a:t>PLANET Pipeline Speedup</a:t>
            </a:r>
            <a:endParaRPr lang="en-US" sz="1333" dirty="0"/>
          </a:p>
        </p:txBody>
      </p:sp>
      <p:sp>
        <p:nvSpPr>
          <p:cNvPr id="9" name="Shape 7"/>
          <p:cNvSpPr/>
          <p:nvPr/>
        </p:nvSpPr>
        <p:spPr>
          <a:xfrm>
            <a:off x="3450336" y="1365504"/>
            <a:ext cx="2438400" cy="0"/>
          </a:xfrm>
          <a:prstGeom prst="line">
            <a:avLst/>
          </a:prstGeom>
          <a:noFill/>
          <a:ln w="19050">
            <a:solidFill>
              <a:srgbClr val="2196C4"/>
            </a:solidFill>
            <a:prstDash val="solid"/>
          </a:ln>
        </p:spPr>
      </p:sp>
      <p:sp>
        <p:nvSpPr>
          <p:cNvPr id="10" name="Text 8"/>
          <p:cNvSpPr/>
          <p:nvPr/>
        </p:nvSpPr>
        <p:spPr>
          <a:xfrm>
            <a:off x="3450336" y="1438656"/>
            <a:ext cx="2682240" cy="877824"/>
          </a:xfrm>
          <a:prstGeom prst="rect">
            <a:avLst/>
          </a:prstGeom>
          <a:noFill/>
        </p:spPr>
        <p:txBody>
          <a:bodyPr wrap="square" lIns="0" tIns="0" rIns="0" bIns="0" rtlCol="0" anchor="ctr"/>
          <a:lstStyle/>
          <a:p>
            <a:r>
              <a:rPr lang="en-US" sz="5867" b="1" dirty="0">
                <a:solidFill>
                  <a:srgbClr val="111111"/>
                </a:solidFill>
                <a:latin typeface="Calibri" pitchFamily="34" charset="0"/>
                <a:ea typeface="Calibri" pitchFamily="34" charset="-122"/>
                <a:cs typeface="Calibri" pitchFamily="34" charset="-120"/>
              </a:rPr>
              <a:t>30</a:t>
            </a:r>
            <a:r>
              <a:rPr lang="en-US" sz="5333" b="1" dirty="0">
                <a:solidFill>
                  <a:srgbClr val="111111"/>
                </a:solidFill>
                <a:latin typeface="Calibri" pitchFamily="34" charset="0"/>
                <a:ea typeface="Calibri" pitchFamily="34" charset="-122"/>
                <a:cs typeface="Calibri" pitchFamily="34" charset="-120"/>
              </a:rPr>
              <a:t>×</a:t>
            </a:r>
            <a:endParaRPr lang="en-US" sz="5867" dirty="0"/>
          </a:p>
        </p:txBody>
      </p:sp>
      <p:sp>
        <p:nvSpPr>
          <p:cNvPr id="11" name="Text 9"/>
          <p:cNvSpPr/>
          <p:nvPr/>
        </p:nvSpPr>
        <p:spPr>
          <a:xfrm>
            <a:off x="3450336" y="2316480"/>
            <a:ext cx="2682240" cy="365760"/>
          </a:xfrm>
          <a:prstGeom prst="rect">
            <a:avLst/>
          </a:prstGeom>
          <a:noFill/>
        </p:spPr>
        <p:txBody>
          <a:bodyPr wrap="square" lIns="0" tIns="0" rIns="0" bIns="0" rtlCol="0" anchor="ctr"/>
          <a:lstStyle/>
          <a:p>
            <a:r>
              <a:rPr lang="en-US" sz="1333" dirty="0">
                <a:solidFill>
                  <a:srgbClr val="4A4A4A"/>
                </a:solidFill>
                <a:latin typeface="Calibri" pitchFamily="34" charset="0"/>
                <a:ea typeface="Calibri" pitchFamily="34" charset="-122"/>
                <a:cs typeface="Calibri" pitchFamily="34" charset="-120"/>
              </a:rPr>
              <a:t>AIS Decoder Throughput</a:t>
            </a:r>
            <a:endParaRPr lang="en-US" sz="1333" dirty="0"/>
          </a:p>
        </p:txBody>
      </p:sp>
      <p:sp>
        <p:nvSpPr>
          <p:cNvPr id="12" name="Shape 10"/>
          <p:cNvSpPr/>
          <p:nvPr/>
        </p:nvSpPr>
        <p:spPr>
          <a:xfrm>
            <a:off x="6352032" y="1365504"/>
            <a:ext cx="2438400" cy="0"/>
          </a:xfrm>
          <a:prstGeom prst="line">
            <a:avLst/>
          </a:prstGeom>
          <a:noFill/>
          <a:ln w="19050">
            <a:solidFill>
              <a:srgbClr val="2196C4"/>
            </a:solidFill>
            <a:prstDash val="solid"/>
          </a:ln>
        </p:spPr>
      </p:sp>
      <p:sp>
        <p:nvSpPr>
          <p:cNvPr id="13" name="Text 11"/>
          <p:cNvSpPr/>
          <p:nvPr/>
        </p:nvSpPr>
        <p:spPr>
          <a:xfrm>
            <a:off x="6352032" y="1438656"/>
            <a:ext cx="2682240" cy="877824"/>
          </a:xfrm>
          <a:prstGeom prst="rect">
            <a:avLst/>
          </a:prstGeom>
          <a:noFill/>
        </p:spPr>
        <p:txBody>
          <a:bodyPr wrap="square" lIns="0" tIns="0" rIns="0" bIns="0" rtlCol="0" anchor="ctr"/>
          <a:lstStyle/>
          <a:p>
            <a:r>
              <a:rPr lang="en-US" sz="5867" b="1" dirty="0">
                <a:solidFill>
                  <a:srgbClr val="111111"/>
                </a:solidFill>
                <a:latin typeface="Calibri" pitchFamily="34" charset="0"/>
                <a:ea typeface="Calibri" pitchFamily="34" charset="-122"/>
                <a:cs typeface="Calibri" pitchFamily="34" charset="-120"/>
              </a:rPr>
              <a:t>3</a:t>
            </a:r>
            <a:endParaRPr lang="en-US" sz="5867" dirty="0"/>
          </a:p>
        </p:txBody>
      </p:sp>
      <p:sp>
        <p:nvSpPr>
          <p:cNvPr id="14" name="Text 12"/>
          <p:cNvSpPr/>
          <p:nvPr/>
        </p:nvSpPr>
        <p:spPr>
          <a:xfrm>
            <a:off x="6352032" y="2316480"/>
            <a:ext cx="2682240" cy="365760"/>
          </a:xfrm>
          <a:prstGeom prst="rect">
            <a:avLst/>
          </a:prstGeom>
          <a:noFill/>
        </p:spPr>
        <p:txBody>
          <a:bodyPr wrap="square" lIns="0" tIns="0" rIns="0" bIns="0" rtlCol="0" anchor="ctr"/>
          <a:lstStyle/>
          <a:p>
            <a:r>
              <a:rPr lang="en-US" sz="1333" dirty="0">
                <a:solidFill>
                  <a:srgbClr val="4A4A4A"/>
                </a:solidFill>
                <a:latin typeface="Calibri" pitchFamily="34" charset="0"/>
                <a:ea typeface="Calibri" pitchFamily="34" charset="-122"/>
                <a:cs typeface="Calibri" pitchFamily="34" charset="-120"/>
              </a:rPr>
              <a:t>Pipelines Optimised</a:t>
            </a:r>
            <a:endParaRPr lang="en-US" sz="1333" dirty="0"/>
          </a:p>
        </p:txBody>
      </p:sp>
      <p:sp>
        <p:nvSpPr>
          <p:cNvPr id="15" name="Shape 13"/>
          <p:cNvSpPr/>
          <p:nvPr/>
        </p:nvSpPr>
        <p:spPr>
          <a:xfrm>
            <a:off x="9253728" y="1365504"/>
            <a:ext cx="2438400" cy="0"/>
          </a:xfrm>
          <a:prstGeom prst="line">
            <a:avLst/>
          </a:prstGeom>
          <a:noFill/>
          <a:ln w="19050">
            <a:solidFill>
              <a:srgbClr val="2196C4"/>
            </a:solidFill>
            <a:prstDash val="solid"/>
          </a:ln>
        </p:spPr>
      </p:sp>
      <p:sp>
        <p:nvSpPr>
          <p:cNvPr id="16" name="Text 14"/>
          <p:cNvSpPr/>
          <p:nvPr/>
        </p:nvSpPr>
        <p:spPr>
          <a:xfrm>
            <a:off x="9253728" y="1438656"/>
            <a:ext cx="2682240" cy="877824"/>
          </a:xfrm>
          <a:prstGeom prst="rect">
            <a:avLst/>
          </a:prstGeom>
          <a:noFill/>
        </p:spPr>
        <p:txBody>
          <a:bodyPr wrap="square" lIns="0" tIns="0" rIns="0" bIns="0" rtlCol="0" anchor="ctr"/>
          <a:lstStyle/>
          <a:p>
            <a:r>
              <a:rPr lang="" altLang="en-US" sz="5867" dirty="0"/>
              <a:t>4</a:t>
            </a:r>
          </a:p>
        </p:txBody>
      </p:sp>
      <p:sp>
        <p:nvSpPr>
          <p:cNvPr id="17" name="Text 15"/>
          <p:cNvSpPr/>
          <p:nvPr/>
        </p:nvSpPr>
        <p:spPr>
          <a:xfrm>
            <a:off x="9253728" y="2316480"/>
            <a:ext cx="2682240" cy="365760"/>
          </a:xfrm>
          <a:prstGeom prst="rect">
            <a:avLst/>
          </a:prstGeom>
          <a:noFill/>
        </p:spPr>
        <p:txBody>
          <a:bodyPr wrap="square" lIns="0" tIns="0" rIns="0" bIns="0" rtlCol="0" anchor="ctr"/>
          <a:lstStyle/>
          <a:p>
            <a:r>
              <a:rPr lang="en-US" sz="1333" dirty="0">
                <a:solidFill>
                  <a:srgbClr val="4A4A4A"/>
                </a:solidFill>
                <a:latin typeface="Calibri" pitchFamily="34" charset="0"/>
                <a:ea typeface="Calibri" pitchFamily="34" charset="-122"/>
                <a:cs typeface="Calibri" pitchFamily="34" charset="-120"/>
              </a:rPr>
              <a:t>GT Datasets Annotated</a:t>
            </a:r>
            <a:endParaRPr lang="en-US" sz="1333" dirty="0"/>
          </a:p>
        </p:txBody>
      </p:sp>
      <p:sp>
        <p:nvSpPr>
          <p:cNvPr id="18" name="Shape 16"/>
          <p:cNvSpPr/>
          <p:nvPr/>
        </p:nvSpPr>
        <p:spPr>
          <a:xfrm>
            <a:off x="548640" y="2901696"/>
            <a:ext cx="11094720" cy="0"/>
          </a:xfrm>
          <a:prstGeom prst="line">
            <a:avLst/>
          </a:prstGeom>
          <a:noFill/>
          <a:ln w="9525">
            <a:solidFill>
              <a:srgbClr val="D8E8F0"/>
            </a:solidFill>
            <a:prstDash val="solid"/>
          </a:ln>
        </p:spPr>
      </p:sp>
      <p:sp>
        <p:nvSpPr>
          <p:cNvPr id="19" name="Text 17"/>
          <p:cNvSpPr/>
          <p:nvPr/>
        </p:nvSpPr>
        <p:spPr>
          <a:xfrm>
            <a:off x="548640" y="3048000"/>
            <a:ext cx="10972800" cy="341376"/>
          </a:xfrm>
          <a:prstGeom prst="rect">
            <a:avLst/>
          </a:prstGeom>
          <a:noFill/>
        </p:spPr>
        <p:txBody>
          <a:bodyPr wrap="square" lIns="0" tIns="0" rIns="0" bIns="0" rtlCol="0" anchor="ctr"/>
          <a:lstStyle/>
          <a:p>
            <a:r>
              <a:rPr lang="en-US" sz="1200" b="1" kern="0" spc="267" dirty="0">
                <a:solidFill>
                  <a:srgbClr val="2196C4"/>
                </a:solidFill>
              </a:rPr>
              <a:t>HIGHLIGHTS</a:t>
            </a:r>
            <a:endParaRPr lang="en-US" sz="1200" dirty="0"/>
          </a:p>
        </p:txBody>
      </p:sp>
      <p:sp>
        <p:nvSpPr>
          <p:cNvPr id="20" name="Shape 18"/>
          <p:cNvSpPr/>
          <p:nvPr/>
        </p:nvSpPr>
        <p:spPr>
          <a:xfrm>
            <a:off x="548640" y="3657600"/>
            <a:ext cx="219456" cy="0"/>
          </a:xfrm>
          <a:prstGeom prst="line">
            <a:avLst/>
          </a:prstGeom>
          <a:noFill/>
          <a:ln w="25400">
            <a:solidFill>
              <a:srgbClr val="2196C4"/>
            </a:solidFill>
            <a:prstDash val="solid"/>
          </a:ln>
        </p:spPr>
      </p:sp>
      <p:sp>
        <p:nvSpPr>
          <p:cNvPr id="21" name="Text 19"/>
          <p:cNvSpPr/>
          <p:nvPr/>
        </p:nvSpPr>
        <p:spPr>
          <a:xfrm>
            <a:off x="926592" y="3486912"/>
            <a:ext cx="10728960" cy="426720"/>
          </a:xfrm>
          <a:prstGeom prst="rect">
            <a:avLst/>
          </a:prstGeom>
          <a:noFill/>
        </p:spPr>
        <p:txBody>
          <a:bodyPr wrap="square" lIns="0" tIns="0" rIns="0" bIns="0" rtlCol="0" anchor="ctr"/>
          <a:lstStyle/>
          <a:p>
            <a:r>
              <a:rPr lang="en-US" sz="1467" dirty="0">
                <a:solidFill>
                  <a:srgbClr val="1E1E1E"/>
                </a:solidFill>
                <a:latin typeface="Calibri" pitchFamily="34" charset="0"/>
                <a:ea typeface="Calibri" pitchFamily="34" charset="-122"/>
                <a:cs typeface="Calibri" pitchFamily="34" charset="-120"/>
              </a:rPr>
              <a:t>PLANET pipeline: 3–4 hours  →  25 minutes per day via parallel inference &amp; full-RAM I/O</a:t>
            </a:r>
            <a:endParaRPr lang="en-US" sz="1467" dirty="0"/>
          </a:p>
        </p:txBody>
      </p:sp>
      <p:sp>
        <p:nvSpPr>
          <p:cNvPr id="22" name="Shape 20"/>
          <p:cNvSpPr/>
          <p:nvPr/>
        </p:nvSpPr>
        <p:spPr>
          <a:xfrm>
            <a:off x="548640" y="4255008"/>
            <a:ext cx="219456" cy="0"/>
          </a:xfrm>
          <a:prstGeom prst="line">
            <a:avLst/>
          </a:prstGeom>
          <a:noFill/>
          <a:ln w="25400">
            <a:solidFill>
              <a:srgbClr val="2196C4"/>
            </a:solidFill>
            <a:prstDash val="solid"/>
          </a:ln>
        </p:spPr>
      </p:sp>
      <p:sp>
        <p:nvSpPr>
          <p:cNvPr id="23" name="Text 21"/>
          <p:cNvSpPr/>
          <p:nvPr/>
        </p:nvSpPr>
        <p:spPr>
          <a:xfrm>
            <a:off x="926592" y="4084320"/>
            <a:ext cx="10728960" cy="426720"/>
          </a:xfrm>
          <a:prstGeom prst="rect">
            <a:avLst/>
          </a:prstGeom>
          <a:noFill/>
        </p:spPr>
        <p:txBody>
          <a:bodyPr wrap="square" lIns="0" tIns="0" rIns="0" bIns="0" rtlCol="0" anchor="ctr"/>
          <a:lstStyle/>
          <a:p>
            <a:r>
              <a:rPr lang="en-US" sz="1467" dirty="0">
                <a:solidFill>
                  <a:srgbClr val="1E1E1E"/>
                </a:solidFill>
                <a:latin typeface="Calibri" pitchFamily="34" charset="0"/>
                <a:ea typeface="Calibri" pitchFamily="34" charset="-122"/>
                <a:cs typeface="Calibri" pitchFamily="34" charset="-120"/>
              </a:rPr>
              <a:t>AIS decoder: 10 min/file  →  10 files/3 min; supports up to 32 parallel workers with updated decoder</a:t>
            </a:r>
            <a:endParaRPr lang="en-US" sz="1467" dirty="0"/>
          </a:p>
        </p:txBody>
      </p:sp>
      <p:sp>
        <p:nvSpPr>
          <p:cNvPr id="24" name="Shape 22"/>
          <p:cNvSpPr/>
          <p:nvPr/>
        </p:nvSpPr>
        <p:spPr>
          <a:xfrm>
            <a:off x="548640" y="4852416"/>
            <a:ext cx="219456" cy="0"/>
          </a:xfrm>
          <a:prstGeom prst="line">
            <a:avLst/>
          </a:prstGeom>
          <a:noFill/>
          <a:ln w="25400">
            <a:solidFill>
              <a:srgbClr val="2196C4"/>
            </a:solidFill>
            <a:prstDash val="solid"/>
          </a:ln>
        </p:spPr>
      </p:sp>
      <p:sp>
        <p:nvSpPr>
          <p:cNvPr id="25" name="Text 23"/>
          <p:cNvSpPr/>
          <p:nvPr/>
        </p:nvSpPr>
        <p:spPr>
          <a:xfrm>
            <a:off x="926592" y="4681728"/>
            <a:ext cx="10728960" cy="426720"/>
          </a:xfrm>
          <a:prstGeom prst="rect">
            <a:avLst/>
          </a:prstGeom>
          <a:noFill/>
        </p:spPr>
        <p:txBody>
          <a:bodyPr wrap="square" lIns="0" tIns="0" rIns="0" bIns="0" rtlCol="0" anchor="ctr"/>
          <a:lstStyle/>
          <a:p>
            <a:r>
              <a:rPr lang="en-US" sz="1467" dirty="0">
                <a:solidFill>
                  <a:srgbClr val="1E1E1E"/>
                </a:solidFill>
                <a:latin typeface="Calibri" pitchFamily="34" charset="0"/>
                <a:ea typeface="Calibri" pitchFamily="34" charset="-122"/>
                <a:cs typeface="Calibri" pitchFamily="34" charset="-120"/>
              </a:rPr>
              <a:t>Unified DGLL + AIS handling in a single pipeline, eliminating a separate legacy workflow</a:t>
            </a:r>
            <a:endParaRPr lang="en-US" sz="1467" dirty="0"/>
          </a:p>
        </p:txBody>
      </p:sp>
      <p:sp>
        <p:nvSpPr>
          <p:cNvPr id="26" name="Shape 24"/>
          <p:cNvSpPr/>
          <p:nvPr/>
        </p:nvSpPr>
        <p:spPr>
          <a:xfrm>
            <a:off x="548640" y="5449824"/>
            <a:ext cx="219456" cy="0"/>
          </a:xfrm>
          <a:prstGeom prst="line">
            <a:avLst/>
          </a:prstGeom>
          <a:noFill/>
          <a:ln w="25400">
            <a:solidFill>
              <a:srgbClr val="2196C4"/>
            </a:solidFill>
            <a:prstDash val="solid"/>
          </a:ln>
        </p:spPr>
      </p:sp>
      <p:sp>
        <p:nvSpPr>
          <p:cNvPr id="27" name="Text 25"/>
          <p:cNvSpPr/>
          <p:nvPr/>
        </p:nvSpPr>
        <p:spPr>
          <a:xfrm>
            <a:off x="926592" y="5279136"/>
            <a:ext cx="10728960" cy="426720"/>
          </a:xfrm>
          <a:prstGeom prst="rect">
            <a:avLst/>
          </a:prstGeom>
          <a:noFill/>
        </p:spPr>
        <p:txBody>
          <a:bodyPr wrap="square" lIns="0" tIns="0" rIns="0" bIns="0" rtlCol="0" anchor="ctr"/>
          <a:lstStyle/>
          <a:p>
            <a:r>
              <a:rPr lang="en-US" sz="1467" dirty="0">
                <a:solidFill>
                  <a:srgbClr val="1E1E1E"/>
                </a:solidFill>
                <a:latin typeface="Calibri" pitchFamily="34" charset="0"/>
                <a:ea typeface="Calibri" pitchFamily="34" charset="-122"/>
                <a:cs typeface="Calibri" pitchFamily="34" charset="-120"/>
              </a:rPr>
              <a:t>Delivered annotated GT for AIGC PS09 across SAR, EO, and PLANET image types</a:t>
            </a:r>
            <a:endParaRPr lang="en-US" sz="1467" dirty="0"/>
          </a:p>
        </p:txBody>
      </p:sp>
      <p:sp>
        <p:nvSpPr>
          <p:cNvPr id="28" name="Shape 26"/>
          <p:cNvSpPr/>
          <p:nvPr/>
        </p:nvSpPr>
        <p:spPr>
          <a:xfrm>
            <a:off x="548640" y="6047232"/>
            <a:ext cx="219456" cy="0"/>
          </a:xfrm>
          <a:prstGeom prst="line">
            <a:avLst/>
          </a:prstGeom>
          <a:noFill/>
          <a:ln w="25400">
            <a:solidFill>
              <a:srgbClr val="2196C4"/>
            </a:solidFill>
            <a:prstDash val="solid"/>
          </a:ln>
        </p:spPr>
      </p:sp>
      <p:sp>
        <p:nvSpPr>
          <p:cNvPr id="29" name="Text 27"/>
          <p:cNvSpPr/>
          <p:nvPr/>
        </p:nvSpPr>
        <p:spPr>
          <a:xfrm>
            <a:off x="926592" y="5876544"/>
            <a:ext cx="10728960" cy="426720"/>
          </a:xfrm>
          <a:prstGeom prst="rect">
            <a:avLst/>
          </a:prstGeom>
          <a:noFill/>
        </p:spPr>
        <p:txBody>
          <a:bodyPr wrap="square" lIns="0" tIns="0" rIns="0" bIns="0" rtlCol="0" anchor="ctr"/>
          <a:lstStyle/>
          <a:p>
            <a:r>
              <a:rPr lang="en-US" sz="1467" dirty="0">
                <a:solidFill>
                  <a:srgbClr val="1E1E1E"/>
                </a:solidFill>
                <a:latin typeface="Calibri" pitchFamily="34" charset="0"/>
                <a:ea typeface="Calibri" pitchFamily="34" charset="-122"/>
                <a:cs typeface="Calibri" pitchFamily="34" charset="-120"/>
              </a:rPr>
              <a:t>Automated ICE-EYE download workflow, removing all manual intervention</a:t>
            </a:r>
            <a:endParaRPr lang="en-US" sz="1467" dirty="0"/>
          </a:p>
        </p:txBody>
      </p:sp>
    </p:spTree>
    <p:extLst>
      <p:ext uri="{BB962C8B-B14F-4D97-AF65-F5344CB8AC3E}">
        <p14:creationId xmlns:p14="http://schemas.microsoft.com/office/powerpoint/2010/main" val="1916634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72813"/>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Impact and Plan</a:t>
            </a:r>
            <a:endParaRPr lang="en-US" sz="2933" dirty="0"/>
          </a:p>
        </p:txBody>
      </p:sp>
      <p:sp>
        <p:nvSpPr>
          <p:cNvPr id="5" name="Shape 3"/>
          <p:cNvSpPr/>
          <p:nvPr/>
        </p:nvSpPr>
        <p:spPr>
          <a:xfrm>
            <a:off x="302387" y="1008055"/>
            <a:ext cx="1721273" cy="1316567"/>
          </a:xfrm>
          <a:prstGeom prst="rect">
            <a:avLst/>
          </a:prstGeom>
          <a:solidFill>
            <a:srgbClr val="111111"/>
          </a:solidFill>
          <a:ln w="12700">
            <a:solidFill>
              <a:srgbClr val="111111"/>
            </a:solidFill>
            <a:prstDash val="solid"/>
          </a:ln>
        </p:spPr>
      </p:sp>
      <p:sp>
        <p:nvSpPr>
          <p:cNvPr id="6" name="Text 4"/>
          <p:cNvSpPr/>
          <p:nvPr/>
        </p:nvSpPr>
        <p:spPr>
          <a:xfrm>
            <a:off x="220598" y="1166719"/>
            <a:ext cx="1804416" cy="999744"/>
          </a:xfrm>
          <a:prstGeom prst="rect">
            <a:avLst/>
          </a:prstGeom>
          <a:noFill/>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PLANET</a:t>
            </a:r>
            <a:endParaRPr lang="en-US" sz="1467" dirty="0"/>
          </a:p>
          <a:p>
            <a:pPr algn="ctr"/>
            <a:r>
              <a:rPr lang="en-US" sz="1467" b="1" dirty="0">
                <a:solidFill>
                  <a:srgbClr val="FFFFFF"/>
                </a:solidFill>
                <a:latin typeface="Calibri" pitchFamily="34" charset="0"/>
                <a:ea typeface="Calibri" pitchFamily="34" charset="-122"/>
                <a:cs typeface="Calibri" pitchFamily="34" charset="-120"/>
              </a:rPr>
              <a:t>Imagery</a:t>
            </a:r>
            <a:endParaRPr lang="en-US" sz="1467" dirty="0"/>
          </a:p>
        </p:txBody>
      </p:sp>
      <p:sp>
        <p:nvSpPr>
          <p:cNvPr id="8" name="Shape 6"/>
          <p:cNvSpPr/>
          <p:nvPr/>
        </p:nvSpPr>
        <p:spPr>
          <a:xfrm>
            <a:off x="2228722" y="1861494"/>
            <a:ext cx="341376" cy="0"/>
          </a:xfrm>
          <a:prstGeom prst="line">
            <a:avLst/>
          </a:prstGeom>
          <a:noFill/>
          <a:ln w="25400">
            <a:solidFill>
              <a:srgbClr val="2196C4"/>
            </a:solidFill>
            <a:prstDash val="solid"/>
          </a:ln>
        </p:spPr>
      </p:sp>
      <p:sp>
        <p:nvSpPr>
          <p:cNvPr id="9" name="Text 7"/>
          <p:cNvSpPr/>
          <p:nvPr/>
        </p:nvSpPr>
        <p:spPr>
          <a:xfrm>
            <a:off x="2484754" y="1690806"/>
            <a:ext cx="243840" cy="341376"/>
          </a:xfrm>
          <a:prstGeom prst="rect">
            <a:avLst/>
          </a:prstGeom>
          <a:noFill/>
        </p:spPr>
        <p:txBody>
          <a:bodyPr wrap="square" lIns="0" tIns="0" rIns="0" bIns="0" rtlCol="0" anchor="ctr"/>
          <a:lstStyle/>
          <a:p>
            <a:r>
              <a:rPr lang="en-US" sz="1467" dirty="0">
                <a:solidFill>
                  <a:srgbClr val="2196C4"/>
                </a:solidFill>
              </a:rPr>
              <a:t>▶</a:t>
            </a:r>
            <a:endParaRPr lang="en-US" sz="1467" dirty="0"/>
          </a:p>
        </p:txBody>
      </p:sp>
      <p:sp>
        <p:nvSpPr>
          <p:cNvPr id="10" name="Shape 8"/>
          <p:cNvSpPr/>
          <p:nvPr/>
        </p:nvSpPr>
        <p:spPr>
          <a:xfrm>
            <a:off x="2679826" y="1008055"/>
            <a:ext cx="1657773" cy="1468967"/>
          </a:xfrm>
          <a:prstGeom prst="rect">
            <a:avLst/>
          </a:prstGeom>
          <a:solidFill>
            <a:schemeClr val="accent1"/>
          </a:solidFill>
          <a:ln w="12700">
            <a:solidFill>
              <a:srgbClr val="111111"/>
            </a:solidFill>
            <a:prstDash val="solid"/>
          </a:ln>
        </p:spPr>
      </p:sp>
      <p:sp>
        <p:nvSpPr>
          <p:cNvPr id="11" name="Text 9"/>
          <p:cNvSpPr/>
          <p:nvPr/>
        </p:nvSpPr>
        <p:spPr>
          <a:xfrm>
            <a:off x="2680165" y="1242919"/>
            <a:ext cx="1804416" cy="999744"/>
          </a:xfrm>
          <a:prstGeom prst="rect">
            <a:avLst/>
          </a:prstGeom>
          <a:noFill/>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Optimised</a:t>
            </a:r>
            <a:endParaRPr lang="en-US" sz="1467" dirty="0"/>
          </a:p>
          <a:p>
            <a:pPr algn="ctr"/>
            <a:r>
              <a:rPr lang="en-US" sz="1467" b="1" dirty="0">
                <a:solidFill>
                  <a:srgbClr val="FFFFFF"/>
                </a:solidFill>
                <a:latin typeface="Calibri" pitchFamily="34" charset="0"/>
                <a:ea typeface="Calibri" pitchFamily="34" charset="-122"/>
                <a:cs typeface="Calibri" pitchFamily="34" charset="-120"/>
              </a:rPr>
              <a:t>PLANET</a:t>
            </a:r>
            <a:endParaRPr lang="en-US" sz="1467" dirty="0"/>
          </a:p>
          <a:p>
            <a:pPr algn="ctr"/>
            <a:r>
              <a:rPr lang="en-US" sz="1467" b="1" dirty="0">
                <a:solidFill>
                  <a:srgbClr val="FFFFFF"/>
                </a:solidFill>
                <a:latin typeface="Calibri" pitchFamily="34" charset="0"/>
                <a:ea typeface="Calibri" pitchFamily="34" charset="-122"/>
                <a:cs typeface="Calibri" pitchFamily="34" charset="-120"/>
              </a:rPr>
              <a:t>Pipeline</a:t>
            </a:r>
            <a:endParaRPr lang="en-US" sz="1467" dirty="0"/>
          </a:p>
        </p:txBody>
      </p:sp>
      <p:sp>
        <p:nvSpPr>
          <p:cNvPr id="13" name="Shape 11"/>
          <p:cNvSpPr/>
          <p:nvPr/>
        </p:nvSpPr>
        <p:spPr>
          <a:xfrm>
            <a:off x="4585842" y="1861494"/>
            <a:ext cx="341376" cy="0"/>
          </a:xfrm>
          <a:prstGeom prst="line">
            <a:avLst/>
          </a:prstGeom>
          <a:noFill/>
          <a:ln w="25400">
            <a:solidFill>
              <a:srgbClr val="2196C4"/>
            </a:solidFill>
            <a:prstDash val="solid"/>
          </a:ln>
        </p:spPr>
      </p:sp>
      <p:sp>
        <p:nvSpPr>
          <p:cNvPr id="14" name="Text 12"/>
          <p:cNvSpPr/>
          <p:nvPr/>
        </p:nvSpPr>
        <p:spPr>
          <a:xfrm>
            <a:off x="4973954" y="1690806"/>
            <a:ext cx="243840" cy="341376"/>
          </a:xfrm>
          <a:prstGeom prst="rect">
            <a:avLst/>
          </a:prstGeom>
          <a:noFill/>
        </p:spPr>
        <p:txBody>
          <a:bodyPr wrap="square" lIns="0" tIns="0" rIns="0" bIns="0" rtlCol="0" anchor="ctr"/>
          <a:lstStyle/>
          <a:p>
            <a:r>
              <a:rPr lang="en-US" sz="1467" dirty="0">
                <a:solidFill>
                  <a:srgbClr val="2196C4"/>
                </a:solidFill>
              </a:rPr>
              <a:t>▶</a:t>
            </a:r>
            <a:endParaRPr lang="en-US" sz="1467" dirty="0"/>
          </a:p>
        </p:txBody>
      </p:sp>
      <p:sp>
        <p:nvSpPr>
          <p:cNvPr id="16" name="Text 14"/>
          <p:cNvSpPr/>
          <p:nvPr/>
        </p:nvSpPr>
        <p:spPr>
          <a:xfrm>
            <a:off x="5130418" y="1325046"/>
            <a:ext cx="1804416" cy="999744"/>
          </a:xfrm>
          <a:prstGeom prst="rect">
            <a:avLst/>
          </a:prstGeom>
          <a:noFill/>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AIS</a:t>
            </a:r>
            <a:endParaRPr lang="en-US" sz="1467" dirty="0"/>
          </a:p>
          <a:p>
            <a:pPr algn="ctr"/>
            <a:r>
              <a:rPr lang="en-US" sz="1467" b="1" dirty="0">
                <a:solidFill>
                  <a:srgbClr val="FFFFFF"/>
                </a:solidFill>
                <a:latin typeface="Calibri" pitchFamily="34" charset="0"/>
                <a:ea typeface="Calibri" pitchFamily="34" charset="-122"/>
                <a:cs typeface="Calibri" pitchFamily="34" charset="-120"/>
              </a:rPr>
              <a:t>Decoder</a:t>
            </a:r>
            <a:endParaRPr lang="en-US" sz="1467" dirty="0"/>
          </a:p>
          <a:p>
            <a:pPr algn="ctr"/>
            <a:r>
              <a:rPr lang="en-US" sz="1467" b="1" dirty="0">
                <a:solidFill>
                  <a:srgbClr val="FFFFFF"/>
                </a:solidFill>
                <a:latin typeface="Calibri" pitchFamily="34" charset="0"/>
                <a:ea typeface="Calibri" pitchFamily="34" charset="-122"/>
                <a:cs typeface="Calibri" pitchFamily="34" charset="-120"/>
              </a:rPr>
              <a:t>Pipeline</a:t>
            </a:r>
            <a:endParaRPr lang="en-US" sz="1467" dirty="0"/>
          </a:p>
        </p:txBody>
      </p:sp>
      <p:sp>
        <p:nvSpPr>
          <p:cNvPr id="18" name="Shape 16"/>
          <p:cNvSpPr/>
          <p:nvPr/>
        </p:nvSpPr>
        <p:spPr>
          <a:xfrm>
            <a:off x="4717922" y="1861494"/>
            <a:ext cx="341376" cy="0"/>
          </a:xfrm>
          <a:prstGeom prst="line">
            <a:avLst/>
          </a:prstGeom>
          <a:noFill/>
          <a:ln w="25400">
            <a:solidFill>
              <a:srgbClr val="2196C4"/>
            </a:solidFill>
            <a:prstDash val="solid"/>
          </a:ln>
        </p:spPr>
      </p:sp>
      <p:sp>
        <p:nvSpPr>
          <p:cNvPr id="20" name="Shape 18"/>
          <p:cNvSpPr/>
          <p:nvPr/>
        </p:nvSpPr>
        <p:spPr>
          <a:xfrm>
            <a:off x="5205433" y="1008055"/>
            <a:ext cx="1546860" cy="1468967"/>
          </a:xfrm>
          <a:prstGeom prst="rect">
            <a:avLst/>
          </a:prstGeom>
          <a:solidFill>
            <a:srgbClr val="E6F4FB"/>
          </a:solidFill>
          <a:ln w="25400">
            <a:solidFill>
              <a:srgbClr val="2196C4"/>
            </a:solidFill>
            <a:prstDash val="solid"/>
          </a:ln>
        </p:spPr>
      </p:sp>
      <p:sp>
        <p:nvSpPr>
          <p:cNvPr id="21" name="Shape 19"/>
          <p:cNvSpPr/>
          <p:nvPr/>
        </p:nvSpPr>
        <p:spPr>
          <a:xfrm>
            <a:off x="6424802" y="1093398"/>
            <a:ext cx="536448" cy="243840"/>
          </a:xfrm>
          <a:prstGeom prst="rect">
            <a:avLst/>
          </a:prstGeom>
          <a:solidFill>
            <a:srgbClr val="2196C4"/>
          </a:solidFill>
          <a:ln w="12700">
            <a:solidFill>
              <a:srgbClr val="2196C4"/>
            </a:solidFill>
            <a:prstDash val="solid"/>
          </a:ln>
        </p:spPr>
      </p:sp>
      <p:sp>
        <p:nvSpPr>
          <p:cNvPr id="22" name="Text 20"/>
          <p:cNvSpPr/>
          <p:nvPr/>
        </p:nvSpPr>
        <p:spPr>
          <a:xfrm>
            <a:off x="6424802" y="1093398"/>
            <a:ext cx="536448" cy="243840"/>
          </a:xfrm>
          <a:prstGeom prst="rect">
            <a:avLst/>
          </a:prstGeom>
          <a:noFill/>
        </p:spPr>
        <p:txBody>
          <a:bodyPr wrap="square" lIns="0" tIns="0" rIns="0" bIns="0" rtlCol="0" anchor="ctr"/>
          <a:lstStyle/>
          <a:p>
            <a:pPr algn="ctr"/>
            <a:r>
              <a:rPr lang="en-US" sz="1067" b="1" dirty="0">
                <a:solidFill>
                  <a:srgbClr val="FFFFFF"/>
                </a:solidFill>
              </a:rPr>
              <a:t>WIP</a:t>
            </a:r>
            <a:endParaRPr lang="en-US" sz="1067" dirty="0"/>
          </a:p>
        </p:txBody>
      </p:sp>
      <p:sp>
        <p:nvSpPr>
          <p:cNvPr id="23" name="Text 21"/>
          <p:cNvSpPr/>
          <p:nvPr/>
        </p:nvSpPr>
        <p:spPr>
          <a:xfrm>
            <a:off x="5108405" y="1242919"/>
            <a:ext cx="1804416" cy="999744"/>
          </a:xfrm>
          <a:prstGeom prst="rect">
            <a:avLst/>
          </a:prstGeom>
          <a:noFill/>
        </p:spPr>
        <p:txBody>
          <a:bodyPr wrap="square" lIns="0" tIns="0" rIns="0" bIns="0" rtlCol="0" anchor="ctr"/>
          <a:lstStyle/>
          <a:p>
            <a:pPr algn="ctr"/>
            <a:r>
              <a:rPr lang="en-US" sz="1467" b="1" dirty="0">
                <a:solidFill>
                  <a:srgbClr val="1E1E1E"/>
                </a:solidFill>
                <a:latin typeface="Calibri" pitchFamily="34" charset="0"/>
                <a:ea typeface="Calibri" pitchFamily="34" charset="-122"/>
                <a:cs typeface="Calibri" pitchFamily="34" charset="-120"/>
              </a:rPr>
              <a:t>Data</a:t>
            </a:r>
            <a:endParaRPr lang="en-US" sz="1467" dirty="0"/>
          </a:p>
          <a:p>
            <a:pPr algn="ctr"/>
            <a:r>
              <a:rPr lang="en-US" sz="1467" b="1" dirty="0">
                <a:solidFill>
                  <a:srgbClr val="1E1E1E"/>
                </a:solidFill>
                <a:latin typeface="Calibri" pitchFamily="34" charset="0"/>
                <a:ea typeface="Calibri" pitchFamily="34" charset="-122"/>
                <a:cs typeface="Calibri" pitchFamily="34" charset="-120"/>
              </a:rPr>
              <a:t>Ingestion</a:t>
            </a:r>
            <a:endParaRPr lang="en-US" sz="1467" dirty="0"/>
          </a:p>
          <a:p>
            <a:pPr algn="ctr"/>
            <a:r>
              <a:rPr lang="en-US" sz="1467" b="1" dirty="0">
                <a:solidFill>
                  <a:srgbClr val="1E1E1E"/>
                </a:solidFill>
                <a:latin typeface="Calibri" pitchFamily="34" charset="0"/>
                <a:ea typeface="Calibri" pitchFamily="34" charset="-122"/>
                <a:cs typeface="Calibri" pitchFamily="34" charset="-120"/>
              </a:rPr>
              <a:t>(WIP)</a:t>
            </a:r>
            <a:endParaRPr lang="en-US" sz="1467" dirty="0"/>
          </a:p>
        </p:txBody>
      </p:sp>
      <p:sp>
        <p:nvSpPr>
          <p:cNvPr id="24" name="Text 22"/>
          <p:cNvSpPr/>
          <p:nvPr/>
        </p:nvSpPr>
        <p:spPr>
          <a:xfrm>
            <a:off x="5108066" y="2968934"/>
            <a:ext cx="1950720" cy="341376"/>
          </a:xfrm>
          <a:prstGeom prst="rect">
            <a:avLst/>
          </a:prstGeom>
          <a:noFill/>
        </p:spPr>
        <p:txBody>
          <a:bodyPr wrap="square" lIns="0" tIns="0" rIns="0" bIns="0" rtlCol="0" anchor="ctr"/>
          <a:lstStyle/>
          <a:p>
            <a:pPr algn="ctr"/>
            <a:endParaRPr lang="" altLang="en-US" sz="1200" dirty="0"/>
          </a:p>
        </p:txBody>
      </p:sp>
      <p:sp>
        <p:nvSpPr>
          <p:cNvPr id="25" name="Shape 23"/>
          <p:cNvSpPr/>
          <p:nvPr/>
        </p:nvSpPr>
        <p:spPr>
          <a:xfrm>
            <a:off x="7044562" y="1861494"/>
            <a:ext cx="341376" cy="0"/>
          </a:xfrm>
          <a:prstGeom prst="line">
            <a:avLst/>
          </a:prstGeom>
          <a:noFill/>
          <a:ln w="25400">
            <a:solidFill>
              <a:srgbClr val="2196C4"/>
            </a:solidFill>
            <a:prstDash val="solid"/>
          </a:ln>
        </p:spPr>
      </p:sp>
      <p:sp>
        <p:nvSpPr>
          <p:cNvPr id="26" name="Text 24"/>
          <p:cNvSpPr/>
          <p:nvPr/>
        </p:nvSpPr>
        <p:spPr>
          <a:xfrm>
            <a:off x="7290434" y="1690806"/>
            <a:ext cx="243840" cy="341376"/>
          </a:xfrm>
          <a:prstGeom prst="rect">
            <a:avLst/>
          </a:prstGeom>
          <a:noFill/>
        </p:spPr>
        <p:txBody>
          <a:bodyPr wrap="square" lIns="0" tIns="0" rIns="0" bIns="0" rtlCol="0" anchor="ctr"/>
          <a:lstStyle/>
          <a:p>
            <a:r>
              <a:rPr lang="en-US" sz="1467" dirty="0">
                <a:solidFill>
                  <a:srgbClr val="2196C4"/>
                </a:solidFill>
              </a:rPr>
              <a:t>▶</a:t>
            </a:r>
            <a:endParaRPr lang="en-US" sz="1467" dirty="0"/>
          </a:p>
        </p:txBody>
      </p:sp>
      <p:sp>
        <p:nvSpPr>
          <p:cNvPr id="27" name="Shape 25"/>
          <p:cNvSpPr/>
          <p:nvPr/>
        </p:nvSpPr>
        <p:spPr>
          <a:xfrm>
            <a:off x="7485506" y="1008055"/>
            <a:ext cx="1671320" cy="1468967"/>
          </a:xfrm>
          <a:prstGeom prst="rect">
            <a:avLst/>
          </a:prstGeom>
          <a:solidFill>
            <a:srgbClr val="111111"/>
          </a:solidFill>
          <a:ln w="12700">
            <a:solidFill>
              <a:srgbClr val="111111"/>
            </a:solidFill>
            <a:prstDash val="solid"/>
          </a:ln>
        </p:spPr>
      </p:sp>
      <p:sp>
        <p:nvSpPr>
          <p:cNvPr id="28" name="Text 26"/>
          <p:cNvSpPr/>
          <p:nvPr/>
        </p:nvSpPr>
        <p:spPr>
          <a:xfrm>
            <a:off x="7521913" y="1242582"/>
            <a:ext cx="1598507" cy="999913"/>
          </a:xfrm>
          <a:prstGeom prst="rect">
            <a:avLst/>
          </a:prstGeom>
          <a:noFill/>
        </p:spPr>
        <p:txBody>
          <a:bodyPr wrap="square" lIns="0" tIns="0" rIns="0" bIns="0" rtlCol="0" anchor="ctr"/>
          <a:lstStyle/>
          <a:p>
            <a:pPr algn="ctr"/>
            <a:r>
              <a:rPr lang="" altLang="en-US" sz="1467" b="1" dirty="0">
                <a:solidFill>
                  <a:srgbClr val="FFFFFF"/>
                </a:solidFill>
                <a:latin typeface="Calibri" pitchFamily="34" charset="0"/>
                <a:ea typeface="Calibri" pitchFamily="34" charset="-122"/>
                <a:cs typeface="Calibri" pitchFamily="34" charset="-120"/>
              </a:rPr>
              <a:t>Visually published data</a:t>
            </a:r>
            <a:endParaRPr lang="" altLang="en-US" sz="1467" dirty="0"/>
          </a:p>
        </p:txBody>
      </p:sp>
      <p:sp>
        <p:nvSpPr>
          <p:cNvPr id="40" name="Text Box 39"/>
          <p:cNvSpPr txBox="1"/>
          <p:nvPr/>
        </p:nvSpPr>
        <p:spPr>
          <a:xfrm>
            <a:off x="3972687" y="2601482"/>
            <a:ext cx="1660313" cy="297454"/>
          </a:xfrm>
          <a:prstGeom prst="rect">
            <a:avLst/>
          </a:prstGeom>
          <a:noFill/>
        </p:spPr>
        <p:txBody>
          <a:bodyPr wrap="square" rtlCol="0">
            <a:spAutoFit/>
          </a:bodyPr>
          <a:lstStyle/>
          <a:p>
            <a:r>
              <a:rPr lang="" altLang="en-US" sz="1333"/>
              <a:t>Seaweb Pipeline</a:t>
            </a:r>
          </a:p>
        </p:txBody>
      </p:sp>
      <p:sp>
        <p:nvSpPr>
          <p:cNvPr id="62" name="Shape 3"/>
          <p:cNvSpPr/>
          <p:nvPr/>
        </p:nvSpPr>
        <p:spPr>
          <a:xfrm>
            <a:off x="349800" y="3036667"/>
            <a:ext cx="1545167" cy="1315720"/>
          </a:xfrm>
          <a:prstGeom prst="rect">
            <a:avLst/>
          </a:prstGeom>
          <a:solidFill>
            <a:srgbClr val="111111"/>
          </a:solidFill>
          <a:ln w="12700">
            <a:solidFill>
              <a:srgbClr val="111111"/>
            </a:solidFill>
            <a:prstDash val="solid"/>
          </a:ln>
        </p:spPr>
      </p:sp>
      <p:sp>
        <p:nvSpPr>
          <p:cNvPr id="63" name="Text 4"/>
          <p:cNvSpPr/>
          <p:nvPr/>
        </p:nvSpPr>
        <p:spPr>
          <a:xfrm>
            <a:off x="220598" y="3194486"/>
            <a:ext cx="1804416" cy="999744"/>
          </a:xfrm>
          <a:prstGeom prst="rect">
            <a:avLst/>
          </a:prstGeom>
          <a:noFill/>
        </p:spPr>
        <p:txBody>
          <a:bodyPr wrap="square" lIns="0" tIns="0" rIns="0" bIns="0" rtlCol="0" anchor="ctr"/>
          <a:lstStyle/>
          <a:p>
            <a:pPr algn="ctr"/>
            <a:r>
              <a:rPr lang="" altLang="en-US" sz="1467" b="1" dirty="0">
                <a:solidFill>
                  <a:srgbClr val="FFFFFF"/>
                </a:solidFill>
                <a:latin typeface="Calibri" pitchFamily="34" charset="0"/>
                <a:ea typeface="Calibri" pitchFamily="34" charset="-122"/>
                <a:cs typeface="Calibri" pitchFamily="34" charset="-120"/>
              </a:rPr>
              <a:t>Incoming Encrypted AIS data</a:t>
            </a:r>
          </a:p>
        </p:txBody>
      </p:sp>
      <p:sp>
        <p:nvSpPr>
          <p:cNvPr id="64" name="Shape 6"/>
          <p:cNvSpPr/>
          <p:nvPr/>
        </p:nvSpPr>
        <p:spPr>
          <a:xfrm>
            <a:off x="2228722" y="3890107"/>
            <a:ext cx="341376" cy="0"/>
          </a:xfrm>
          <a:prstGeom prst="line">
            <a:avLst/>
          </a:prstGeom>
          <a:noFill/>
          <a:ln w="25400">
            <a:solidFill>
              <a:srgbClr val="2196C4"/>
            </a:solidFill>
            <a:prstDash val="solid"/>
          </a:ln>
        </p:spPr>
      </p:sp>
      <p:sp>
        <p:nvSpPr>
          <p:cNvPr id="65" name="Text 7"/>
          <p:cNvSpPr/>
          <p:nvPr/>
        </p:nvSpPr>
        <p:spPr>
          <a:xfrm>
            <a:off x="2532167" y="3719419"/>
            <a:ext cx="243840" cy="341376"/>
          </a:xfrm>
          <a:prstGeom prst="rect">
            <a:avLst/>
          </a:prstGeom>
          <a:noFill/>
        </p:spPr>
        <p:txBody>
          <a:bodyPr wrap="square" lIns="0" tIns="0" rIns="0" bIns="0" rtlCol="0" anchor="ctr"/>
          <a:lstStyle/>
          <a:p>
            <a:r>
              <a:rPr lang="en-US" sz="1467" dirty="0">
                <a:solidFill>
                  <a:srgbClr val="2196C4"/>
                </a:solidFill>
              </a:rPr>
              <a:t>▶</a:t>
            </a:r>
            <a:endParaRPr lang="en-US" sz="1467" dirty="0"/>
          </a:p>
        </p:txBody>
      </p:sp>
      <p:sp>
        <p:nvSpPr>
          <p:cNvPr id="66" name="Shape 8"/>
          <p:cNvSpPr/>
          <p:nvPr/>
        </p:nvSpPr>
        <p:spPr>
          <a:xfrm>
            <a:off x="2728933" y="3036667"/>
            <a:ext cx="1412240" cy="1315720"/>
          </a:xfrm>
          <a:prstGeom prst="rect">
            <a:avLst/>
          </a:prstGeom>
          <a:solidFill>
            <a:schemeClr val="accent1"/>
          </a:solidFill>
          <a:ln w="12700">
            <a:solidFill>
              <a:srgbClr val="111111"/>
            </a:solidFill>
            <a:prstDash val="solid"/>
          </a:ln>
        </p:spPr>
      </p:sp>
      <p:sp>
        <p:nvSpPr>
          <p:cNvPr id="67" name="Text 9"/>
          <p:cNvSpPr/>
          <p:nvPr/>
        </p:nvSpPr>
        <p:spPr>
          <a:xfrm>
            <a:off x="2533691" y="3195333"/>
            <a:ext cx="1804416" cy="999744"/>
          </a:xfrm>
          <a:prstGeom prst="rect">
            <a:avLst/>
          </a:prstGeom>
          <a:noFill/>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Optimised</a:t>
            </a:r>
            <a:endParaRPr lang="en-US" sz="1467" dirty="0"/>
          </a:p>
          <a:p>
            <a:pPr algn="ctr"/>
            <a:r>
              <a:rPr lang="" altLang="en-US" sz="1467" b="1" dirty="0">
                <a:solidFill>
                  <a:srgbClr val="FFFFFF"/>
                </a:solidFill>
                <a:latin typeface="Calibri" pitchFamily="34" charset="0"/>
                <a:ea typeface="Calibri" pitchFamily="34" charset="-122"/>
                <a:cs typeface="Calibri" pitchFamily="34" charset="-120"/>
              </a:rPr>
              <a:t>AIS</a:t>
            </a:r>
            <a:endParaRPr lang="en-US" sz="1467" dirty="0"/>
          </a:p>
          <a:p>
            <a:pPr algn="ctr"/>
            <a:r>
              <a:rPr lang="" altLang="en-US" sz="1467" b="1" dirty="0">
                <a:solidFill>
                  <a:srgbClr val="FFFFFF"/>
                </a:solidFill>
                <a:latin typeface="Calibri" pitchFamily="34" charset="0"/>
                <a:ea typeface="Calibri" pitchFamily="34" charset="-122"/>
                <a:cs typeface="Calibri" pitchFamily="34" charset="-120"/>
              </a:rPr>
              <a:t>Decoder</a:t>
            </a:r>
          </a:p>
        </p:txBody>
      </p:sp>
      <p:sp>
        <p:nvSpPr>
          <p:cNvPr id="68" name="Shape 11"/>
          <p:cNvSpPr/>
          <p:nvPr/>
        </p:nvSpPr>
        <p:spPr>
          <a:xfrm>
            <a:off x="4633255" y="3890107"/>
            <a:ext cx="341376" cy="0"/>
          </a:xfrm>
          <a:prstGeom prst="line">
            <a:avLst/>
          </a:prstGeom>
          <a:noFill/>
          <a:ln w="25400">
            <a:solidFill>
              <a:srgbClr val="2196C4"/>
            </a:solidFill>
            <a:prstDash val="solid"/>
          </a:ln>
        </p:spPr>
      </p:sp>
      <p:sp>
        <p:nvSpPr>
          <p:cNvPr id="69" name="Text 12"/>
          <p:cNvSpPr/>
          <p:nvPr/>
        </p:nvSpPr>
        <p:spPr>
          <a:xfrm>
            <a:off x="5051847" y="3719419"/>
            <a:ext cx="243840" cy="341376"/>
          </a:xfrm>
          <a:prstGeom prst="rect">
            <a:avLst/>
          </a:prstGeom>
          <a:noFill/>
        </p:spPr>
        <p:txBody>
          <a:bodyPr wrap="square" lIns="0" tIns="0" rIns="0" bIns="0" rtlCol="0" anchor="ctr"/>
          <a:lstStyle/>
          <a:p>
            <a:r>
              <a:rPr lang="en-US" sz="1467" dirty="0">
                <a:solidFill>
                  <a:srgbClr val="2196C4"/>
                </a:solidFill>
              </a:rPr>
              <a:t>▶</a:t>
            </a:r>
            <a:endParaRPr lang="en-US" sz="1467" dirty="0"/>
          </a:p>
        </p:txBody>
      </p:sp>
      <p:sp>
        <p:nvSpPr>
          <p:cNvPr id="70" name="Text 14"/>
          <p:cNvSpPr/>
          <p:nvPr/>
        </p:nvSpPr>
        <p:spPr>
          <a:xfrm>
            <a:off x="5177831" y="3353659"/>
            <a:ext cx="1804416" cy="999744"/>
          </a:xfrm>
          <a:prstGeom prst="rect">
            <a:avLst/>
          </a:prstGeom>
          <a:noFill/>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AIS</a:t>
            </a:r>
            <a:endParaRPr lang="en-US" sz="1467" dirty="0"/>
          </a:p>
          <a:p>
            <a:pPr algn="ctr"/>
            <a:r>
              <a:rPr lang="en-US" sz="1467" b="1" dirty="0">
                <a:solidFill>
                  <a:srgbClr val="FFFFFF"/>
                </a:solidFill>
                <a:latin typeface="Calibri" pitchFamily="34" charset="0"/>
                <a:ea typeface="Calibri" pitchFamily="34" charset="-122"/>
                <a:cs typeface="Calibri" pitchFamily="34" charset="-120"/>
              </a:rPr>
              <a:t>Decoder</a:t>
            </a:r>
            <a:endParaRPr lang="en-US" sz="1467" dirty="0"/>
          </a:p>
          <a:p>
            <a:pPr algn="ctr"/>
            <a:r>
              <a:rPr lang="en-US" sz="1467" b="1" dirty="0">
                <a:solidFill>
                  <a:srgbClr val="FFFFFF"/>
                </a:solidFill>
                <a:latin typeface="Calibri" pitchFamily="34" charset="0"/>
                <a:ea typeface="Calibri" pitchFamily="34" charset="-122"/>
                <a:cs typeface="Calibri" pitchFamily="34" charset="-120"/>
              </a:rPr>
              <a:t>Pipeline</a:t>
            </a:r>
            <a:endParaRPr lang="en-US" sz="1467" dirty="0"/>
          </a:p>
        </p:txBody>
      </p:sp>
      <p:sp>
        <p:nvSpPr>
          <p:cNvPr id="71" name="Shape 16"/>
          <p:cNvSpPr/>
          <p:nvPr/>
        </p:nvSpPr>
        <p:spPr>
          <a:xfrm>
            <a:off x="4704375" y="3890107"/>
            <a:ext cx="341376" cy="0"/>
          </a:xfrm>
          <a:prstGeom prst="line">
            <a:avLst/>
          </a:prstGeom>
          <a:noFill/>
          <a:ln w="25400">
            <a:solidFill>
              <a:srgbClr val="2196C4"/>
            </a:solidFill>
            <a:prstDash val="solid"/>
          </a:ln>
        </p:spPr>
      </p:sp>
      <p:sp>
        <p:nvSpPr>
          <p:cNvPr id="79" name="Shape 25"/>
          <p:cNvSpPr/>
          <p:nvPr/>
        </p:nvSpPr>
        <p:spPr>
          <a:xfrm>
            <a:off x="5409480" y="3036668"/>
            <a:ext cx="1655910" cy="1316567"/>
          </a:xfrm>
          <a:prstGeom prst="rect">
            <a:avLst/>
          </a:prstGeom>
          <a:solidFill>
            <a:srgbClr val="111111"/>
          </a:solidFill>
          <a:ln w="12700">
            <a:solidFill>
              <a:srgbClr val="111111"/>
            </a:solidFill>
            <a:prstDash val="solid"/>
          </a:ln>
        </p:spPr>
      </p:sp>
      <p:sp>
        <p:nvSpPr>
          <p:cNvPr id="80" name="Text 26"/>
          <p:cNvSpPr/>
          <p:nvPr/>
        </p:nvSpPr>
        <p:spPr>
          <a:xfrm>
            <a:off x="5360372" y="3203260"/>
            <a:ext cx="1804416" cy="999744"/>
          </a:xfrm>
          <a:prstGeom prst="rect">
            <a:avLst/>
          </a:prstGeom>
          <a:noFill/>
        </p:spPr>
        <p:txBody>
          <a:bodyPr wrap="square" lIns="0" tIns="0" rIns="0" bIns="0" rtlCol="0" anchor="ctr"/>
          <a:lstStyle/>
          <a:p>
            <a:pPr algn="ctr"/>
            <a:r>
              <a:rPr lang="" altLang="en-US" sz="1467" b="1" dirty="0">
                <a:solidFill>
                  <a:srgbClr val="FFFFFF"/>
                </a:solidFill>
                <a:latin typeface="Calibri" pitchFamily="34" charset="0"/>
                <a:ea typeface="Calibri" pitchFamily="34" charset="-122"/>
                <a:cs typeface="Calibri" pitchFamily="34" charset="-120"/>
              </a:rPr>
              <a:t>Verified Decoded </a:t>
            </a:r>
          </a:p>
          <a:p>
            <a:pPr algn="ctr"/>
            <a:r>
              <a:rPr lang="" altLang="en-US" sz="1467" b="1" dirty="0">
                <a:solidFill>
                  <a:srgbClr val="FFFFFF"/>
                </a:solidFill>
                <a:latin typeface="Calibri" pitchFamily="34" charset="0"/>
                <a:ea typeface="Calibri" pitchFamily="34" charset="-122"/>
                <a:cs typeface="Calibri" pitchFamily="34" charset="-120"/>
              </a:rPr>
              <a:t>AIS published</a:t>
            </a:r>
            <a:endParaRPr lang="" altLang="en-US" sz="1467" dirty="0"/>
          </a:p>
        </p:txBody>
      </p:sp>
      <p:sp>
        <p:nvSpPr>
          <p:cNvPr id="81" name="Text Box 80"/>
          <p:cNvSpPr txBox="1"/>
          <p:nvPr/>
        </p:nvSpPr>
        <p:spPr>
          <a:xfrm>
            <a:off x="4078519" y="4507328"/>
            <a:ext cx="1874520" cy="297454"/>
          </a:xfrm>
          <a:prstGeom prst="rect">
            <a:avLst/>
          </a:prstGeom>
          <a:noFill/>
        </p:spPr>
        <p:txBody>
          <a:bodyPr wrap="square" rtlCol="0">
            <a:spAutoFit/>
          </a:bodyPr>
          <a:lstStyle/>
          <a:p>
            <a:r>
              <a:rPr lang="" altLang="en-US" sz="1333"/>
              <a:t>Decoder</a:t>
            </a:r>
            <a:r>
              <a:rPr lang="en-US" altLang="en-US" sz="1333"/>
              <a:t> Pipeline</a:t>
            </a:r>
          </a:p>
        </p:txBody>
      </p:sp>
      <p:sp>
        <p:nvSpPr>
          <p:cNvPr id="4" name="TextBox 3"/>
          <p:cNvSpPr txBox="1"/>
          <p:nvPr/>
        </p:nvSpPr>
        <p:spPr>
          <a:xfrm>
            <a:off x="349800" y="4997513"/>
            <a:ext cx="9337408" cy="1477328"/>
          </a:xfrm>
          <a:prstGeom prst="rect">
            <a:avLst/>
          </a:prstGeom>
          <a:noFill/>
        </p:spPr>
        <p:txBody>
          <a:bodyPr wrap="square" rtlCol="0">
            <a:spAutoFit/>
          </a:bodyPr>
          <a:lstStyle/>
          <a:p>
            <a:r>
              <a:rPr lang="en-US" b="1" dirty="0"/>
              <a:t>Work </a:t>
            </a:r>
            <a:r>
              <a:rPr lang="en-US" b="1"/>
              <a:t>in Progress:</a:t>
            </a:r>
            <a:r>
              <a:rPr lang="en-US" dirty="0"/>
              <a:t/>
            </a:r>
            <a:br>
              <a:rPr lang="en-US" dirty="0"/>
            </a:br>
            <a:r>
              <a:rPr lang="en-US" dirty="0"/>
              <a:t/>
            </a:r>
            <a:br>
              <a:rPr lang="en-US" dirty="0"/>
            </a:br>
            <a:r>
              <a:rPr lang="en-US" dirty="0"/>
              <a:t>Plan to implement </a:t>
            </a:r>
            <a:r>
              <a:rPr lang="en-US" dirty="0" err="1"/>
              <a:t>MBTile</a:t>
            </a:r>
            <a:r>
              <a:rPr lang="en-US" dirty="0"/>
              <a:t> conversion with optimized SQLite ingestion to massively reduce conversion time.</a:t>
            </a:r>
            <a:br>
              <a:rPr lang="en-US" dirty="0"/>
            </a:br>
            <a:r>
              <a:rPr lang="en-US" dirty="0"/>
              <a:t>Predicted gain :- 3-4x less conversion time.</a:t>
            </a:r>
            <a:endParaRPr lang="en-IN" dirty="0"/>
          </a:p>
        </p:txBody>
      </p:sp>
    </p:spTree>
    <p:extLst>
      <p:ext uri="{BB962C8B-B14F-4D97-AF65-F5344CB8AC3E}">
        <p14:creationId xmlns:p14="http://schemas.microsoft.com/office/powerpoint/2010/main" val="1188873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Introduction and Problem Statement </a:t>
            </a:r>
            <a:endParaRPr lang="en-US" sz="2933" dirty="0"/>
          </a:p>
        </p:txBody>
      </p:sp>
      <p:sp>
        <p:nvSpPr>
          <p:cNvPr id="5" name="Shape 3"/>
          <p:cNvSpPr/>
          <p:nvPr/>
        </p:nvSpPr>
        <p:spPr>
          <a:xfrm>
            <a:off x="343708" y="3044286"/>
            <a:ext cx="11652133" cy="3591904"/>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286088" y="3044286"/>
            <a:ext cx="213409" cy="3591904"/>
          </a:xfrm>
          <a:prstGeom prst="rect">
            <a:avLst/>
          </a:prstGeom>
          <a:solidFill>
            <a:srgbClr val="2196C4"/>
          </a:solidFill>
          <a:ln w="12700">
            <a:solidFill>
              <a:srgbClr val="2196C4"/>
            </a:solidFill>
            <a:prstDash val="solid"/>
          </a:ln>
        </p:spPr>
      </p:sp>
      <p:sp>
        <p:nvSpPr>
          <p:cNvPr id="7" name="Text 5"/>
          <p:cNvSpPr/>
          <p:nvPr/>
        </p:nvSpPr>
        <p:spPr>
          <a:xfrm>
            <a:off x="670224" y="3734369"/>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01</a:t>
            </a:r>
            <a:endParaRPr lang="en-US" sz="2500" dirty="0"/>
          </a:p>
        </p:txBody>
      </p:sp>
      <p:sp>
        <p:nvSpPr>
          <p:cNvPr id="8" name="Text 6"/>
          <p:cNvSpPr/>
          <p:nvPr/>
        </p:nvSpPr>
        <p:spPr>
          <a:xfrm>
            <a:off x="1617760" y="3734369"/>
            <a:ext cx="10064369" cy="546633"/>
          </a:xfrm>
          <a:prstGeom prst="rect">
            <a:avLst/>
          </a:prstGeom>
          <a:noFill/>
        </p:spPr>
        <p:txBody>
          <a:bodyPr wrap="square" lIns="0" tIns="0" rIns="0" bIns="0" rtlCol="0" anchor="ctr"/>
          <a:lstStyle/>
          <a:p>
            <a:r>
              <a:rPr lang="en-US" sz="2500" b="1" dirty="0">
                <a:solidFill>
                  <a:srgbClr val="1E1E1E"/>
                </a:solidFill>
                <a:latin typeface="Calibri" pitchFamily="34" charset="0"/>
                <a:ea typeface="Calibri" pitchFamily="34" charset="-122"/>
                <a:cs typeface="Calibri" pitchFamily="34" charset="-120"/>
              </a:rPr>
              <a:t>Image Annotation for AIGC PS09 Stage III</a:t>
            </a:r>
            <a:endParaRPr lang="en-US" sz="2500" dirty="0"/>
          </a:p>
        </p:txBody>
      </p:sp>
      <p:sp>
        <p:nvSpPr>
          <p:cNvPr id="12" name="Text 10"/>
          <p:cNvSpPr/>
          <p:nvPr/>
        </p:nvSpPr>
        <p:spPr>
          <a:xfrm>
            <a:off x="670224" y="4485515"/>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02</a:t>
            </a:r>
            <a:endParaRPr lang="en-US" sz="2500" dirty="0"/>
          </a:p>
        </p:txBody>
      </p:sp>
      <p:sp>
        <p:nvSpPr>
          <p:cNvPr id="13" name="Text 11"/>
          <p:cNvSpPr/>
          <p:nvPr/>
        </p:nvSpPr>
        <p:spPr>
          <a:xfrm>
            <a:off x="1617760" y="4487937"/>
            <a:ext cx="10064369" cy="546633"/>
          </a:xfrm>
          <a:prstGeom prst="rect">
            <a:avLst/>
          </a:prstGeom>
          <a:noFill/>
        </p:spPr>
        <p:txBody>
          <a:bodyPr wrap="square" lIns="0" tIns="0" rIns="0" bIns="0" rtlCol="0" anchor="ctr"/>
          <a:lstStyle/>
          <a:p>
            <a:r>
              <a:rPr lang="en-US" sz="2500" b="1" dirty="0"/>
              <a:t>AIS Data Processing for Path Prediction and Interpolation</a:t>
            </a:r>
          </a:p>
        </p:txBody>
      </p:sp>
      <p:sp>
        <p:nvSpPr>
          <p:cNvPr id="17" name="Text 15"/>
          <p:cNvSpPr/>
          <p:nvPr/>
        </p:nvSpPr>
        <p:spPr>
          <a:xfrm>
            <a:off x="670224" y="5332199"/>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1643369" y="5252749"/>
            <a:ext cx="10064369" cy="546633"/>
          </a:xfrm>
          <a:prstGeom prst="rect">
            <a:avLst/>
          </a:prstGeom>
          <a:noFill/>
        </p:spPr>
        <p:txBody>
          <a:bodyPr wrap="square" lIns="0" tIns="0" rIns="0" bIns="0" rtlCol="0" anchor="ctr"/>
          <a:lstStyle/>
          <a:p>
            <a:r>
              <a:rPr lang="en-US" sz="2500" b="1" dirty="0">
                <a:solidFill>
                  <a:srgbClr val="1E1E1E"/>
                </a:solidFill>
                <a:latin typeface="Calibri" pitchFamily="34" charset="0"/>
                <a:ea typeface="Calibri" pitchFamily="34" charset="-122"/>
                <a:cs typeface="Calibri" pitchFamily="34" charset="-120"/>
              </a:rPr>
              <a:t>Evaluation Script for AIGC PS09 Stage III</a:t>
            </a:r>
          </a:p>
        </p:txBody>
      </p:sp>
      <p:sp>
        <p:nvSpPr>
          <p:cNvPr id="26" name="TextBox 25"/>
          <p:cNvSpPr txBox="1"/>
          <p:nvPr/>
        </p:nvSpPr>
        <p:spPr>
          <a:xfrm>
            <a:off x="286088" y="1050202"/>
            <a:ext cx="11709753" cy="1754326"/>
          </a:xfrm>
          <a:prstGeom prst="rect">
            <a:avLst/>
          </a:prstGeom>
          <a:noFill/>
        </p:spPr>
        <p:txBody>
          <a:bodyPr wrap="square" rtlCol="0">
            <a:spAutoFit/>
          </a:bodyPr>
          <a:lstStyle/>
          <a:p>
            <a:r>
              <a:rPr lang="en-US" sz="2400" dirty="0"/>
              <a:t>Name : </a:t>
            </a:r>
            <a:r>
              <a:rPr lang="en-US" sz="2400" dirty="0" err="1"/>
              <a:t>Shuddhabrota</a:t>
            </a:r>
            <a:r>
              <a:rPr lang="en-US" sz="2400" dirty="0"/>
              <a:t> Banerjee</a:t>
            </a:r>
          </a:p>
          <a:p>
            <a:r>
              <a:rPr lang="en-US" sz="2400" dirty="0"/>
              <a:t>College &amp; Branch : Delhi Technological University, </a:t>
            </a:r>
            <a:r>
              <a:rPr lang="en-US" sz="2400" dirty="0" err="1"/>
              <a:t>B.Tech</a:t>
            </a:r>
            <a:r>
              <a:rPr lang="en-US" sz="2400" dirty="0"/>
              <a:t>-CSE</a:t>
            </a:r>
            <a:endParaRPr lang="en-US" sz="2400" baseline="0" dirty="0"/>
          </a:p>
          <a:p>
            <a:r>
              <a:rPr lang="en-US" sz="2400" dirty="0"/>
              <a:t>Duration : 3 Months (Starting from 21 May 2026)</a:t>
            </a:r>
            <a:endParaRPr lang="en-US" sz="2400" baseline="0" dirty="0"/>
          </a:p>
          <a:p>
            <a:endParaRPr lang="en-IN" dirty="0"/>
          </a:p>
          <a:p>
            <a:endParaRPr lang="en-IN" dirty="0"/>
          </a:p>
        </p:txBody>
      </p:sp>
    </p:spTree>
    <p:extLst>
      <p:ext uri="{BB962C8B-B14F-4D97-AF65-F5344CB8AC3E}">
        <p14:creationId xmlns:p14="http://schemas.microsoft.com/office/powerpoint/2010/main" val="3893271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Work Done So Far &amp; Planned Work</a:t>
            </a:r>
            <a:endParaRPr lang="en-US" sz="2933" dirty="0"/>
          </a:p>
        </p:txBody>
      </p:sp>
      <p:sp>
        <p:nvSpPr>
          <p:cNvPr id="5" name="Shape 3"/>
          <p:cNvSpPr/>
          <p:nvPr/>
        </p:nvSpPr>
        <p:spPr>
          <a:xfrm>
            <a:off x="323988" y="1615274"/>
            <a:ext cx="5547360" cy="198628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323988" y="1615274"/>
            <a:ext cx="101600" cy="1986280"/>
          </a:xfrm>
          <a:prstGeom prst="rect">
            <a:avLst/>
          </a:prstGeom>
          <a:solidFill>
            <a:srgbClr val="2196C4"/>
          </a:solidFill>
          <a:ln w="12700">
            <a:solidFill>
              <a:srgbClr val="2196C4"/>
            </a:solidFill>
            <a:prstDash val="solid"/>
          </a:ln>
        </p:spPr>
      </p:sp>
      <p:sp>
        <p:nvSpPr>
          <p:cNvPr id="7" name="Text 5"/>
          <p:cNvSpPr/>
          <p:nvPr/>
        </p:nvSpPr>
        <p:spPr>
          <a:xfrm>
            <a:off x="506868" y="1724833"/>
            <a:ext cx="463296" cy="365760"/>
          </a:xfrm>
          <a:prstGeom prst="rect">
            <a:avLst/>
          </a:prstGeom>
          <a:noFill/>
        </p:spPr>
        <p:txBody>
          <a:bodyPr wrap="square" lIns="0" tIns="0" rIns="0" bIns="0" rtlCol="0" anchor="ctr"/>
          <a:lstStyle/>
          <a:p>
            <a:r>
              <a:rPr lang="en-US" sz="2000" b="1" dirty="0">
                <a:solidFill>
                  <a:srgbClr val="2196C4"/>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957972" y="1724833"/>
            <a:ext cx="4791456" cy="365760"/>
          </a:xfrm>
          <a:prstGeom prst="rect">
            <a:avLst/>
          </a:prstGeom>
          <a:noFill/>
        </p:spPr>
        <p:txBody>
          <a:bodyPr wrap="square" lIns="0" tIns="0" rIns="0" bIns="0" rtlCol="0" anchor="ctr"/>
          <a:lstStyle/>
          <a:p>
            <a:r>
              <a:rPr lang="en-US" sz="2000" b="1" dirty="0">
                <a:solidFill>
                  <a:srgbClr val="1E1E1E"/>
                </a:solidFill>
                <a:latin typeface="Calibri" pitchFamily="34" charset="0"/>
                <a:ea typeface="Calibri" pitchFamily="34" charset="-122"/>
                <a:cs typeface="Calibri" pitchFamily="34" charset="-120"/>
              </a:rPr>
              <a:t>Image Annotation for AIGC PS09 Stage III</a:t>
            </a:r>
            <a:endParaRPr lang="en-US" sz="2000" dirty="0"/>
          </a:p>
        </p:txBody>
      </p:sp>
      <p:sp>
        <p:nvSpPr>
          <p:cNvPr id="9" name="Text 7"/>
          <p:cNvSpPr/>
          <p:nvPr/>
        </p:nvSpPr>
        <p:spPr>
          <a:xfrm>
            <a:off x="738516" y="2392462"/>
            <a:ext cx="4541520" cy="706967"/>
          </a:xfrm>
          <a:prstGeom prst="rect">
            <a:avLst/>
          </a:prstGeom>
          <a:noFill/>
        </p:spPr>
        <p:txBody>
          <a:bodyPr wrap="square" lIns="0" tIns="0" rIns="0" bIns="0" rtlCol="0" anchor="ctr"/>
          <a:lstStyle/>
          <a:p>
            <a:pPr algn="just"/>
            <a:r>
              <a:rPr lang="en-US" sz="2000" dirty="0">
                <a:ea typeface="Calibri" pitchFamily="34" charset="-122"/>
                <a:cs typeface="Calibri" pitchFamily="34" charset="-120"/>
              </a:rPr>
              <a:t>Annotation of PLANET, Sentinel-1, Sentinel-2, ICEYE, </a:t>
            </a:r>
            <a:r>
              <a:rPr lang="en-US" sz="2000" dirty="0" err="1">
                <a:ea typeface="Calibri" pitchFamily="34" charset="-122"/>
                <a:cs typeface="Calibri" pitchFamily="34" charset="-120"/>
              </a:rPr>
              <a:t>NovaSAR</a:t>
            </a:r>
            <a:r>
              <a:rPr lang="en-US" sz="2000" dirty="0">
                <a:ea typeface="Calibri" pitchFamily="34" charset="-122"/>
                <a:cs typeface="Calibri" pitchFamily="34" charset="-120"/>
              </a:rPr>
              <a:t>, </a:t>
            </a:r>
            <a:r>
              <a:rPr lang="en-US" sz="2000" dirty="0" err="1">
                <a:ea typeface="Calibri" pitchFamily="34" charset="-122"/>
                <a:cs typeface="Calibri" pitchFamily="34" charset="-120"/>
              </a:rPr>
              <a:t>etc</a:t>
            </a:r>
            <a:r>
              <a:rPr lang="en-US" sz="2000" dirty="0">
                <a:ea typeface="Calibri" pitchFamily="34" charset="-122"/>
                <a:cs typeface="Calibri" pitchFamily="34" charset="-120"/>
              </a:rPr>
              <a:t> for Vessel Detection and Classification activity.</a:t>
            </a:r>
            <a:endParaRPr lang="en-US" sz="2000" dirty="0"/>
          </a:p>
        </p:txBody>
      </p:sp>
      <p:sp>
        <p:nvSpPr>
          <p:cNvPr id="10" name="Shape 8"/>
          <p:cNvSpPr/>
          <p:nvPr/>
        </p:nvSpPr>
        <p:spPr>
          <a:xfrm>
            <a:off x="6176995" y="1615274"/>
            <a:ext cx="5547360" cy="198628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1" name="Shape 9"/>
          <p:cNvSpPr/>
          <p:nvPr/>
        </p:nvSpPr>
        <p:spPr>
          <a:xfrm flipH="1">
            <a:off x="6176148" y="1615274"/>
            <a:ext cx="101600" cy="1986280"/>
          </a:xfrm>
          <a:prstGeom prst="rect">
            <a:avLst/>
          </a:prstGeom>
          <a:solidFill>
            <a:srgbClr val="2196C4"/>
          </a:solidFill>
          <a:ln w="12700">
            <a:solidFill>
              <a:srgbClr val="2196C4"/>
            </a:solidFill>
            <a:prstDash val="solid"/>
          </a:ln>
        </p:spPr>
      </p:sp>
      <p:sp>
        <p:nvSpPr>
          <p:cNvPr id="12" name="Text 10"/>
          <p:cNvSpPr/>
          <p:nvPr/>
        </p:nvSpPr>
        <p:spPr>
          <a:xfrm>
            <a:off x="6360044" y="1724833"/>
            <a:ext cx="463296" cy="414528"/>
          </a:xfrm>
          <a:prstGeom prst="rect">
            <a:avLst/>
          </a:prstGeom>
          <a:noFill/>
        </p:spPr>
        <p:txBody>
          <a:bodyPr wrap="square" lIns="0" tIns="0" rIns="0" bIns="0" rtlCol="0" anchor="ctr"/>
          <a:lstStyle/>
          <a:p>
            <a:r>
              <a:rPr lang="en-US" sz="2000" b="1" dirty="0">
                <a:solidFill>
                  <a:srgbClr val="2196C4"/>
                </a:solidFill>
                <a:latin typeface="Calibri" pitchFamily="34" charset="0"/>
                <a:ea typeface="Calibri" pitchFamily="34" charset="-122"/>
                <a:cs typeface="Calibri" pitchFamily="34" charset="-120"/>
              </a:rPr>
              <a:t>02</a:t>
            </a:r>
            <a:endParaRPr lang="en-US" sz="2000" dirty="0"/>
          </a:p>
        </p:txBody>
      </p:sp>
      <p:sp>
        <p:nvSpPr>
          <p:cNvPr id="13" name="Text 11"/>
          <p:cNvSpPr/>
          <p:nvPr/>
        </p:nvSpPr>
        <p:spPr>
          <a:xfrm>
            <a:off x="6811148" y="1724833"/>
            <a:ext cx="5456298" cy="414528"/>
          </a:xfrm>
          <a:prstGeom prst="rect">
            <a:avLst/>
          </a:prstGeom>
          <a:noFill/>
        </p:spPr>
        <p:txBody>
          <a:bodyPr wrap="square" lIns="0" tIns="0" rIns="0" bIns="0" rtlCol="0" anchor="ctr"/>
          <a:lstStyle/>
          <a:p>
            <a:r>
              <a:rPr lang="en-US" sz="2000" b="1" dirty="0"/>
              <a:t>AIS Data Processing for Path Prediction and Interpolation</a:t>
            </a:r>
          </a:p>
        </p:txBody>
      </p:sp>
      <p:sp>
        <p:nvSpPr>
          <p:cNvPr id="14" name="Text 12"/>
          <p:cNvSpPr/>
          <p:nvPr/>
        </p:nvSpPr>
        <p:spPr>
          <a:xfrm>
            <a:off x="6379771" y="2392462"/>
            <a:ext cx="5242560" cy="801421"/>
          </a:xfrm>
          <a:prstGeom prst="rect">
            <a:avLst/>
          </a:prstGeom>
          <a:noFill/>
        </p:spPr>
        <p:txBody>
          <a:bodyPr wrap="square" lIns="0" tIns="0" rIns="0" bIns="0" rtlCol="0" anchor="ctr"/>
          <a:lstStyle/>
          <a:p>
            <a:pPr algn="just"/>
            <a:endParaRPr lang="en-US" sz="2000" dirty="0">
              <a:solidFill>
                <a:srgbClr val="4A4A4A"/>
              </a:solidFill>
              <a:ea typeface="Calibri" pitchFamily="34" charset="-122"/>
              <a:cs typeface="Calibri" pitchFamily="34" charset="-120"/>
            </a:endParaRPr>
          </a:p>
          <a:p>
            <a:pPr algn="just"/>
            <a:r>
              <a:rPr lang="en-US" sz="2000" dirty="0"/>
              <a:t>Filtering AIS data for suitable vessel path for Path Prediction and Interpolation Activity in PS09 Stage III</a:t>
            </a:r>
          </a:p>
        </p:txBody>
      </p:sp>
      <p:sp>
        <p:nvSpPr>
          <p:cNvPr id="15" name="Shape 13"/>
          <p:cNvSpPr/>
          <p:nvPr/>
        </p:nvSpPr>
        <p:spPr>
          <a:xfrm>
            <a:off x="2668559" y="4223227"/>
            <a:ext cx="5547360" cy="193548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6" name="Shape 14"/>
          <p:cNvSpPr/>
          <p:nvPr/>
        </p:nvSpPr>
        <p:spPr>
          <a:xfrm>
            <a:off x="2668559" y="4205938"/>
            <a:ext cx="101600" cy="1935480"/>
          </a:xfrm>
          <a:prstGeom prst="rect">
            <a:avLst/>
          </a:prstGeom>
          <a:solidFill>
            <a:srgbClr val="2196C4"/>
          </a:solidFill>
          <a:ln w="12700">
            <a:solidFill>
              <a:srgbClr val="2196C4"/>
            </a:solidFill>
            <a:prstDash val="solid"/>
          </a:ln>
        </p:spPr>
      </p:sp>
      <p:sp>
        <p:nvSpPr>
          <p:cNvPr id="17" name="Text 15"/>
          <p:cNvSpPr/>
          <p:nvPr/>
        </p:nvSpPr>
        <p:spPr>
          <a:xfrm>
            <a:off x="2851439" y="4315666"/>
            <a:ext cx="463296" cy="365760"/>
          </a:xfrm>
          <a:prstGeom prst="rect">
            <a:avLst/>
          </a:prstGeom>
          <a:noFill/>
        </p:spPr>
        <p:txBody>
          <a:bodyPr wrap="square" lIns="0" tIns="0" rIns="0" bIns="0" rtlCol="0" anchor="ctr"/>
          <a:lstStyle/>
          <a:p>
            <a:r>
              <a:rPr lang="en-US" sz="20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3314396" y="4315666"/>
            <a:ext cx="4791456" cy="365760"/>
          </a:xfrm>
          <a:prstGeom prst="rect">
            <a:avLst/>
          </a:prstGeom>
          <a:noFill/>
        </p:spPr>
        <p:txBody>
          <a:bodyPr wrap="square" lIns="0" tIns="0" rIns="0" bIns="0" rtlCol="0" anchor="ctr"/>
          <a:lstStyle/>
          <a:p>
            <a:r>
              <a:rPr lang="en-US" sz="2000" b="1" dirty="0">
                <a:solidFill>
                  <a:srgbClr val="1E1E1E"/>
                </a:solidFill>
                <a:latin typeface="Calibri" pitchFamily="34" charset="0"/>
                <a:ea typeface="Calibri" pitchFamily="34" charset="-122"/>
                <a:cs typeface="Calibri" pitchFamily="34" charset="-120"/>
              </a:rPr>
              <a:t>Evaluation Script for AIGC PS09 Stage III</a:t>
            </a:r>
          </a:p>
        </p:txBody>
      </p:sp>
      <p:sp>
        <p:nvSpPr>
          <p:cNvPr id="19" name="Text 17"/>
          <p:cNvSpPr/>
          <p:nvPr/>
        </p:nvSpPr>
        <p:spPr>
          <a:xfrm>
            <a:off x="3074959" y="4988259"/>
            <a:ext cx="4226560" cy="706967"/>
          </a:xfrm>
          <a:prstGeom prst="rect">
            <a:avLst/>
          </a:prstGeom>
          <a:noFill/>
        </p:spPr>
        <p:txBody>
          <a:bodyPr wrap="square" lIns="0" tIns="0" rIns="0" bIns="0" rtlCol="0" anchor="ctr"/>
          <a:lstStyle/>
          <a:p>
            <a:pPr algn="just"/>
            <a:endParaRPr lang="en-US" sz="1867" dirty="0"/>
          </a:p>
        </p:txBody>
      </p:sp>
      <p:sp>
        <p:nvSpPr>
          <p:cNvPr id="4" name="TextBox 3"/>
          <p:cNvSpPr txBox="1"/>
          <p:nvPr/>
        </p:nvSpPr>
        <p:spPr>
          <a:xfrm>
            <a:off x="3328254" y="4870374"/>
            <a:ext cx="4227969" cy="707886"/>
          </a:xfrm>
          <a:prstGeom prst="rect">
            <a:avLst/>
          </a:prstGeom>
          <a:noFill/>
        </p:spPr>
        <p:txBody>
          <a:bodyPr wrap="square" rtlCol="0">
            <a:spAutoFit/>
          </a:bodyPr>
          <a:lstStyle/>
          <a:p>
            <a:r>
              <a:rPr lang="en-US" sz="2000" dirty="0"/>
              <a:t>Modifying the Evaluation script for Stage III</a:t>
            </a:r>
            <a:endParaRPr lang="en-IN" sz="2000" dirty="0"/>
          </a:p>
        </p:txBody>
      </p:sp>
    </p:spTree>
    <p:extLst>
      <p:ext uri="{BB962C8B-B14F-4D97-AF65-F5344CB8AC3E}">
        <p14:creationId xmlns:p14="http://schemas.microsoft.com/office/powerpoint/2010/main" val="29418090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Introduction and Problem Statement </a:t>
            </a:r>
            <a:endParaRPr lang="en-US" sz="2933" dirty="0"/>
          </a:p>
        </p:txBody>
      </p:sp>
      <p:sp>
        <p:nvSpPr>
          <p:cNvPr id="5" name="Shape 3"/>
          <p:cNvSpPr/>
          <p:nvPr/>
        </p:nvSpPr>
        <p:spPr>
          <a:xfrm>
            <a:off x="343708" y="3044286"/>
            <a:ext cx="11652133" cy="3591904"/>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286088" y="3044286"/>
            <a:ext cx="213409" cy="3591904"/>
          </a:xfrm>
          <a:prstGeom prst="rect">
            <a:avLst/>
          </a:prstGeom>
          <a:solidFill>
            <a:srgbClr val="2196C4"/>
          </a:solidFill>
          <a:ln w="12700">
            <a:solidFill>
              <a:srgbClr val="2196C4"/>
            </a:solidFill>
            <a:prstDash val="solid"/>
          </a:ln>
        </p:spPr>
      </p:sp>
      <p:sp>
        <p:nvSpPr>
          <p:cNvPr id="7" name="Text 5"/>
          <p:cNvSpPr/>
          <p:nvPr/>
        </p:nvSpPr>
        <p:spPr>
          <a:xfrm>
            <a:off x="670224" y="3734369"/>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01</a:t>
            </a:r>
            <a:endParaRPr lang="en-US" sz="2500" dirty="0"/>
          </a:p>
        </p:txBody>
      </p:sp>
      <p:sp>
        <p:nvSpPr>
          <p:cNvPr id="8" name="Text 6"/>
          <p:cNvSpPr/>
          <p:nvPr/>
        </p:nvSpPr>
        <p:spPr>
          <a:xfrm>
            <a:off x="1554386" y="3734369"/>
            <a:ext cx="10064369" cy="546633"/>
          </a:xfrm>
          <a:prstGeom prst="rect">
            <a:avLst/>
          </a:prstGeom>
          <a:noFill/>
        </p:spPr>
        <p:txBody>
          <a:bodyPr wrap="square" lIns="0" tIns="0" rIns="0" bIns="0" rtlCol="0" anchor="ctr"/>
          <a:lstStyle/>
          <a:p>
            <a:r>
              <a:rPr lang="en-US" sz="2500" b="1" dirty="0"/>
              <a:t>Fix and Debug Data distribution Pipeline receiving data from Data Diode</a:t>
            </a:r>
          </a:p>
        </p:txBody>
      </p:sp>
      <p:sp>
        <p:nvSpPr>
          <p:cNvPr id="12" name="Text 10"/>
          <p:cNvSpPr/>
          <p:nvPr/>
        </p:nvSpPr>
        <p:spPr>
          <a:xfrm>
            <a:off x="670224" y="4485515"/>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02</a:t>
            </a:r>
            <a:endParaRPr lang="en-US" sz="2500" dirty="0"/>
          </a:p>
        </p:txBody>
      </p:sp>
      <p:sp>
        <p:nvSpPr>
          <p:cNvPr id="13" name="Text 11"/>
          <p:cNvSpPr/>
          <p:nvPr/>
        </p:nvSpPr>
        <p:spPr>
          <a:xfrm>
            <a:off x="1617760" y="4487937"/>
            <a:ext cx="10064369" cy="546633"/>
          </a:xfrm>
          <a:prstGeom prst="rect">
            <a:avLst/>
          </a:prstGeom>
          <a:noFill/>
        </p:spPr>
        <p:txBody>
          <a:bodyPr wrap="square" lIns="0" tIns="0" rIns="0" bIns="0" rtlCol="0" anchor="ctr"/>
          <a:lstStyle/>
          <a:p>
            <a:endParaRPr lang="en-US" sz="2500" b="1" dirty="0"/>
          </a:p>
        </p:txBody>
      </p:sp>
      <p:sp>
        <p:nvSpPr>
          <p:cNvPr id="17" name="Text 15"/>
          <p:cNvSpPr/>
          <p:nvPr/>
        </p:nvSpPr>
        <p:spPr>
          <a:xfrm>
            <a:off x="670224" y="5332199"/>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1643369" y="5252749"/>
            <a:ext cx="10064369" cy="546633"/>
          </a:xfrm>
          <a:prstGeom prst="rect">
            <a:avLst/>
          </a:prstGeom>
          <a:noFill/>
        </p:spPr>
        <p:txBody>
          <a:bodyPr wrap="square" lIns="0" tIns="0" rIns="0" bIns="0" rtlCol="0" anchor="ctr"/>
          <a:lstStyle/>
          <a:p>
            <a:endParaRPr lang="en-US" sz="2500" b="1" dirty="0">
              <a:solidFill>
                <a:srgbClr val="1E1E1E"/>
              </a:solidFill>
              <a:latin typeface="Calibri" pitchFamily="34" charset="0"/>
              <a:ea typeface="Calibri" pitchFamily="34" charset="-122"/>
              <a:cs typeface="Calibri" pitchFamily="34" charset="-120"/>
            </a:endParaRPr>
          </a:p>
        </p:txBody>
      </p:sp>
      <p:sp>
        <p:nvSpPr>
          <p:cNvPr id="26" name="TextBox 25"/>
          <p:cNvSpPr txBox="1"/>
          <p:nvPr/>
        </p:nvSpPr>
        <p:spPr>
          <a:xfrm>
            <a:off x="286088" y="1050202"/>
            <a:ext cx="11709753" cy="1754326"/>
          </a:xfrm>
          <a:prstGeom prst="rect">
            <a:avLst/>
          </a:prstGeom>
          <a:noFill/>
        </p:spPr>
        <p:txBody>
          <a:bodyPr wrap="square" rtlCol="0">
            <a:spAutoFit/>
          </a:bodyPr>
          <a:lstStyle/>
          <a:p>
            <a:r>
              <a:rPr lang="en-US" sz="2400" dirty="0"/>
              <a:t>Name : Harsh Kumar Verma</a:t>
            </a:r>
          </a:p>
          <a:p>
            <a:r>
              <a:rPr lang="en-US" sz="2400" dirty="0"/>
              <a:t>College &amp; Branch : </a:t>
            </a:r>
            <a:r>
              <a:rPr lang="" altLang="en-US" sz="2400" dirty="0">
                <a:latin typeface="Calibri" pitchFamily="34" charset="0"/>
                <a:ea typeface="Calibri" pitchFamily="34" charset="-122"/>
                <a:cs typeface="Calibri" pitchFamily="34" charset="-120"/>
              </a:rPr>
              <a:t>Sagar Institute of Research and Technology</a:t>
            </a:r>
            <a:r>
              <a:rPr lang="en-US" sz="2400" dirty="0"/>
              <a:t>, </a:t>
            </a:r>
            <a:r>
              <a:rPr lang="en-US" sz="2400" dirty="0" err="1"/>
              <a:t>B.Tech</a:t>
            </a:r>
            <a:r>
              <a:rPr lang="en-US" sz="2400" dirty="0"/>
              <a:t>-CSE</a:t>
            </a:r>
            <a:endParaRPr lang="en-US" sz="2400" baseline="0" dirty="0"/>
          </a:p>
          <a:p>
            <a:r>
              <a:rPr lang="en-US" sz="2400" dirty="0"/>
              <a:t>Duration : 6 Months (Starting from 5 Feb 2026)</a:t>
            </a:r>
            <a:endParaRPr lang="en-US" sz="2400" baseline="0" dirty="0"/>
          </a:p>
          <a:p>
            <a:endParaRPr lang="en-IN" dirty="0"/>
          </a:p>
          <a:p>
            <a:endParaRPr lang="en-IN" dirty="0"/>
          </a:p>
        </p:txBody>
      </p:sp>
      <p:sp>
        <p:nvSpPr>
          <p:cNvPr id="4" name="TextBox 3"/>
          <p:cNvSpPr txBox="1"/>
          <p:nvPr/>
        </p:nvSpPr>
        <p:spPr>
          <a:xfrm>
            <a:off x="1447033" y="4520304"/>
            <a:ext cx="9771499" cy="477054"/>
          </a:xfrm>
          <a:prstGeom prst="rect">
            <a:avLst/>
          </a:prstGeom>
          <a:noFill/>
        </p:spPr>
        <p:txBody>
          <a:bodyPr wrap="square" rtlCol="0">
            <a:spAutoFit/>
          </a:bodyPr>
          <a:lstStyle/>
          <a:p>
            <a:r>
              <a:rPr lang="en-US" sz="2500" b="1" dirty="0">
                <a:solidFill>
                  <a:srgbClr val="1E1E1E"/>
                </a:solidFill>
                <a:latin typeface="Calibri" pitchFamily="34" charset="0"/>
                <a:ea typeface="Calibri" pitchFamily="34" charset="-122"/>
                <a:cs typeface="Calibri" pitchFamily="34" charset="-120"/>
              </a:rPr>
              <a:t>Optimization of RF/AIS Correlation Engine</a:t>
            </a:r>
          </a:p>
        </p:txBody>
      </p:sp>
      <p:sp>
        <p:nvSpPr>
          <p:cNvPr id="9" name="TextBox 8"/>
          <p:cNvSpPr txBox="1"/>
          <p:nvPr/>
        </p:nvSpPr>
        <p:spPr>
          <a:xfrm>
            <a:off x="1472642" y="5329777"/>
            <a:ext cx="7606432" cy="477054"/>
          </a:xfrm>
          <a:prstGeom prst="rect">
            <a:avLst/>
          </a:prstGeom>
          <a:noFill/>
        </p:spPr>
        <p:txBody>
          <a:bodyPr wrap="square" rtlCol="0">
            <a:spAutoFit/>
          </a:bodyPr>
          <a:lstStyle/>
          <a:p>
            <a:r>
              <a:rPr lang="en-US" sz="2500" b="1" dirty="0"/>
              <a:t>Offline LLM setup for maritime Awareness</a:t>
            </a:r>
            <a:endParaRPr lang="en-IN" sz="2500" b="1" dirty="0"/>
          </a:p>
        </p:txBody>
      </p:sp>
    </p:spTree>
    <p:extLst>
      <p:ext uri="{BB962C8B-B14F-4D97-AF65-F5344CB8AC3E}">
        <p14:creationId xmlns:p14="http://schemas.microsoft.com/office/powerpoint/2010/main" val="1591423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Work Done So Far</a:t>
            </a:r>
            <a:endParaRPr lang="en-US" sz="2933" dirty="0"/>
          </a:p>
        </p:txBody>
      </p:sp>
      <p:sp>
        <p:nvSpPr>
          <p:cNvPr id="5" name="Shape 3"/>
          <p:cNvSpPr/>
          <p:nvPr/>
        </p:nvSpPr>
        <p:spPr>
          <a:xfrm>
            <a:off x="548639" y="1233593"/>
            <a:ext cx="5735489" cy="2330534"/>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548640" y="1233593"/>
            <a:ext cx="100584" cy="2330534"/>
          </a:xfrm>
          <a:prstGeom prst="rect">
            <a:avLst/>
          </a:prstGeom>
          <a:solidFill>
            <a:srgbClr val="2196C4"/>
          </a:solidFill>
          <a:ln w="12700">
            <a:solidFill>
              <a:srgbClr val="2196C4"/>
            </a:solidFill>
            <a:prstDash val="solid"/>
          </a:ln>
        </p:spPr>
      </p:sp>
      <p:sp>
        <p:nvSpPr>
          <p:cNvPr id="7" name="Text 5"/>
          <p:cNvSpPr/>
          <p:nvPr/>
        </p:nvSpPr>
        <p:spPr>
          <a:xfrm>
            <a:off x="731520" y="1343152"/>
            <a:ext cx="463296" cy="365760"/>
          </a:xfrm>
          <a:prstGeom prst="rect">
            <a:avLst/>
          </a:prstGeom>
          <a:noFill/>
        </p:spPr>
        <p:txBody>
          <a:bodyPr wrap="square" lIns="0" tIns="0" rIns="0" bIns="0" rtlCol="0" anchor="ctr"/>
          <a:lstStyle/>
          <a:p>
            <a:r>
              <a:rPr lang="en-US" sz="2400" b="1" dirty="0">
                <a:solidFill>
                  <a:srgbClr val="2196C4"/>
                </a:solidFill>
                <a:latin typeface="Calibri" pitchFamily="34" charset="0"/>
                <a:ea typeface="Calibri" pitchFamily="34" charset="-122"/>
                <a:cs typeface="Calibri" pitchFamily="34" charset="-120"/>
              </a:rPr>
              <a:t>01</a:t>
            </a:r>
            <a:endParaRPr lang="en-US" sz="2400" dirty="0"/>
          </a:p>
        </p:txBody>
      </p:sp>
      <p:sp>
        <p:nvSpPr>
          <p:cNvPr id="8" name="Text 6"/>
          <p:cNvSpPr/>
          <p:nvPr/>
        </p:nvSpPr>
        <p:spPr>
          <a:xfrm>
            <a:off x="1182624" y="1343152"/>
            <a:ext cx="4791456" cy="365760"/>
          </a:xfrm>
          <a:prstGeom prst="rect">
            <a:avLst/>
          </a:prstGeom>
          <a:noFill/>
        </p:spPr>
        <p:txBody>
          <a:bodyPr wrap="square" lIns="0" tIns="0" rIns="0" bIns="0" rtlCol="0" anchor="ctr"/>
          <a:lstStyle/>
          <a:p>
            <a:endParaRPr lang="en-US" sz="2000" b="1" dirty="0"/>
          </a:p>
        </p:txBody>
      </p:sp>
      <p:sp>
        <p:nvSpPr>
          <p:cNvPr id="9" name="Text 7"/>
          <p:cNvSpPr/>
          <p:nvPr/>
        </p:nvSpPr>
        <p:spPr>
          <a:xfrm>
            <a:off x="963168" y="2528947"/>
            <a:ext cx="4541520" cy="706967"/>
          </a:xfrm>
          <a:prstGeom prst="rect">
            <a:avLst/>
          </a:prstGeom>
          <a:noFill/>
        </p:spPr>
        <p:txBody>
          <a:bodyPr wrap="square" lIns="0" tIns="0" rIns="0" bIns="0" rtlCol="0" anchor="ctr"/>
          <a:lstStyle/>
          <a:p>
            <a:pPr algn="just"/>
            <a:r>
              <a:rPr lang="" altLang="en-US" sz="2000" dirty="0">
                <a:latin typeface="Calibri" pitchFamily="34" charset="0"/>
                <a:ea typeface="Calibri" pitchFamily="34" charset="-122"/>
                <a:cs typeface="Calibri" pitchFamily="34" charset="-120"/>
              </a:rPr>
              <a:t>Built the Automation which calls and checks the DB automatically after each 8 hours and auto runs on boot and connects to the db auomatically</a:t>
            </a:r>
            <a:endParaRPr lang="en-US" sz="1867" dirty="0"/>
          </a:p>
        </p:txBody>
      </p:sp>
      <p:sp>
        <p:nvSpPr>
          <p:cNvPr id="10" name="Shape 8"/>
          <p:cNvSpPr/>
          <p:nvPr/>
        </p:nvSpPr>
        <p:spPr>
          <a:xfrm>
            <a:off x="6410791" y="2687827"/>
            <a:ext cx="5547360" cy="258129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1" name="Shape 9"/>
          <p:cNvSpPr/>
          <p:nvPr/>
        </p:nvSpPr>
        <p:spPr>
          <a:xfrm flipH="1">
            <a:off x="6409944" y="2687827"/>
            <a:ext cx="101600" cy="2581290"/>
          </a:xfrm>
          <a:prstGeom prst="rect">
            <a:avLst/>
          </a:prstGeom>
          <a:solidFill>
            <a:srgbClr val="2196C4"/>
          </a:solidFill>
          <a:ln w="12700">
            <a:solidFill>
              <a:srgbClr val="2196C4"/>
            </a:solidFill>
            <a:prstDash val="solid"/>
          </a:ln>
        </p:spPr>
      </p:sp>
      <p:sp>
        <p:nvSpPr>
          <p:cNvPr id="12" name="Text 10"/>
          <p:cNvSpPr/>
          <p:nvPr/>
        </p:nvSpPr>
        <p:spPr>
          <a:xfrm>
            <a:off x="6593840" y="2797386"/>
            <a:ext cx="463296" cy="538704"/>
          </a:xfrm>
          <a:prstGeom prst="rect">
            <a:avLst/>
          </a:prstGeom>
          <a:noFill/>
        </p:spPr>
        <p:txBody>
          <a:bodyPr wrap="square" lIns="0" tIns="0" rIns="0" bIns="0" rtlCol="0" anchor="ctr"/>
          <a:lstStyle/>
          <a:p>
            <a:r>
              <a:rPr lang="en-US" sz="2400" b="1" dirty="0">
                <a:solidFill>
                  <a:srgbClr val="2196C4"/>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7044944" y="2797386"/>
            <a:ext cx="4791456" cy="538704"/>
          </a:xfrm>
          <a:prstGeom prst="rect">
            <a:avLst/>
          </a:prstGeom>
          <a:noFill/>
        </p:spPr>
        <p:txBody>
          <a:bodyPr wrap="square" lIns="0" tIns="0" rIns="0" bIns="0" rtlCol="0" anchor="ctr"/>
          <a:lstStyle/>
          <a:p>
            <a:r>
              <a:rPr lang="en-US" sz="2400" b="1" dirty="0">
                <a:solidFill>
                  <a:srgbClr val="1E1E1E"/>
                </a:solidFill>
                <a:latin typeface="Calibri" pitchFamily="34" charset="0"/>
                <a:ea typeface="Calibri" pitchFamily="34" charset="-122"/>
                <a:cs typeface="Calibri" pitchFamily="34" charset="-120"/>
              </a:rPr>
              <a:t>Optimization of RF/AIS Correlation Engine</a:t>
            </a:r>
          </a:p>
        </p:txBody>
      </p:sp>
      <p:sp>
        <p:nvSpPr>
          <p:cNvPr id="14" name="Text 12"/>
          <p:cNvSpPr/>
          <p:nvPr/>
        </p:nvSpPr>
        <p:spPr>
          <a:xfrm>
            <a:off x="7044944" y="3708982"/>
            <a:ext cx="4178453" cy="1041494"/>
          </a:xfrm>
          <a:prstGeom prst="rect">
            <a:avLst/>
          </a:prstGeom>
          <a:noFill/>
        </p:spPr>
        <p:txBody>
          <a:bodyPr wrap="square" lIns="0" tIns="0" rIns="0" bIns="0" rtlCol="0" anchor="ctr"/>
          <a:lstStyle/>
          <a:p>
            <a:pPr algn="just"/>
            <a:r>
              <a:rPr lang="en-US" sz="2000" dirty="0"/>
              <a:t>Optimization of RF/AIS Correlation Engine to enable parallel working to reduce latency of correlation</a:t>
            </a:r>
          </a:p>
        </p:txBody>
      </p:sp>
      <p:sp>
        <p:nvSpPr>
          <p:cNvPr id="15" name="Shape 13"/>
          <p:cNvSpPr/>
          <p:nvPr/>
        </p:nvSpPr>
        <p:spPr>
          <a:xfrm>
            <a:off x="598932" y="3857983"/>
            <a:ext cx="5547360" cy="2466466"/>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6" name="Shape 14"/>
          <p:cNvSpPr/>
          <p:nvPr/>
        </p:nvSpPr>
        <p:spPr>
          <a:xfrm>
            <a:off x="548640" y="3870960"/>
            <a:ext cx="101600" cy="2466466"/>
          </a:xfrm>
          <a:prstGeom prst="rect">
            <a:avLst/>
          </a:prstGeom>
          <a:solidFill>
            <a:srgbClr val="2196C4"/>
          </a:solidFill>
          <a:ln w="12700">
            <a:solidFill>
              <a:srgbClr val="2196C4"/>
            </a:solidFill>
            <a:prstDash val="solid"/>
          </a:ln>
        </p:spPr>
      </p:sp>
      <p:sp>
        <p:nvSpPr>
          <p:cNvPr id="17" name="Text 15"/>
          <p:cNvSpPr/>
          <p:nvPr/>
        </p:nvSpPr>
        <p:spPr>
          <a:xfrm>
            <a:off x="731520" y="3980688"/>
            <a:ext cx="463296" cy="466104"/>
          </a:xfrm>
          <a:prstGeom prst="rect">
            <a:avLst/>
          </a:prstGeom>
          <a:noFill/>
        </p:spPr>
        <p:txBody>
          <a:bodyPr wrap="square" lIns="0" tIns="0" rIns="0" bIns="0" rtlCol="0" anchor="ctr"/>
          <a:lstStyle/>
          <a:p>
            <a:r>
              <a:rPr lang="en-US" sz="24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1133856" y="4090416"/>
            <a:ext cx="4962144" cy="466104"/>
          </a:xfrm>
          <a:prstGeom prst="rect">
            <a:avLst/>
          </a:prstGeom>
          <a:noFill/>
        </p:spPr>
        <p:txBody>
          <a:bodyPr wrap="square" lIns="0" tIns="0" rIns="0" bIns="0" rtlCol="0" anchor="ctr"/>
          <a:lstStyle/>
          <a:p>
            <a:r>
              <a:rPr lang="en-US" sz="2400" b="1" dirty="0"/>
              <a:t>Offline LLM setup for maritime Awareness</a:t>
            </a:r>
            <a:endParaRPr lang="en-IN" sz="2400" b="1" dirty="0"/>
          </a:p>
        </p:txBody>
      </p:sp>
      <p:sp>
        <p:nvSpPr>
          <p:cNvPr id="19" name="Text 17"/>
          <p:cNvSpPr/>
          <p:nvPr/>
        </p:nvSpPr>
        <p:spPr>
          <a:xfrm>
            <a:off x="963168" y="4886785"/>
            <a:ext cx="4226560" cy="900919"/>
          </a:xfrm>
          <a:prstGeom prst="rect">
            <a:avLst/>
          </a:prstGeom>
          <a:noFill/>
        </p:spPr>
        <p:txBody>
          <a:bodyPr wrap="square" lIns="0" tIns="0" rIns="0" bIns="0" rtlCol="0" anchor="ctr"/>
          <a:lstStyle/>
          <a:p>
            <a:pPr algn="just"/>
            <a:r>
              <a:rPr lang="en-US" sz="1867" dirty="0"/>
              <a:t>Pipeline design and Data Processing for using Open-source LLM models for use on Internal Data on Local Servers</a:t>
            </a:r>
          </a:p>
        </p:txBody>
      </p:sp>
      <p:sp>
        <p:nvSpPr>
          <p:cNvPr id="4" name="TextBox 3"/>
          <p:cNvSpPr txBox="1"/>
          <p:nvPr/>
        </p:nvSpPr>
        <p:spPr>
          <a:xfrm>
            <a:off x="1086034" y="1293413"/>
            <a:ext cx="5655973" cy="830997"/>
          </a:xfrm>
          <a:prstGeom prst="rect">
            <a:avLst/>
          </a:prstGeom>
          <a:noFill/>
        </p:spPr>
        <p:txBody>
          <a:bodyPr wrap="square" rtlCol="0">
            <a:spAutoFit/>
          </a:bodyPr>
          <a:lstStyle/>
          <a:p>
            <a:r>
              <a:rPr lang="en-US" sz="2400" b="1" dirty="0"/>
              <a:t>Fix and Debug Data distribution </a:t>
            </a:r>
            <a:r>
              <a:rPr lang="en-US" sz="2200" b="1" dirty="0"/>
              <a:t>Pipeline</a:t>
            </a:r>
            <a:r>
              <a:rPr lang="en-US" sz="2400" b="1" dirty="0"/>
              <a:t> receiving data from Data Diode</a:t>
            </a:r>
          </a:p>
        </p:txBody>
      </p:sp>
    </p:spTree>
    <p:extLst>
      <p:ext uri="{BB962C8B-B14F-4D97-AF65-F5344CB8AC3E}">
        <p14:creationId xmlns:p14="http://schemas.microsoft.com/office/powerpoint/2010/main" val="28350289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Impact &amp; Achievements</a:t>
            </a:r>
            <a:endParaRPr lang="en-US" sz="2933" dirty="0"/>
          </a:p>
        </p:txBody>
      </p:sp>
      <p:sp>
        <p:nvSpPr>
          <p:cNvPr id="5" name="Text 3"/>
          <p:cNvSpPr/>
          <p:nvPr/>
        </p:nvSpPr>
        <p:spPr>
          <a:xfrm>
            <a:off x="548640" y="999744"/>
            <a:ext cx="10972800" cy="341376"/>
          </a:xfrm>
          <a:prstGeom prst="rect">
            <a:avLst/>
          </a:prstGeom>
          <a:noFill/>
        </p:spPr>
        <p:txBody>
          <a:bodyPr wrap="square" lIns="0" tIns="0" rIns="0" bIns="0" rtlCol="0" anchor="ctr"/>
          <a:lstStyle/>
          <a:p>
            <a:r>
              <a:rPr lang="en-US" sz="1200" b="1" kern="0" spc="267" dirty="0">
                <a:solidFill>
                  <a:srgbClr val="2196C4"/>
                </a:solidFill>
              </a:rPr>
              <a:t>KEY METRICS</a:t>
            </a:r>
            <a:endParaRPr lang="en-US" sz="1200" dirty="0"/>
          </a:p>
        </p:txBody>
      </p:sp>
      <p:sp>
        <p:nvSpPr>
          <p:cNvPr id="6" name="Shape 4"/>
          <p:cNvSpPr/>
          <p:nvPr/>
        </p:nvSpPr>
        <p:spPr>
          <a:xfrm>
            <a:off x="548640" y="1365504"/>
            <a:ext cx="2438400" cy="0"/>
          </a:xfrm>
          <a:prstGeom prst="line">
            <a:avLst/>
          </a:prstGeom>
          <a:noFill/>
          <a:ln w="19050">
            <a:solidFill>
              <a:srgbClr val="2196C4"/>
            </a:solidFill>
            <a:prstDash val="solid"/>
          </a:ln>
        </p:spPr>
      </p:sp>
      <p:sp>
        <p:nvSpPr>
          <p:cNvPr id="7" name="Text 5"/>
          <p:cNvSpPr/>
          <p:nvPr/>
        </p:nvSpPr>
        <p:spPr>
          <a:xfrm>
            <a:off x="548640" y="1438656"/>
            <a:ext cx="2682240" cy="877824"/>
          </a:xfrm>
          <a:prstGeom prst="rect">
            <a:avLst/>
          </a:prstGeom>
          <a:noFill/>
        </p:spPr>
        <p:txBody>
          <a:bodyPr wrap="square" lIns="0" tIns="0" rIns="0" bIns="0" rtlCol="0" anchor="ctr"/>
          <a:lstStyle/>
          <a:p>
            <a:r>
              <a:rPr lang="en-US" sz="5867" b="1" dirty="0">
                <a:solidFill>
                  <a:srgbClr val="111111"/>
                </a:solidFill>
                <a:latin typeface="Calibri" pitchFamily="34" charset="0"/>
                <a:cs typeface="Calibri" pitchFamily="34" charset="-120"/>
              </a:rPr>
              <a:t>200%</a:t>
            </a:r>
            <a:endParaRPr lang="en-US" sz="5867" dirty="0"/>
          </a:p>
        </p:txBody>
      </p:sp>
      <p:sp>
        <p:nvSpPr>
          <p:cNvPr id="8" name="Text 6"/>
          <p:cNvSpPr/>
          <p:nvPr/>
        </p:nvSpPr>
        <p:spPr>
          <a:xfrm>
            <a:off x="548640" y="2316480"/>
            <a:ext cx="2682240" cy="365760"/>
          </a:xfrm>
          <a:prstGeom prst="rect">
            <a:avLst/>
          </a:prstGeom>
          <a:noFill/>
        </p:spPr>
        <p:txBody>
          <a:bodyPr wrap="square" lIns="0" tIns="0" rIns="0" bIns="0" rtlCol="0" anchor="ctr"/>
          <a:lstStyle/>
          <a:p>
            <a:pPr algn="ctr"/>
            <a:r>
              <a:rPr lang="en-US" sz="1400" dirty="0">
                <a:latin typeface="Calibri" pitchFamily="34" charset="0"/>
                <a:ea typeface="Calibri" pitchFamily="34" charset="-122"/>
                <a:cs typeface="Calibri" pitchFamily="34" charset="-120"/>
              </a:rPr>
              <a:t>Dashboard Speed Improvement</a:t>
            </a:r>
            <a:endParaRPr lang="en-US" sz="1400" dirty="0"/>
          </a:p>
        </p:txBody>
      </p:sp>
      <p:sp>
        <p:nvSpPr>
          <p:cNvPr id="9" name="Shape 7"/>
          <p:cNvSpPr/>
          <p:nvPr/>
        </p:nvSpPr>
        <p:spPr>
          <a:xfrm>
            <a:off x="3450336" y="1365504"/>
            <a:ext cx="2438400" cy="0"/>
          </a:xfrm>
          <a:prstGeom prst="line">
            <a:avLst/>
          </a:prstGeom>
          <a:noFill/>
          <a:ln w="19050">
            <a:solidFill>
              <a:srgbClr val="2196C4"/>
            </a:solidFill>
            <a:prstDash val="solid"/>
          </a:ln>
        </p:spPr>
      </p:sp>
      <p:sp>
        <p:nvSpPr>
          <p:cNvPr id="10" name="Text 8"/>
          <p:cNvSpPr/>
          <p:nvPr/>
        </p:nvSpPr>
        <p:spPr>
          <a:xfrm>
            <a:off x="3450336" y="1438656"/>
            <a:ext cx="2682240" cy="877824"/>
          </a:xfrm>
          <a:prstGeom prst="rect">
            <a:avLst/>
          </a:prstGeom>
          <a:noFill/>
        </p:spPr>
        <p:txBody>
          <a:bodyPr wrap="square" lIns="0" tIns="0" rIns="0" bIns="0" rtlCol="0" anchor="ctr"/>
          <a:lstStyle/>
          <a:p>
            <a:pPr algn="ctr"/>
            <a:r>
              <a:rPr lang="en-US" sz="6000" b="1" dirty="0">
                <a:latin typeface="Calibri" pitchFamily="34" charset="0"/>
                <a:ea typeface="Calibri" pitchFamily="34" charset="-122"/>
                <a:cs typeface="Calibri" pitchFamily="34" charset="-120"/>
              </a:rPr>
              <a:t>4</a:t>
            </a:r>
            <a:endParaRPr lang="en-US" sz="6000" dirty="0"/>
          </a:p>
        </p:txBody>
      </p:sp>
      <p:sp>
        <p:nvSpPr>
          <p:cNvPr id="11" name="Text 9"/>
          <p:cNvSpPr/>
          <p:nvPr/>
        </p:nvSpPr>
        <p:spPr>
          <a:xfrm>
            <a:off x="3450336" y="2316480"/>
            <a:ext cx="2682240" cy="365760"/>
          </a:xfrm>
          <a:prstGeom prst="rect">
            <a:avLst/>
          </a:prstGeom>
          <a:noFill/>
        </p:spPr>
        <p:txBody>
          <a:bodyPr wrap="square" lIns="0" tIns="0" rIns="0" bIns="0" rtlCol="0" anchor="ctr"/>
          <a:lstStyle/>
          <a:p>
            <a:pPr algn="ctr"/>
            <a:r>
              <a:rPr lang="en-US" sz="1400" dirty="0">
                <a:latin typeface="Calibri" pitchFamily="34" charset="0"/>
                <a:ea typeface="Calibri" pitchFamily="34" charset="-122"/>
                <a:cs typeface="Calibri" pitchFamily="34" charset="-120"/>
              </a:rPr>
              <a:t>Production Systems Fixed</a:t>
            </a:r>
            <a:endParaRPr lang="en-US" sz="1400" dirty="0"/>
          </a:p>
        </p:txBody>
      </p:sp>
      <p:sp>
        <p:nvSpPr>
          <p:cNvPr id="12" name="Shape 10"/>
          <p:cNvSpPr/>
          <p:nvPr/>
        </p:nvSpPr>
        <p:spPr>
          <a:xfrm>
            <a:off x="6352032" y="1365504"/>
            <a:ext cx="2438400" cy="0"/>
          </a:xfrm>
          <a:prstGeom prst="line">
            <a:avLst/>
          </a:prstGeom>
          <a:noFill/>
          <a:ln w="19050">
            <a:solidFill>
              <a:srgbClr val="2196C4"/>
            </a:solidFill>
            <a:prstDash val="solid"/>
          </a:ln>
        </p:spPr>
      </p:sp>
      <p:sp>
        <p:nvSpPr>
          <p:cNvPr id="13" name="Text 11"/>
          <p:cNvSpPr/>
          <p:nvPr/>
        </p:nvSpPr>
        <p:spPr>
          <a:xfrm>
            <a:off x="6352032" y="1438656"/>
            <a:ext cx="2682240" cy="877824"/>
          </a:xfrm>
          <a:prstGeom prst="rect">
            <a:avLst/>
          </a:prstGeom>
          <a:noFill/>
        </p:spPr>
        <p:txBody>
          <a:bodyPr wrap="square" lIns="0" tIns="0" rIns="0" bIns="0" rtlCol="0" anchor="ctr"/>
          <a:lstStyle/>
          <a:p>
            <a:pPr algn="ctr"/>
            <a:r>
              <a:rPr lang="en-US" sz="6000" b="1" dirty="0">
                <a:latin typeface="Calibri" pitchFamily="34" charset="0"/>
                <a:ea typeface="Calibri" pitchFamily="34" charset="-122"/>
                <a:cs typeface="Calibri" pitchFamily="34" charset="-120"/>
              </a:rPr>
              <a:t>100%</a:t>
            </a:r>
            <a:endParaRPr lang="en-US" sz="6000" dirty="0"/>
          </a:p>
        </p:txBody>
      </p:sp>
      <p:sp>
        <p:nvSpPr>
          <p:cNvPr id="14" name="Text 12"/>
          <p:cNvSpPr/>
          <p:nvPr/>
        </p:nvSpPr>
        <p:spPr>
          <a:xfrm>
            <a:off x="6352032" y="2316480"/>
            <a:ext cx="2682240" cy="365760"/>
          </a:xfrm>
          <a:prstGeom prst="rect">
            <a:avLst/>
          </a:prstGeom>
          <a:noFill/>
        </p:spPr>
        <p:txBody>
          <a:bodyPr wrap="square" lIns="0" tIns="0" rIns="0" bIns="0" rtlCol="0" anchor="ctr"/>
          <a:lstStyle/>
          <a:p>
            <a:pPr algn="ctr"/>
            <a:r>
              <a:rPr lang="en-US" sz="1400" dirty="0">
                <a:latin typeface="Calibri" pitchFamily="34" charset="0"/>
                <a:ea typeface="Calibri" pitchFamily="34" charset="-122"/>
                <a:cs typeface="Calibri" pitchFamily="34" charset="-120"/>
              </a:rPr>
              <a:t>Zero-Dependency Ingestion</a:t>
            </a:r>
            <a:endParaRPr lang="en-US" sz="1400" dirty="0"/>
          </a:p>
        </p:txBody>
      </p:sp>
      <p:sp>
        <p:nvSpPr>
          <p:cNvPr id="15" name="Shape 13"/>
          <p:cNvSpPr/>
          <p:nvPr/>
        </p:nvSpPr>
        <p:spPr>
          <a:xfrm>
            <a:off x="9253728" y="1365504"/>
            <a:ext cx="2438400" cy="0"/>
          </a:xfrm>
          <a:prstGeom prst="line">
            <a:avLst/>
          </a:prstGeom>
          <a:noFill/>
          <a:ln w="19050">
            <a:solidFill>
              <a:srgbClr val="2196C4"/>
            </a:solidFill>
            <a:prstDash val="solid"/>
          </a:ln>
        </p:spPr>
      </p:sp>
      <p:sp>
        <p:nvSpPr>
          <p:cNvPr id="16" name="Text 14"/>
          <p:cNvSpPr/>
          <p:nvPr/>
        </p:nvSpPr>
        <p:spPr>
          <a:xfrm>
            <a:off x="9253728" y="1438656"/>
            <a:ext cx="2682240" cy="877824"/>
          </a:xfrm>
          <a:prstGeom prst="rect">
            <a:avLst/>
          </a:prstGeom>
          <a:noFill/>
        </p:spPr>
        <p:txBody>
          <a:bodyPr wrap="square" lIns="0" tIns="0" rIns="0" bIns="0" rtlCol="0" anchor="ctr"/>
          <a:lstStyle/>
          <a:p>
            <a:pPr algn="ctr"/>
            <a:r>
              <a:rPr lang="en-US" sz="6000" b="1" dirty="0">
                <a:latin typeface="Calibri" pitchFamily="34" charset="0"/>
                <a:ea typeface="Calibri" pitchFamily="34" charset="-122"/>
                <a:cs typeface="Calibri" pitchFamily="34" charset="-120"/>
              </a:rPr>
              <a:t>&gt;90%</a:t>
            </a:r>
            <a:endParaRPr lang="en-US" sz="6000" dirty="0"/>
          </a:p>
        </p:txBody>
      </p:sp>
      <p:sp>
        <p:nvSpPr>
          <p:cNvPr id="17" name="Text 15"/>
          <p:cNvSpPr/>
          <p:nvPr/>
        </p:nvSpPr>
        <p:spPr>
          <a:xfrm>
            <a:off x="9253728" y="2316480"/>
            <a:ext cx="2682240" cy="365760"/>
          </a:xfrm>
          <a:prstGeom prst="rect">
            <a:avLst/>
          </a:prstGeom>
          <a:noFill/>
        </p:spPr>
        <p:txBody>
          <a:bodyPr wrap="square" lIns="0" tIns="0" rIns="0" bIns="0" rtlCol="0" anchor="ctr"/>
          <a:lstStyle/>
          <a:p>
            <a:pPr algn="ctr"/>
            <a:r>
              <a:rPr lang="en-US" sz="1400" dirty="0">
                <a:latin typeface="Calibri" pitchFamily="34" charset="0"/>
                <a:ea typeface="Calibri" pitchFamily="34" charset="-122"/>
                <a:cs typeface="Calibri" pitchFamily="34" charset="-120"/>
              </a:rPr>
              <a:t>RF Correlation Accuracy</a:t>
            </a:r>
            <a:endParaRPr lang="en-US" sz="1400" dirty="0"/>
          </a:p>
          <a:p>
            <a:pPr algn="ctr"/>
            <a:r>
              <a:rPr lang="en-US" sz="1400" dirty="0">
                <a:latin typeface="Calibri" pitchFamily="34" charset="0"/>
                <a:ea typeface="Calibri" pitchFamily="34" charset="-122"/>
                <a:cs typeface="Calibri" pitchFamily="34" charset="-120"/>
              </a:rPr>
              <a:t>(from detection #1)</a:t>
            </a:r>
            <a:endParaRPr lang="en-US" sz="1400" dirty="0"/>
          </a:p>
        </p:txBody>
      </p:sp>
      <p:sp>
        <p:nvSpPr>
          <p:cNvPr id="18" name="Shape 16"/>
          <p:cNvSpPr/>
          <p:nvPr/>
        </p:nvSpPr>
        <p:spPr>
          <a:xfrm>
            <a:off x="548640" y="2901696"/>
            <a:ext cx="11094720" cy="0"/>
          </a:xfrm>
          <a:prstGeom prst="line">
            <a:avLst/>
          </a:prstGeom>
          <a:noFill/>
          <a:ln w="9525">
            <a:solidFill>
              <a:srgbClr val="D8E8F0"/>
            </a:solidFill>
            <a:prstDash val="solid"/>
          </a:ln>
        </p:spPr>
      </p:sp>
      <p:grpSp>
        <p:nvGrpSpPr>
          <p:cNvPr id="4" name="Group 3"/>
          <p:cNvGrpSpPr/>
          <p:nvPr/>
        </p:nvGrpSpPr>
        <p:grpSpPr>
          <a:xfrm>
            <a:off x="548640" y="3267457"/>
            <a:ext cx="11094720" cy="3377788"/>
            <a:chOff x="795528" y="3486913"/>
            <a:chExt cx="8458200" cy="2514600"/>
          </a:xfrm>
        </p:grpSpPr>
        <p:sp>
          <p:nvSpPr>
            <p:cNvPr id="46" name="Shape 17"/>
            <p:cNvSpPr/>
            <p:nvPr/>
          </p:nvSpPr>
          <p:spPr>
            <a:xfrm>
              <a:off x="822960" y="3486913"/>
              <a:ext cx="4114800" cy="1188720"/>
            </a:xfrm>
            <a:prstGeom prst="rect">
              <a:avLst/>
            </a:prstGeom>
            <a:solidFill>
              <a:srgbClr val="0F2540"/>
            </a:solidFill>
            <a:ln w="12700">
              <a:solidFill>
                <a:srgbClr val="10B981"/>
              </a:solidFill>
              <a:prstDash val="solid"/>
            </a:ln>
          </p:spPr>
        </p:sp>
        <p:sp>
          <p:nvSpPr>
            <p:cNvPr id="47" name="Shape 18"/>
            <p:cNvSpPr/>
            <p:nvPr/>
          </p:nvSpPr>
          <p:spPr>
            <a:xfrm>
              <a:off x="795528" y="3486913"/>
              <a:ext cx="64008" cy="1188720"/>
            </a:xfrm>
            <a:prstGeom prst="rect">
              <a:avLst/>
            </a:prstGeom>
            <a:solidFill>
              <a:srgbClr val="10B981"/>
            </a:solidFill>
            <a:ln w="12700">
              <a:solidFill>
                <a:srgbClr val="10B981"/>
              </a:solidFill>
              <a:prstDash val="solid"/>
            </a:ln>
          </p:spPr>
        </p:sp>
        <p:sp>
          <p:nvSpPr>
            <p:cNvPr id="48" name="Text 19"/>
            <p:cNvSpPr/>
            <p:nvPr/>
          </p:nvSpPr>
          <p:spPr>
            <a:xfrm>
              <a:off x="978408" y="3596641"/>
              <a:ext cx="3749040" cy="237744"/>
            </a:xfrm>
            <a:prstGeom prst="rect">
              <a:avLst/>
            </a:prstGeom>
            <a:noFill/>
          </p:spPr>
          <p:txBody>
            <a:bodyPr wrap="square" lIns="0" tIns="0" rIns="0" bIns="0" rtlCol="0" anchor="ctr"/>
            <a:lstStyle/>
            <a:p>
              <a:pPr marL="0" indent="0">
                <a:buNone/>
              </a:pPr>
              <a:r>
                <a:rPr lang="en-US" sz="2400" b="1" dirty="0">
                  <a:solidFill>
                    <a:srgbClr val="10B981"/>
                  </a:solidFill>
                  <a:latin typeface="Calibri" pitchFamily="34" charset="0"/>
                  <a:ea typeface="Calibri" pitchFamily="34" charset="-122"/>
                  <a:cs typeface="Calibri" pitchFamily="34" charset="-120"/>
                </a:rPr>
                <a:t>Operational Continuity</a:t>
              </a:r>
              <a:endParaRPr lang="en-US" sz="2400" dirty="0"/>
            </a:p>
          </p:txBody>
        </p:sp>
        <p:sp>
          <p:nvSpPr>
            <p:cNvPr id="49" name="Text 20"/>
            <p:cNvSpPr/>
            <p:nvPr/>
          </p:nvSpPr>
          <p:spPr>
            <a:xfrm>
              <a:off x="978408" y="3870961"/>
              <a:ext cx="3749040" cy="786384"/>
            </a:xfrm>
            <a:prstGeom prst="rect">
              <a:avLst/>
            </a:prstGeom>
            <a:noFill/>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SICS dashboard restored from non-functional to fully operational — active maritime operations no longer blocked by software failures.</a:t>
              </a:r>
              <a:endParaRPr lang="en-US" sz="1600" dirty="0"/>
            </a:p>
          </p:txBody>
        </p:sp>
        <p:sp>
          <p:nvSpPr>
            <p:cNvPr id="50" name="Shape 21"/>
            <p:cNvSpPr/>
            <p:nvPr/>
          </p:nvSpPr>
          <p:spPr>
            <a:xfrm>
              <a:off x="5138928" y="3486913"/>
              <a:ext cx="4114800" cy="1188720"/>
            </a:xfrm>
            <a:prstGeom prst="rect">
              <a:avLst/>
            </a:prstGeom>
            <a:solidFill>
              <a:srgbClr val="0F2540"/>
            </a:solidFill>
            <a:ln w="12700">
              <a:solidFill>
                <a:srgbClr val="818CF8"/>
              </a:solidFill>
              <a:prstDash val="solid"/>
            </a:ln>
          </p:spPr>
        </p:sp>
        <p:sp>
          <p:nvSpPr>
            <p:cNvPr id="51" name="Shape 22"/>
            <p:cNvSpPr/>
            <p:nvPr/>
          </p:nvSpPr>
          <p:spPr>
            <a:xfrm>
              <a:off x="5138928" y="3486913"/>
              <a:ext cx="64008" cy="1188720"/>
            </a:xfrm>
            <a:prstGeom prst="rect">
              <a:avLst/>
            </a:prstGeom>
            <a:solidFill>
              <a:srgbClr val="818CF8"/>
            </a:solidFill>
            <a:ln w="12700">
              <a:solidFill>
                <a:srgbClr val="818CF8"/>
              </a:solidFill>
              <a:prstDash val="solid"/>
            </a:ln>
          </p:spPr>
        </p:sp>
        <p:sp>
          <p:nvSpPr>
            <p:cNvPr id="52" name="Text 23"/>
            <p:cNvSpPr/>
            <p:nvPr/>
          </p:nvSpPr>
          <p:spPr>
            <a:xfrm>
              <a:off x="5321808" y="3596641"/>
              <a:ext cx="3749040" cy="237744"/>
            </a:xfrm>
            <a:prstGeom prst="rect">
              <a:avLst/>
            </a:prstGeom>
            <a:noFill/>
          </p:spPr>
          <p:txBody>
            <a:bodyPr wrap="square" lIns="0" tIns="0" rIns="0" bIns="0" rtlCol="0" anchor="ctr"/>
            <a:lstStyle/>
            <a:p>
              <a:pPr marL="0" indent="0">
                <a:buNone/>
              </a:pPr>
              <a:r>
                <a:rPr lang="en-US" sz="2400" b="1" dirty="0">
                  <a:solidFill>
                    <a:srgbClr val="818CF8"/>
                  </a:solidFill>
                  <a:latin typeface="Calibri" pitchFamily="34" charset="0"/>
                  <a:ea typeface="Calibri" pitchFamily="34" charset="-122"/>
                  <a:cs typeface="Calibri" pitchFamily="34" charset="-120"/>
                </a:rPr>
                <a:t>Air-Gap AI Capability</a:t>
              </a:r>
              <a:endParaRPr lang="en-US" sz="2400" dirty="0"/>
            </a:p>
          </p:txBody>
        </p:sp>
        <p:sp>
          <p:nvSpPr>
            <p:cNvPr id="53" name="Text 24"/>
            <p:cNvSpPr/>
            <p:nvPr/>
          </p:nvSpPr>
          <p:spPr>
            <a:xfrm>
              <a:off x="5321808" y="3870961"/>
              <a:ext cx="3749040" cy="786384"/>
            </a:xfrm>
            <a:prstGeom prst="rect">
              <a:avLst/>
            </a:prstGeom>
            <a:noFill/>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Designed complete architecture for offline LLM deployment; enables AI-assisted work on classified/restricted networks for the first time.</a:t>
              </a:r>
              <a:endParaRPr lang="en-US" sz="1600" dirty="0"/>
            </a:p>
          </p:txBody>
        </p:sp>
        <p:sp>
          <p:nvSpPr>
            <p:cNvPr id="54" name="Shape 25"/>
            <p:cNvSpPr/>
            <p:nvPr/>
          </p:nvSpPr>
          <p:spPr>
            <a:xfrm>
              <a:off x="795528" y="4812793"/>
              <a:ext cx="4114800" cy="1188720"/>
            </a:xfrm>
            <a:prstGeom prst="rect">
              <a:avLst/>
            </a:prstGeom>
            <a:solidFill>
              <a:srgbClr val="0F2540"/>
            </a:solidFill>
            <a:ln w="12700">
              <a:solidFill>
                <a:srgbClr val="0E7490"/>
              </a:solidFill>
              <a:prstDash val="solid"/>
            </a:ln>
          </p:spPr>
        </p:sp>
        <p:sp>
          <p:nvSpPr>
            <p:cNvPr id="55" name="Shape 26"/>
            <p:cNvSpPr/>
            <p:nvPr/>
          </p:nvSpPr>
          <p:spPr>
            <a:xfrm>
              <a:off x="795528" y="4812793"/>
              <a:ext cx="64008" cy="1188720"/>
            </a:xfrm>
            <a:prstGeom prst="rect">
              <a:avLst/>
            </a:prstGeom>
            <a:solidFill>
              <a:srgbClr val="0E7490"/>
            </a:solidFill>
            <a:ln w="12700">
              <a:solidFill>
                <a:srgbClr val="0E7490"/>
              </a:solidFill>
              <a:prstDash val="solid"/>
            </a:ln>
          </p:spPr>
        </p:sp>
        <p:sp>
          <p:nvSpPr>
            <p:cNvPr id="56" name="Text 27"/>
            <p:cNvSpPr/>
            <p:nvPr/>
          </p:nvSpPr>
          <p:spPr>
            <a:xfrm>
              <a:off x="978408" y="4885945"/>
              <a:ext cx="3749040" cy="237744"/>
            </a:xfrm>
            <a:prstGeom prst="rect">
              <a:avLst/>
            </a:prstGeom>
            <a:noFill/>
          </p:spPr>
          <p:txBody>
            <a:bodyPr wrap="square" lIns="0" tIns="0" rIns="0" bIns="0" rtlCol="0" anchor="ctr"/>
            <a:lstStyle/>
            <a:p>
              <a:pPr marL="0" indent="0">
                <a:buNone/>
              </a:pPr>
              <a:r>
                <a:rPr lang="en-US" sz="2400" b="1" dirty="0">
                  <a:solidFill>
                    <a:srgbClr val="0E7490"/>
                  </a:solidFill>
                  <a:latin typeface="Calibri" pitchFamily="34" charset="0"/>
                  <a:ea typeface="Calibri" pitchFamily="34" charset="-122"/>
                  <a:cs typeface="Calibri" pitchFamily="34" charset="-120"/>
                </a:rPr>
                <a:t>Data Pipeline Reliability</a:t>
              </a:r>
              <a:endParaRPr lang="en-US" sz="2400" dirty="0"/>
            </a:p>
          </p:txBody>
        </p:sp>
        <p:sp>
          <p:nvSpPr>
            <p:cNvPr id="57" name="Text 28"/>
            <p:cNvSpPr/>
            <p:nvPr/>
          </p:nvSpPr>
          <p:spPr>
            <a:xfrm>
              <a:off x="978408" y="5160265"/>
              <a:ext cx="3749040" cy="786384"/>
            </a:xfrm>
            <a:prstGeom prst="rect">
              <a:avLst/>
            </a:prstGeom>
            <a:noFill/>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Automated and documented the full data lifecycle — import, checkpoint, re-import, and cleanup — reducing manual errors to zero.</a:t>
              </a:r>
              <a:endParaRPr lang="en-US" sz="1600" dirty="0"/>
            </a:p>
          </p:txBody>
        </p:sp>
        <p:sp>
          <p:nvSpPr>
            <p:cNvPr id="58" name="Shape 29"/>
            <p:cNvSpPr/>
            <p:nvPr/>
          </p:nvSpPr>
          <p:spPr>
            <a:xfrm>
              <a:off x="5138928" y="4812793"/>
              <a:ext cx="4114800" cy="1188720"/>
            </a:xfrm>
            <a:prstGeom prst="rect">
              <a:avLst/>
            </a:prstGeom>
            <a:solidFill>
              <a:srgbClr val="0F2540"/>
            </a:solidFill>
            <a:ln w="12700">
              <a:solidFill>
                <a:srgbClr val="F59E0B"/>
              </a:solidFill>
              <a:prstDash val="solid"/>
            </a:ln>
          </p:spPr>
        </p:sp>
        <p:sp>
          <p:nvSpPr>
            <p:cNvPr id="59" name="Shape 30"/>
            <p:cNvSpPr/>
            <p:nvPr/>
          </p:nvSpPr>
          <p:spPr>
            <a:xfrm>
              <a:off x="5138928" y="4812793"/>
              <a:ext cx="64008" cy="1188720"/>
            </a:xfrm>
            <a:prstGeom prst="rect">
              <a:avLst/>
            </a:prstGeom>
            <a:solidFill>
              <a:srgbClr val="F59E0B"/>
            </a:solidFill>
            <a:ln w="12700">
              <a:solidFill>
                <a:srgbClr val="F59E0B"/>
              </a:solidFill>
              <a:prstDash val="solid"/>
            </a:ln>
          </p:spPr>
        </p:sp>
        <p:sp>
          <p:nvSpPr>
            <p:cNvPr id="60" name="Text 31"/>
            <p:cNvSpPr/>
            <p:nvPr/>
          </p:nvSpPr>
          <p:spPr>
            <a:xfrm>
              <a:off x="5321808" y="4885945"/>
              <a:ext cx="3749040" cy="237744"/>
            </a:xfrm>
            <a:prstGeom prst="rect">
              <a:avLst/>
            </a:prstGeom>
            <a:noFill/>
          </p:spPr>
          <p:txBody>
            <a:bodyPr wrap="square" lIns="0" tIns="0" rIns="0" bIns="0" rtlCol="0" anchor="ctr"/>
            <a:lstStyle/>
            <a:p>
              <a:pPr marL="0" indent="0">
                <a:buNone/>
              </a:pPr>
              <a:r>
                <a:rPr lang="en-US" sz="2400" b="1" dirty="0">
                  <a:solidFill>
                    <a:srgbClr val="F59E0B"/>
                  </a:solidFill>
                  <a:latin typeface="Calibri" pitchFamily="34" charset="0"/>
                  <a:ea typeface="Calibri" pitchFamily="34" charset="-122"/>
                  <a:cs typeface="Calibri" pitchFamily="34" charset="-120"/>
                </a:rPr>
                <a:t>Scientific RF Matching</a:t>
              </a:r>
              <a:endParaRPr lang="en-US" sz="2400" dirty="0"/>
            </a:p>
          </p:txBody>
        </p:sp>
        <p:sp>
          <p:nvSpPr>
            <p:cNvPr id="61" name="Text 32"/>
            <p:cNvSpPr/>
            <p:nvPr/>
          </p:nvSpPr>
          <p:spPr>
            <a:xfrm>
              <a:off x="5321808" y="5160265"/>
              <a:ext cx="3749040" cy="786384"/>
            </a:xfrm>
            <a:prstGeom prst="rect">
              <a:avLst/>
            </a:prstGeom>
            <a:noFill/>
          </p:spPr>
          <p:txBody>
            <a:bodyPr wrap="square" lIns="0" tIns="0" rIns="0" bIns="0" rtlCol="0" anchor="ctr"/>
            <a:lstStyle/>
            <a:p>
              <a:pPr marL="0" indent="0">
                <a:buNone/>
              </a:pPr>
              <a:r>
                <a:rPr lang="en-US" sz="1600" dirty="0">
                  <a:solidFill>
                    <a:srgbClr val="E2E8F0"/>
                  </a:solidFill>
                  <a:latin typeface="Calibri" pitchFamily="34" charset="0"/>
                  <a:ea typeface="Calibri" pitchFamily="34" charset="-122"/>
                  <a:cs typeface="Calibri" pitchFamily="34" charset="-120"/>
                </a:rPr>
                <a:t>Physics-grounded Bayesian correlation replaces manual vessel matching; provides quantifiable confidence scores aligned with ITU-R standards.</a:t>
              </a:r>
              <a:endParaRPr lang="en-US" sz="1600" dirty="0"/>
            </a:p>
          </p:txBody>
        </p:sp>
      </p:grpSp>
    </p:spTree>
    <p:extLst>
      <p:ext uri="{BB962C8B-B14F-4D97-AF65-F5344CB8AC3E}">
        <p14:creationId xmlns:p14="http://schemas.microsoft.com/office/powerpoint/2010/main" val="917193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Introduction and Problem Statement </a:t>
            </a:r>
            <a:endParaRPr lang="en-US" sz="2933" dirty="0"/>
          </a:p>
        </p:txBody>
      </p:sp>
      <p:sp>
        <p:nvSpPr>
          <p:cNvPr id="5" name="Shape 3"/>
          <p:cNvSpPr/>
          <p:nvPr/>
        </p:nvSpPr>
        <p:spPr>
          <a:xfrm>
            <a:off x="392792" y="3286192"/>
            <a:ext cx="11652133" cy="3349998"/>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286088" y="3286192"/>
            <a:ext cx="213409" cy="3349998"/>
          </a:xfrm>
          <a:prstGeom prst="rect">
            <a:avLst/>
          </a:prstGeom>
          <a:solidFill>
            <a:srgbClr val="2196C4"/>
          </a:solidFill>
          <a:ln w="12700">
            <a:solidFill>
              <a:srgbClr val="2196C4"/>
            </a:solidFill>
            <a:prstDash val="solid"/>
          </a:ln>
        </p:spPr>
      </p:sp>
      <p:sp>
        <p:nvSpPr>
          <p:cNvPr id="7" name="Text 5"/>
          <p:cNvSpPr/>
          <p:nvPr/>
        </p:nvSpPr>
        <p:spPr>
          <a:xfrm>
            <a:off x="670224" y="3444220"/>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01</a:t>
            </a:r>
            <a:endParaRPr lang="en-US" sz="2500" dirty="0"/>
          </a:p>
        </p:txBody>
      </p:sp>
      <p:sp>
        <p:nvSpPr>
          <p:cNvPr id="8" name="Text 6"/>
          <p:cNvSpPr/>
          <p:nvPr/>
        </p:nvSpPr>
        <p:spPr>
          <a:xfrm>
            <a:off x="1643369" y="3437701"/>
            <a:ext cx="10064369" cy="546633"/>
          </a:xfrm>
          <a:prstGeom prst="rect">
            <a:avLst/>
          </a:prstGeom>
          <a:noFill/>
        </p:spPr>
        <p:txBody>
          <a:bodyPr wrap="square" lIns="0" tIns="0" rIns="0" bIns="0" rtlCol="0" anchor="ctr"/>
          <a:lstStyle/>
          <a:p>
            <a:r>
              <a:rPr lang="en-US" sz="2800" dirty="0"/>
              <a:t>Spoonbill Image Preprocessing</a:t>
            </a:r>
            <a:endParaRPr lang="en-IN" sz="2800" dirty="0"/>
          </a:p>
        </p:txBody>
      </p:sp>
      <p:sp>
        <p:nvSpPr>
          <p:cNvPr id="12" name="Text 10"/>
          <p:cNvSpPr/>
          <p:nvPr/>
        </p:nvSpPr>
        <p:spPr>
          <a:xfrm>
            <a:off x="662197" y="4195692"/>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02</a:t>
            </a:r>
            <a:endParaRPr lang="en-US" sz="2500" dirty="0"/>
          </a:p>
        </p:txBody>
      </p:sp>
      <p:sp>
        <p:nvSpPr>
          <p:cNvPr id="13" name="Text 11"/>
          <p:cNvSpPr/>
          <p:nvPr/>
        </p:nvSpPr>
        <p:spPr>
          <a:xfrm>
            <a:off x="1617757" y="4189173"/>
            <a:ext cx="10064369" cy="546633"/>
          </a:xfrm>
          <a:prstGeom prst="rect">
            <a:avLst/>
          </a:prstGeom>
          <a:noFill/>
        </p:spPr>
        <p:txBody>
          <a:bodyPr wrap="square" lIns="0" tIns="0" rIns="0" bIns="0" rtlCol="0" anchor="ctr"/>
          <a:lstStyle/>
          <a:p>
            <a:r>
              <a:rPr lang="en-US" sz="2800" dirty="0"/>
              <a:t>Satellite imagery to </a:t>
            </a:r>
            <a:r>
              <a:rPr lang="en-US" sz="2800" dirty="0" err="1"/>
              <a:t>Mbtiles</a:t>
            </a:r>
            <a:r>
              <a:rPr lang="en-US" sz="2800" dirty="0"/>
              <a:t> conversion </a:t>
            </a:r>
            <a:endParaRPr lang="en-IN" sz="2800" dirty="0"/>
          </a:p>
        </p:txBody>
      </p:sp>
      <p:sp>
        <p:nvSpPr>
          <p:cNvPr id="17" name="Text 15"/>
          <p:cNvSpPr/>
          <p:nvPr/>
        </p:nvSpPr>
        <p:spPr>
          <a:xfrm>
            <a:off x="679016" y="4962914"/>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1625785" y="4945010"/>
            <a:ext cx="10064369" cy="546633"/>
          </a:xfrm>
          <a:prstGeom prst="rect">
            <a:avLst/>
          </a:prstGeom>
          <a:noFill/>
        </p:spPr>
        <p:txBody>
          <a:bodyPr wrap="square" lIns="0" tIns="0" rIns="0" bIns="0" rtlCol="0" anchor="ctr"/>
          <a:lstStyle/>
          <a:p>
            <a:r>
              <a:rPr lang="en-US" sz="2800" dirty="0"/>
              <a:t>GPU optimized clipping of detected vessels </a:t>
            </a:r>
            <a:endParaRPr lang="en-IN" sz="2800" dirty="0"/>
          </a:p>
        </p:txBody>
      </p:sp>
      <p:sp>
        <p:nvSpPr>
          <p:cNvPr id="26" name="TextBox 25"/>
          <p:cNvSpPr txBox="1"/>
          <p:nvPr/>
        </p:nvSpPr>
        <p:spPr>
          <a:xfrm>
            <a:off x="286088" y="1050202"/>
            <a:ext cx="11709753" cy="1754326"/>
          </a:xfrm>
          <a:prstGeom prst="rect">
            <a:avLst/>
          </a:prstGeom>
          <a:noFill/>
        </p:spPr>
        <p:txBody>
          <a:bodyPr wrap="square" rtlCol="0">
            <a:spAutoFit/>
          </a:bodyPr>
          <a:lstStyle/>
          <a:p>
            <a:r>
              <a:rPr lang="en-US" sz="2400" dirty="0"/>
              <a:t>Name : </a:t>
            </a:r>
            <a:r>
              <a:rPr lang="en-US" sz="2400" dirty="0" err="1"/>
              <a:t>Shubhank</a:t>
            </a:r>
            <a:r>
              <a:rPr lang="en-US" sz="2400" dirty="0"/>
              <a:t> Gupta</a:t>
            </a:r>
            <a:br>
              <a:rPr lang="en-US" sz="2400" dirty="0"/>
            </a:br>
            <a:r>
              <a:rPr lang="en-US" sz="2400" dirty="0"/>
              <a:t>College &amp; Branch : Delhi Technological University, </a:t>
            </a:r>
            <a:r>
              <a:rPr lang="en-US" sz="2400" dirty="0" err="1"/>
              <a:t>B.Tech</a:t>
            </a:r>
            <a:r>
              <a:rPr lang="en-US" sz="2400" dirty="0"/>
              <a:t>-CSE</a:t>
            </a:r>
            <a:endParaRPr lang="en-US" sz="2400" baseline="0" dirty="0"/>
          </a:p>
          <a:p>
            <a:r>
              <a:rPr lang="en-US" sz="2400" dirty="0"/>
              <a:t>Duration : 3 Months (Starting from 21 May 2026)</a:t>
            </a:r>
            <a:endParaRPr lang="en-US" sz="2400" baseline="0" dirty="0"/>
          </a:p>
          <a:p>
            <a:endParaRPr lang="en-IN" dirty="0"/>
          </a:p>
          <a:p>
            <a:endParaRPr lang="en-IN" dirty="0"/>
          </a:p>
        </p:txBody>
      </p:sp>
      <p:sp>
        <p:nvSpPr>
          <p:cNvPr id="14" name="Text 16"/>
          <p:cNvSpPr/>
          <p:nvPr/>
        </p:nvSpPr>
        <p:spPr>
          <a:xfrm>
            <a:off x="1617759" y="5727303"/>
            <a:ext cx="10064369" cy="546633"/>
          </a:xfrm>
          <a:prstGeom prst="rect">
            <a:avLst/>
          </a:prstGeom>
          <a:noFill/>
        </p:spPr>
        <p:txBody>
          <a:bodyPr wrap="square" lIns="0" tIns="0" rIns="0" bIns="0" rtlCol="0" anchor="ctr"/>
          <a:lstStyle/>
          <a:p>
            <a:r>
              <a:rPr lang="en-US" sz="2800" dirty="0"/>
              <a:t>Combined master CSV with vessel image, data and AIS correlation</a:t>
            </a:r>
            <a:endParaRPr lang="en-IN" sz="2800" dirty="0"/>
          </a:p>
        </p:txBody>
      </p:sp>
      <p:sp>
        <p:nvSpPr>
          <p:cNvPr id="15" name="Text 15"/>
          <p:cNvSpPr/>
          <p:nvPr/>
        </p:nvSpPr>
        <p:spPr>
          <a:xfrm>
            <a:off x="679016" y="5740771"/>
            <a:ext cx="973145" cy="546633"/>
          </a:xfrm>
          <a:prstGeom prst="rect">
            <a:avLst/>
          </a:prstGeom>
          <a:noFill/>
        </p:spPr>
        <p:txBody>
          <a:bodyPr wrap="square" lIns="0" tIns="0" rIns="0" bIns="0" rtlCol="0" anchor="ctr"/>
          <a:lstStyle/>
          <a:p>
            <a:r>
              <a:rPr lang="en-US" sz="2500" b="1" dirty="0">
                <a:solidFill>
                  <a:srgbClr val="2196C4"/>
                </a:solidFill>
                <a:latin typeface="Calibri" pitchFamily="34" charset="0"/>
                <a:ea typeface="Calibri" pitchFamily="34" charset="-122"/>
                <a:cs typeface="Calibri" pitchFamily="34" charset="-120"/>
              </a:rPr>
              <a:t>04</a:t>
            </a:r>
          </a:p>
        </p:txBody>
      </p:sp>
    </p:spTree>
    <p:extLst>
      <p:ext uri="{BB962C8B-B14F-4D97-AF65-F5344CB8AC3E}">
        <p14:creationId xmlns:p14="http://schemas.microsoft.com/office/powerpoint/2010/main" val="4190142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29056"/>
          </a:xfrm>
          <a:prstGeom prst="rect">
            <a:avLst/>
          </a:prstGeom>
          <a:solidFill>
            <a:srgbClr val="111111"/>
          </a:solidFill>
          <a:ln w="12700">
            <a:solidFill>
              <a:srgbClr val="111111"/>
            </a:solidFill>
            <a:prstDash val="solid"/>
          </a:ln>
        </p:spPr>
      </p:sp>
      <p:sp>
        <p:nvSpPr>
          <p:cNvPr id="3" name="Text 1"/>
          <p:cNvSpPr/>
          <p:nvPr/>
        </p:nvSpPr>
        <p:spPr>
          <a:xfrm>
            <a:off x="548640" y="60960"/>
            <a:ext cx="10972800" cy="682752"/>
          </a:xfrm>
          <a:prstGeom prst="rect">
            <a:avLst/>
          </a:prstGeom>
          <a:noFill/>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Working on the following :-</a:t>
            </a:r>
            <a:endParaRPr lang="en-US" sz="2933" dirty="0"/>
          </a:p>
        </p:txBody>
      </p:sp>
      <p:sp>
        <p:nvSpPr>
          <p:cNvPr id="5" name="Shape 3"/>
          <p:cNvSpPr/>
          <p:nvPr/>
        </p:nvSpPr>
        <p:spPr>
          <a:xfrm>
            <a:off x="548640" y="1233593"/>
            <a:ext cx="5547360" cy="198628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6" name="Shape 4"/>
          <p:cNvSpPr/>
          <p:nvPr/>
        </p:nvSpPr>
        <p:spPr>
          <a:xfrm>
            <a:off x="548640" y="1233593"/>
            <a:ext cx="101600" cy="1986280"/>
          </a:xfrm>
          <a:prstGeom prst="rect">
            <a:avLst/>
          </a:prstGeom>
          <a:solidFill>
            <a:srgbClr val="2196C4"/>
          </a:solidFill>
          <a:ln w="12700">
            <a:solidFill>
              <a:srgbClr val="2196C4"/>
            </a:solidFill>
            <a:prstDash val="solid"/>
          </a:ln>
        </p:spPr>
      </p:sp>
      <p:sp>
        <p:nvSpPr>
          <p:cNvPr id="7" name="Text 5"/>
          <p:cNvSpPr/>
          <p:nvPr/>
        </p:nvSpPr>
        <p:spPr>
          <a:xfrm>
            <a:off x="731520" y="1343152"/>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1182624" y="1343152"/>
            <a:ext cx="4791456" cy="365760"/>
          </a:xfrm>
          <a:prstGeom prst="rect">
            <a:avLst/>
          </a:prstGeom>
          <a:noFill/>
        </p:spPr>
        <p:txBody>
          <a:bodyPr wrap="square" lIns="0" tIns="0" rIns="0" bIns="0" rtlCol="0" anchor="ctr"/>
          <a:lstStyle/>
          <a:p>
            <a:r>
              <a:rPr lang="en-US" sz="1600" b="1" dirty="0"/>
              <a:t>Spoonbill Image Preprocessing</a:t>
            </a:r>
            <a:endParaRPr lang="en-IN" sz="1600" b="1" dirty="0"/>
          </a:p>
        </p:txBody>
      </p:sp>
      <p:sp>
        <p:nvSpPr>
          <p:cNvPr id="9" name="Text 7"/>
          <p:cNvSpPr/>
          <p:nvPr/>
        </p:nvSpPr>
        <p:spPr>
          <a:xfrm>
            <a:off x="955040" y="2041314"/>
            <a:ext cx="4541520" cy="706967"/>
          </a:xfrm>
          <a:prstGeom prst="rect">
            <a:avLst/>
          </a:prstGeom>
          <a:noFill/>
        </p:spPr>
        <p:txBody>
          <a:bodyPr wrap="square" lIns="0" tIns="0" rIns="0" bIns="0" rtlCol="0" anchor="ctr"/>
          <a:lstStyle/>
          <a:p>
            <a:pPr algn="just"/>
            <a:r>
              <a:rPr lang="en-US" sz="1867" dirty="0"/>
              <a:t>Recursively search satellite images from the multi sensor spoonbill .tar file and index the corresponding metadata </a:t>
            </a:r>
          </a:p>
        </p:txBody>
      </p:sp>
      <p:sp>
        <p:nvSpPr>
          <p:cNvPr id="10" name="Shape 8"/>
          <p:cNvSpPr/>
          <p:nvPr/>
        </p:nvSpPr>
        <p:spPr>
          <a:xfrm>
            <a:off x="6406727" y="2137833"/>
            <a:ext cx="5547360" cy="175260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1" name="Shape 9"/>
          <p:cNvSpPr/>
          <p:nvPr/>
        </p:nvSpPr>
        <p:spPr>
          <a:xfrm flipH="1">
            <a:off x="6405880" y="2137833"/>
            <a:ext cx="101600" cy="1752600"/>
          </a:xfrm>
          <a:prstGeom prst="rect">
            <a:avLst/>
          </a:prstGeom>
          <a:solidFill>
            <a:srgbClr val="2196C4"/>
          </a:solidFill>
          <a:ln w="12700">
            <a:solidFill>
              <a:srgbClr val="2196C4"/>
            </a:solidFill>
            <a:prstDash val="solid"/>
          </a:ln>
        </p:spPr>
      </p:sp>
      <p:sp>
        <p:nvSpPr>
          <p:cNvPr id="12" name="Text 10"/>
          <p:cNvSpPr/>
          <p:nvPr/>
        </p:nvSpPr>
        <p:spPr>
          <a:xfrm>
            <a:off x="6589776" y="2247392"/>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02</a:t>
            </a:r>
            <a:endParaRPr lang="en-US" sz="1600" dirty="0"/>
          </a:p>
        </p:txBody>
      </p:sp>
      <p:sp>
        <p:nvSpPr>
          <p:cNvPr id="13" name="Text 11"/>
          <p:cNvSpPr/>
          <p:nvPr/>
        </p:nvSpPr>
        <p:spPr>
          <a:xfrm>
            <a:off x="7040880" y="2247392"/>
            <a:ext cx="4791456" cy="365760"/>
          </a:xfrm>
          <a:prstGeom prst="rect">
            <a:avLst/>
          </a:prstGeom>
          <a:noFill/>
        </p:spPr>
        <p:txBody>
          <a:bodyPr wrap="square" lIns="0" tIns="0" rIns="0" bIns="0" rtlCol="0" anchor="ctr"/>
          <a:lstStyle/>
          <a:p>
            <a:r>
              <a:rPr lang="en-US" sz="1600" b="1" dirty="0"/>
              <a:t>Satellite imagery to </a:t>
            </a:r>
            <a:r>
              <a:rPr lang="en-US" sz="1600" b="1" dirty="0" err="1"/>
              <a:t>Mbtiles</a:t>
            </a:r>
            <a:r>
              <a:rPr lang="en-US" sz="1600" b="1" dirty="0"/>
              <a:t> conversion </a:t>
            </a:r>
            <a:endParaRPr lang="en-IN" sz="1600" b="1" dirty="0"/>
          </a:p>
        </p:txBody>
      </p:sp>
      <p:sp>
        <p:nvSpPr>
          <p:cNvPr id="14" name="Text 12"/>
          <p:cNvSpPr/>
          <p:nvPr/>
        </p:nvSpPr>
        <p:spPr>
          <a:xfrm>
            <a:off x="6589776" y="2787735"/>
            <a:ext cx="5242560" cy="707136"/>
          </a:xfrm>
          <a:prstGeom prst="rect">
            <a:avLst/>
          </a:prstGeom>
          <a:noFill/>
        </p:spPr>
        <p:txBody>
          <a:bodyPr wrap="square" lIns="0" tIns="0" rIns="0" bIns="0" rtlCol="0" anchor="ctr"/>
          <a:lstStyle/>
          <a:p>
            <a:pPr algn="just"/>
            <a:r>
              <a:rPr lang="en-US" sz="1867" dirty="0"/>
              <a:t>Optimizing Satellite Imagery to </a:t>
            </a:r>
            <a:r>
              <a:rPr lang="en-US" sz="1867" dirty="0" err="1"/>
              <a:t>Mbtiles</a:t>
            </a:r>
            <a:r>
              <a:rPr lang="en-US" sz="1867" dirty="0"/>
              <a:t> Converter </a:t>
            </a:r>
          </a:p>
        </p:txBody>
      </p:sp>
      <p:sp>
        <p:nvSpPr>
          <p:cNvPr id="15" name="Shape 13"/>
          <p:cNvSpPr/>
          <p:nvPr/>
        </p:nvSpPr>
        <p:spPr>
          <a:xfrm>
            <a:off x="548640" y="3870960"/>
            <a:ext cx="5547360" cy="1935480"/>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16" name="Shape 14"/>
          <p:cNvSpPr/>
          <p:nvPr/>
        </p:nvSpPr>
        <p:spPr>
          <a:xfrm>
            <a:off x="548640" y="3870960"/>
            <a:ext cx="101600" cy="1935480"/>
          </a:xfrm>
          <a:prstGeom prst="rect">
            <a:avLst/>
          </a:prstGeom>
          <a:solidFill>
            <a:srgbClr val="2196C4"/>
          </a:solidFill>
          <a:ln w="12700">
            <a:solidFill>
              <a:srgbClr val="2196C4"/>
            </a:solidFill>
            <a:prstDash val="solid"/>
          </a:ln>
        </p:spPr>
      </p:sp>
      <p:sp>
        <p:nvSpPr>
          <p:cNvPr id="17" name="Text 15"/>
          <p:cNvSpPr/>
          <p:nvPr/>
        </p:nvSpPr>
        <p:spPr>
          <a:xfrm>
            <a:off x="731520" y="3980688"/>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03</a:t>
            </a:r>
          </a:p>
        </p:txBody>
      </p:sp>
      <p:sp>
        <p:nvSpPr>
          <p:cNvPr id="18" name="Text 16"/>
          <p:cNvSpPr/>
          <p:nvPr/>
        </p:nvSpPr>
        <p:spPr>
          <a:xfrm>
            <a:off x="1194477" y="3980688"/>
            <a:ext cx="4791456" cy="365760"/>
          </a:xfrm>
          <a:prstGeom prst="rect">
            <a:avLst/>
          </a:prstGeom>
          <a:noFill/>
        </p:spPr>
        <p:txBody>
          <a:bodyPr wrap="square" lIns="0" tIns="0" rIns="0" bIns="0" rtlCol="0" anchor="ctr"/>
          <a:lstStyle/>
          <a:p>
            <a:r>
              <a:rPr lang="en-US" sz="1600" b="1" dirty="0"/>
              <a:t>GPU optimized clipping of detected vessels </a:t>
            </a:r>
            <a:endParaRPr lang="en-IN" sz="1600" b="1" dirty="0"/>
          </a:p>
        </p:txBody>
      </p:sp>
      <p:sp>
        <p:nvSpPr>
          <p:cNvPr id="19" name="Text 17"/>
          <p:cNvSpPr/>
          <p:nvPr/>
        </p:nvSpPr>
        <p:spPr>
          <a:xfrm>
            <a:off x="955040" y="4653281"/>
            <a:ext cx="4226560" cy="706967"/>
          </a:xfrm>
          <a:prstGeom prst="rect">
            <a:avLst/>
          </a:prstGeom>
          <a:noFill/>
        </p:spPr>
        <p:txBody>
          <a:bodyPr wrap="square" lIns="0" tIns="0" rIns="0" bIns="0" rtlCol="0" anchor="ctr"/>
          <a:lstStyle/>
          <a:p>
            <a:pPr algn="just"/>
            <a:r>
              <a:rPr lang="en-US" sz="1867" dirty="0"/>
              <a:t>Studying how to use GPU to </a:t>
            </a:r>
            <a:r>
              <a:rPr lang="en-US" sz="1867" dirty="0" err="1"/>
              <a:t>parallely</a:t>
            </a:r>
            <a:r>
              <a:rPr lang="en-US" sz="1867" dirty="0"/>
              <a:t> clip and extract detected vessels with buffer</a:t>
            </a:r>
          </a:p>
        </p:txBody>
      </p:sp>
      <p:sp>
        <p:nvSpPr>
          <p:cNvPr id="20" name="Shape 18"/>
          <p:cNvSpPr/>
          <p:nvPr/>
        </p:nvSpPr>
        <p:spPr>
          <a:xfrm>
            <a:off x="6406727" y="4632961"/>
            <a:ext cx="5547360" cy="1855047"/>
          </a:xfrm>
          <a:prstGeom prst="rect">
            <a:avLst/>
          </a:prstGeom>
          <a:solidFill>
            <a:srgbClr val="FFFFFF"/>
          </a:solidFill>
          <a:ln w="12700">
            <a:solidFill>
              <a:srgbClr val="D8E8F0"/>
            </a:solidFill>
            <a:prstDash val="solid"/>
          </a:ln>
          <a:effectLst>
            <a:outerShdw blurRad="38100" dist="12700" dir="8100000" algn="bl" rotWithShape="0">
              <a:srgbClr val="000000">
                <a:alpha val="6000"/>
              </a:srgbClr>
            </a:outerShdw>
          </a:effectLst>
        </p:spPr>
      </p:sp>
      <p:sp>
        <p:nvSpPr>
          <p:cNvPr id="21" name="Shape 19"/>
          <p:cNvSpPr/>
          <p:nvPr/>
        </p:nvSpPr>
        <p:spPr>
          <a:xfrm>
            <a:off x="6406727" y="4632961"/>
            <a:ext cx="101600" cy="1855047"/>
          </a:xfrm>
          <a:prstGeom prst="rect">
            <a:avLst/>
          </a:prstGeom>
          <a:solidFill>
            <a:srgbClr val="2196C4"/>
          </a:solidFill>
          <a:ln w="12700">
            <a:solidFill>
              <a:srgbClr val="2196C4"/>
            </a:solidFill>
            <a:prstDash val="solid"/>
          </a:ln>
        </p:spPr>
      </p:sp>
      <p:sp>
        <p:nvSpPr>
          <p:cNvPr id="22" name="Text 20"/>
          <p:cNvSpPr/>
          <p:nvPr/>
        </p:nvSpPr>
        <p:spPr>
          <a:xfrm>
            <a:off x="6589776" y="4834128"/>
            <a:ext cx="463296" cy="365760"/>
          </a:xfrm>
          <a:prstGeom prst="rect">
            <a:avLst/>
          </a:prstGeom>
          <a:noFill/>
        </p:spPr>
        <p:txBody>
          <a:bodyPr wrap="square" lIns="0" tIns="0" rIns="0" bIns="0" rtlCol="0" anchor="ctr"/>
          <a:lstStyle/>
          <a:p>
            <a:r>
              <a:rPr lang="en-US" sz="1600" b="1" dirty="0">
                <a:solidFill>
                  <a:srgbClr val="2196C4"/>
                </a:solidFill>
                <a:latin typeface="Calibri" pitchFamily="34" charset="0"/>
                <a:ea typeface="Calibri" pitchFamily="34" charset="-122"/>
                <a:cs typeface="Calibri" pitchFamily="34" charset="-120"/>
              </a:rPr>
              <a:t>04</a:t>
            </a:r>
            <a:endParaRPr lang="en-US" sz="1600" dirty="0"/>
          </a:p>
        </p:txBody>
      </p:sp>
      <p:sp>
        <p:nvSpPr>
          <p:cNvPr id="23" name="Text 21"/>
          <p:cNvSpPr/>
          <p:nvPr/>
        </p:nvSpPr>
        <p:spPr>
          <a:xfrm>
            <a:off x="7040880" y="4834128"/>
            <a:ext cx="4791456" cy="365760"/>
          </a:xfrm>
          <a:prstGeom prst="rect">
            <a:avLst/>
          </a:prstGeom>
          <a:noFill/>
        </p:spPr>
        <p:txBody>
          <a:bodyPr wrap="square" lIns="0" tIns="0" rIns="0" bIns="0" rtlCol="0" anchor="ctr"/>
          <a:lstStyle/>
          <a:p>
            <a:r>
              <a:rPr lang="en-US" sz="1600" b="1" dirty="0"/>
              <a:t>Combined master CSV with vessel data and AIS correlation</a:t>
            </a:r>
            <a:endParaRPr lang="en-IN" sz="1600" b="1" dirty="0"/>
          </a:p>
        </p:txBody>
      </p:sp>
      <p:sp>
        <p:nvSpPr>
          <p:cNvPr id="24" name="Text 22"/>
          <p:cNvSpPr/>
          <p:nvPr/>
        </p:nvSpPr>
        <p:spPr>
          <a:xfrm>
            <a:off x="6742007" y="5419514"/>
            <a:ext cx="4876800" cy="706967"/>
          </a:xfrm>
          <a:prstGeom prst="rect">
            <a:avLst/>
          </a:prstGeom>
          <a:noFill/>
        </p:spPr>
        <p:txBody>
          <a:bodyPr wrap="square" lIns="0" tIns="0" rIns="0" bIns="0" rtlCol="0" anchor="ctr"/>
          <a:lstStyle/>
          <a:p>
            <a:pPr algn="just"/>
            <a:r>
              <a:rPr lang="en-US" sz="1867" dirty="0"/>
              <a:t>Studied the CSV header and AIS correlation </a:t>
            </a:r>
          </a:p>
        </p:txBody>
      </p:sp>
    </p:spTree>
    <p:extLst>
      <p:ext uri="{BB962C8B-B14F-4D97-AF65-F5344CB8AC3E}">
        <p14:creationId xmlns:p14="http://schemas.microsoft.com/office/powerpoint/2010/main" val="683314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665</TotalTime>
  <Words>3280</Words>
  <Application>Microsoft Office PowerPoint</Application>
  <PresentationFormat>Widescreen</PresentationFormat>
  <Paragraphs>522</Paragraphs>
  <Slides>34</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Interns - MDA</vt:lpstr>
      <vt:lpstr>Task Assigned</vt:lpstr>
      <vt:lpstr>Task Assigned</vt:lpstr>
      <vt:lpstr>Task Assigned</vt:lpstr>
      <vt:lpstr>Task Assigned</vt:lpstr>
      <vt:lpstr>Task Assigned</vt:lpstr>
      <vt:lpstr>Task Assigned</vt:lpstr>
      <vt:lpstr>Task Assigned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Inters Task - MDA</dc:title>
  <dc:creator>MARITIME SUNIL KUMAR TA</dc:creator>
  <cp:lastModifiedBy>USER</cp:lastModifiedBy>
  <cp:revision>52</cp:revision>
  <cp:lastPrinted>2026-06-05T06:13:07Z</cp:lastPrinted>
  <dcterms:created xsi:type="dcterms:W3CDTF">2026-06-02T06:38:32Z</dcterms:created>
  <dcterms:modified xsi:type="dcterms:W3CDTF">2026-06-09T06:52:40Z</dcterms:modified>
</cp:coreProperties>
</file>